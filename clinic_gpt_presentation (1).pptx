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EFF6F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A939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A939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EFF6F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A939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A939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EFF6F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A939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A939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EFF6F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A939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A939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A939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8A939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1999" y="7559999"/>
                </a:moveTo>
                <a:lnTo>
                  <a:pt x="0" y="7559999"/>
                </a:lnTo>
                <a:lnTo>
                  <a:pt x="0" y="0"/>
                </a:lnTo>
                <a:lnTo>
                  <a:pt x="10691999" y="0"/>
                </a:lnTo>
                <a:lnTo>
                  <a:pt x="10691999" y="7559999"/>
                </a:lnTo>
                <a:close/>
              </a:path>
            </a:pathLst>
          </a:custGeom>
          <a:solidFill>
            <a:srgbClr val="0C11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924" y="696440"/>
            <a:ext cx="4558030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EFF6F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3349" y="1619449"/>
            <a:ext cx="4644390" cy="2504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27299" y="6777381"/>
            <a:ext cx="2757804" cy="12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8A939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574887" y="6777381"/>
            <a:ext cx="589915" cy="12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8A939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#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46000" y="3854219"/>
            <a:ext cx="0" cy="410209"/>
          </a:xfrm>
          <a:custGeom>
            <a:avLst/>
            <a:gdLst/>
            <a:ahLst/>
            <a:cxnLst/>
            <a:rect l="l" t="t" r="r" b="b"/>
            <a:pathLst>
              <a:path w="0" h="410210">
                <a:moveTo>
                  <a:pt x="0" y="0"/>
                </a:moveTo>
                <a:lnTo>
                  <a:pt x="0" y="410209"/>
                </a:lnTo>
              </a:path>
            </a:pathLst>
          </a:custGeom>
          <a:ln w="19050">
            <a:solidFill>
              <a:srgbClr val="2F36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124046" y="1427249"/>
            <a:ext cx="2444115" cy="254000"/>
          </a:xfrm>
          <a:custGeom>
            <a:avLst/>
            <a:gdLst/>
            <a:ahLst/>
            <a:cxnLst/>
            <a:rect l="l" t="t" r="r" b="b"/>
            <a:pathLst>
              <a:path w="2444115" h="254000">
                <a:moveTo>
                  <a:pt x="2316906" y="254000"/>
                </a:moveTo>
                <a:lnTo>
                  <a:pt x="127000" y="254000"/>
                </a:lnTo>
                <a:lnTo>
                  <a:pt x="77688" y="243978"/>
                </a:lnTo>
                <a:lnTo>
                  <a:pt x="37306" y="216693"/>
                </a:lnTo>
                <a:lnTo>
                  <a:pt x="10021" y="176311"/>
                </a:lnTo>
                <a:lnTo>
                  <a:pt x="0" y="127000"/>
                </a:lnTo>
                <a:lnTo>
                  <a:pt x="10021" y="77688"/>
                </a:lnTo>
                <a:lnTo>
                  <a:pt x="37306" y="37306"/>
                </a:lnTo>
                <a:lnTo>
                  <a:pt x="77688" y="10021"/>
                </a:lnTo>
                <a:lnTo>
                  <a:pt x="127000" y="0"/>
                </a:lnTo>
                <a:lnTo>
                  <a:pt x="2316906" y="0"/>
                </a:lnTo>
                <a:lnTo>
                  <a:pt x="2366218" y="10021"/>
                </a:lnTo>
                <a:lnTo>
                  <a:pt x="2406600" y="37306"/>
                </a:lnTo>
                <a:lnTo>
                  <a:pt x="2433885" y="77688"/>
                </a:lnTo>
                <a:lnTo>
                  <a:pt x="2443906" y="127000"/>
                </a:lnTo>
                <a:lnTo>
                  <a:pt x="2433885" y="176311"/>
                </a:lnTo>
                <a:lnTo>
                  <a:pt x="2406600" y="216693"/>
                </a:lnTo>
                <a:lnTo>
                  <a:pt x="2366218" y="243978"/>
                </a:lnTo>
                <a:lnTo>
                  <a:pt x="2316906" y="254000"/>
                </a:lnTo>
                <a:close/>
              </a:path>
            </a:pathLst>
          </a:custGeom>
          <a:solidFill>
            <a:srgbClr val="1F6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25646" y="1443631"/>
            <a:ext cx="22339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 indent="-129539">
              <a:lnSpc>
                <a:spcPct val="100000"/>
              </a:lnSpc>
              <a:spcBef>
                <a:spcPts val="100"/>
              </a:spcBef>
              <a:buChar char="●"/>
              <a:tabLst>
                <a:tab pos="142240" algn="l"/>
              </a:tabLst>
            </a:pPr>
            <a:r>
              <a:rPr dirty="0" sz="1000" spc="55" b="1">
                <a:solidFill>
                  <a:srgbClr val="FFFFFF"/>
                </a:solidFill>
                <a:latin typeface="Arial"/>
                <a:cs typeface="Arial"/>
              </a:rPr>
              <a:t>GROUNDED</a:t>
            </a:r>
            <a:r>
              <a:rPr dirty="0" sz="1000" spc="1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000" spc="1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45" b="1">
                <a:solidFill>
                  <a:srgbClr val="FFFFFF"/>
                </a:solidFill>
                <a:latin typeface="Arial"/>
                <a:cs typeface="Arial"/>
              </a:rPr>
              <a:t>SAFEGUARDED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060494" y="1778965"/>
            <a:ext cx="25761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0">
                <a:solidFill>
                  <a:srgbClr val="57A5FF"/>
                </a:solidFill>
              </a:rPr>
              <a:t>CLINIC</a:t>
            </a:r>
            <a:r>
              <a:rPr dirty="0" sz="3600" spc="-195">
                <a:solidFill>
                  <a:srgbClr val="57A5FF"/>
                </a:solidFill>
              </a:rPr>
              <a:t> </a:t>
            </a:r>
            <a:r>
              <a:rPr dirty="0" sz="3600" spc="-25">
                <a:solidFill>
                  <a:srgbClr val="57A5FF"/>
                </a:solidFill>
              </a:rPr>
              <a:t>GPT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530643" y="2532326"/>
            <a:ext cx="7630795" cy="916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8A939E"/>
                </a:solidFill>
                <a:latin typeface="Arial MT"/>
                <a:cs typeface="Arial MT"/>
              </a:rPr>
              <a:t>Evidence-Grounded</a:t>
            </a:r>
            <a:r>
              <a:rPr dirty="0" sz="1600" spc="-3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8A939E"/>
                </a:solidFill>
                <a:latin typeface="Arial MT"/>
                <a:cs typeface="Arial MT"/>
              </a:rPr>
              <a:t>Clinical</a:t>
            </a:r>
            <a:r>
              <a:rPr dirty="0" sz="1600" spc="-3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8A939E"/>
                </a:solidFill>
                <a:latin typeface="Arial MT"/>
                <a:cs typeface="Arial MT"/>
              </a:rPr>
              <a:t>Intelligence</a:t>
            </a:r>
            <a:r>
              <a:rPr dirty="0" sz="1600" spc="-3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8A939E"/>
                </a:solidFill>
                <a:latin typeface="Arial MT"/>
                <a:cs typeface="Arial MT"/>
              </a:rPr>
              <a:t>for</a:t>
            </a:r>
            <a:r>
              <a:rPr dirty="0" sz="1600" spc="-3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8A939E"/>
                </a:solidFill>
                <a:latin typeface="Arial MT"/>
                <a:cs typeface="Arial MT"/>
              </a:rPr>
              <a:t>Mental</a:t>
            </a:r>
            <a:r>
              <a:rPr dirty="0" sz="1600" spc="-3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8A939E"/>
                </a:solidFill>
                <a:latin typeface="Arial MT"/>
                <a:cs typeface="Arial MT"/>
              </a:rPr>
              <a:t>Health</a:t>
            </a:r>
            <a:r>
              <a:rPr dirty="0" sz="1600" spc="-3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8A939E"/>
                </a:solidFill>
                <a:latin typeface="Arial MT"/>
                <a:cs typeface="Arial MT"/>
              </a:rPr>
              <a:t>in</a:t>
            </a:r>
            <a:r>
              <a:rPr dirty="0" sz="1600" spc="-3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8A939E"/>
                </a:solidFill>
                <a:latin typeface="Arial MT"/>
                <a:cs typeface="Arial MT"/>
              </a:rPr>
              <a:t>Cardiovascular</a:t>
            </a:r>
            <a:r>
              <a:rPr dirty="0" sz="1600" spc="-3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8A939E"/>
                </a:solidFill>
                <a:latin typeface="Arial MT"/>
                <a:cs typeface="Arial MT"/>
              </a:rPr>
              <a:t>Disease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600">
              <a:latin typeface="Arial MT"/>
              <a:cs typeface="Arial MT"/>
            </a:endParaRPr>
          </a:p>
          <a:p>
            <a:pPr algn="ctr" marL="789305" marR="780415">
              <a:lnSpc>
                <a:spcPct val="116700"/>
              </a:lnSpc>
            </a:pP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A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Guideline-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Constrained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Retrieval-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Augmented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Generation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(RAG)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System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Based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on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2025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C8D1D8"/>
                </a:solidFill>
                <a:latin typeface="Arial MT"/>
                <a:cs typeface="Arial MT"/>
              </a:rPr>
              <a:t>ESC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Guidelines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15612" y="3786718"/>
            <a:ext cx="1791970" cy="43942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833755">
              <a:lnSpc>
                <a:spcPct val="100000"/>
              </a:lnSpc>
              <a:spcBef>
                <a:spcPts val="525"/>
              </a:spcBef>
            </a:pPr>
            <a:r>
              <a:rPr dirty="0" sz="1100" spc="-10" b="1">
                <a:solidFill>
                  <a:srgbClr val="EFF6FB"/>
                </a:solidFill>
                <a:latin typeface="Arial"/>
                <a:cs typeface="Arial"/>
              </a:rPr>
              <a:t>Target</a:t>
            </a:r>
            <a:r>
              <a:rPr dirty="0" sz="1100" spc="-55" b="1">
                <a:solidFill>
                  <a:srgbClr val="EFF6F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EFF6FB"/>
                </a:solidFill>
                <a:latin typeface="Arial"/>
                <a:cs typeface="Arial"/>
              </a:rPr>
              <a:t>Corpus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950">
                <a:solidFill>
                  <a:srgbClr val="8A939E"/>
                </a:solidFill>
                <a:latin typeface="Arial MT"/>
                <a:cs typeface="Arial MT"/>
              </a:rPr>
              <a:t>2025</a:t>
            </a:r>
            <a:r>
              <a:rPr dirty="0" sz="950" spc="-1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8A939E"/>
                </a:solidFill>
                <a:latin typeface="Arial MT"/>
                <a:cs typeface="Arial MT"/>
              </a:rPr>
              <a:t>ESC </a:t>
            </a:r>
            <a:r>
              <a:rPr dirty="0" sz="950">
                <a:solidFill>
                  <a:srgbClr val="8A939E"/>
                </a:solidFill>
                <a:latin typeface="Arial MT"/>
                <a:cs typeface="Arial MT"/>
              </a:rPr>
              <a:t>Guidelines</a:t>
            </a:r>
            <a:r>
              <a:rPr dirty="0" sz="950" spc="-1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A939E"/>
                </a:solidFill>
                <a:latin typeface="Arial MT"/>
                <a:cs typeface="Arial MT"/>
              </a:rPr>
              <a:t>(70</a:t>
            </a:r>
            <a:r>
              <a:rPr dirty="0" sz="950" spc="-10">
                <a:solidFill>
                  <a:srgbClr val="8A939E"/>
                </a:solidFill>
                <a:latin typeface="Arial MT"/>
                <a:cs typeface="Arial MT"/>
              </a:rPr>
              <a:t> Pages)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85700" y="3786718"/>
            <a:ext cx="1771014" cy="43942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100" spc="-10" b="1">
                <a:solidFill>
                  <a:srgbClr val="EFF6FB"/>
                </a:solidFill>
                <a:latin typeface="Arial"/>
                <a:cs typeface="Arial"/>
              </a:rPr>
              <a:t>Architecture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950" spc="-10">
                <a:solidFill>
                  <a:srgbClr val="8A939E"/>
                </a:solidFill>
                <a:latin typeface="Arial MT"/>
                <a:cs typeface="Arial MT"/>
              </a:rPr>
              <a:t>FAISS</a:t>
            </a:r>
            <a:r>
              <a:rPr dirty="0" sz="950" spc="-1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A939E"/>
                </a:solidFill>
                <a:latin typeface="Arial MT"/>
                <a:cs typeface="Arial MT"/>
              </a:rPr>
              <a:t>+</a:t>
            </a:r>
            <a:r>
              <a:rPr dirty="0" sz="950" spc="-1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A939E"/>
                </a:solidFill>
                <a:latin typeface="Arial MT"/>
                <a:cs typeface="Arial MT"/>
              </a:rPr>
              <a:t>LangChain</a:t>
            </a:r>
            <a:r>
              <a:rPr dirty="0" sz="950" spc="-10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8A939E"/>
                </a:solidFill>
                <a:latin typeface="Arial MT"/>
                <a:cs typeface="Arial MT"/>
              </a:rPr>
              <a:t>+</a:t>
            </a:r>
            <a:r>
              <a:rPr dirty="0" sz="950" spc="-1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8A939E"/>
                </a:solidFill>
                <a:latin typeface="Arial MT"/>
                <a:cs typeface="Arial MT"/>
              </a:rPr>
              <a:t>Groq/GPT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0000" y="6703084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2126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1450" y="1619449"/>
            <a:ext cx="4568190" cy="819150"/>
            <a:chOff x="711450" y="1619449"/>
            <a:chExt cx="4568190" cy="819150"/>
          </a:xfrm>
        </p:grpSpPr>
        <p:sp>
          <p:nvSpPr>
            <p:cNvPr id="3" name="object 3"/>
            <p:cNvSpPr/>
            <p:nvPr/>
          </p:nvSpPr>
          <p:spPr>
            <a:xfrm>
              <a:off x="711450" y="1619449"/>
              <a:ext cx="4568190" cy="819150"/>
            </a:xfrm>
            <a:custGeom>
              <a:avLst/>
              <a:gdLst/>
              <a:ahLst/>
              <a:cxnLst/>
              <a:rect l="l" t="t" r="r" b="b"/>
              <a:pathLst>
                <a:path w="4568190" h="819150">
                  <a:moveTo>
                    <a:pt x="4491675" y="819150"/>
                  </a:moveTo>
                  <a:lnTo>
                    <a:pt x="76200" y="819150"/>
                  </a:lnTo>
                  <a:lnTo>
                    <a:pt x="46612" y="813137"/>
                  </a:lnTo>
                  <a:lnTo>
                    <a:pt x="22383" y="796766"/>
                  </a:lnTo>
                  <a:lnTo>
                    <a:pt x="6012" y="772537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42950"/>
                  </a:lnTo>
                  <a:lnTo>
                    <a:pt x="4561862" y="772537"/>
                  </a:lnTo>
                  <a:lnTo>
                    <a:pt x="4545491" y="796766"/>
                  </a:lnTo>
                  <a:lnTo>
                    <a:pt x="4521262" y="813137"/>
                  </a:lnTo>
                  <a:lnTo>
                    <a:pt x="4491675" y="81915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11450" y="1619449"/>
              <a:ext cx="4568190" cy="819150"/>
            </a:xfrm>
            <a:custGeom>
              <a:avLst/>
              <a:gdLst/>
              <a:ahLst/>
              <a:cxnLst/>
              <a:rect l="l" t="t" r="r" b="b"/>
              <a:pathLst>
                <a:path w="4568190" h="819150">
                  <a:moveTo>
                    <a:pt x="4491675" y="819150"/>
                  </a:moveTo>
                  <a:lnTo>
                    <a:pt x="76200" y="819150"/>
                  </a:lnTo>
                  <a:lnTo>
                    <a:pt x="46612" y="813137"/>
                  </a:lnTo>
                  <a:lnTo>
                    <a:pt x="22383" y="796766"/>
                  </a:lnTo>
                  <a:lnTo>
                    <a:pt x="6012" y="772537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42950"/>
                  </a:lnTo>
                  <a:lnTo>
                    <a:pt x="14786" y="768838"/>
                  </a:lnTo>
                  <a:lnTo>
                    <a:pt x="29110" y="790039"/>
                  </a:lnTo>
                  <a:lnTo>
                    <a:pt x="50311" y="804363"/>
                  </a:lnTo>
                  <a:lnTo>
                    <a:pt x="76200" y="809625"/>
                  </a:lnTo>
                  <a:lnTo>
                    <a:pt x="4526460" y="809625"/>
                  </a:lnTo>
                  <a:lnTo>
                    <a:pt x="4521262" y="813137"/>
                  </a:lnTo>
                  <a:lnTo>
                    <a:pt x="4491675" y="819150"/>
                  </a:lnTo>
                  <a:close/>
                </a:path>
                <a:path w="4568190" h="819150">
                  <a:moveTo>
                    <a:pt x="4526460" y="809625"/>
                  </a:moveTo>
                  <a:lnTo>
                    <a:pt x="4491675" y="809625"/>
                  </a:lnTo>
                  <a:lnTo>
                    <a:pt x="4517563" y="804363"/>
                  </a:lnTo>
                  <a:lnTo>
                    <a:pt x="4538764" y="790039"/>
                  </a:lnTo>
                  <a:lnTo>
                    <a:pt x="4553089" y="768838"/>
                  </a:lnTo>
                  <a:lnTo>
                    <a:pt x="4558350" y="74295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42950"/>
                  </a:lnTo>
                  <a:lnTo>
                    <a:pt x="4561862" y="772537"/>
                  </a:lnTo>
                  <a:lnTo>
                    <a:pt x="4545491" y="796766"/>
                  </a:lnTo>
                  <a:lnTo>
                    <a:pt x="4526460" y="809625"/>
                  </a:lnTo>
                  <a:close/>
                </a:path>
              </a:pathLst>
            </a:custGeom>
            <a:solidFill>
              <a:srgbClr val="F7504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711450" y="2533849"/>
            <a:ext cx="4568190" cy="819150"/>
            <a:chOff x="711450" y="2533849"/>
            <a:chExt cx="4568190" cy="819150"/>
          </a:xfrm>
        </p:grpSpPr>
        <p:sp>
          <p:nvSpPr>
            <p:cNvPr id="6" name="object 6"/>
            <p:cNvSpPr/>
            <p:nvPr/>
          </p:nvSpPr>
          <p:spPr>
            <a:xfrm>
              <a:off x="711450" y="2533849"/>
              <a:ext cx="4568190" cy="819150"/>
            </a:xfrm>
            <a:custGeom>
              <a:avLst/>
              <a:gdLst/>
              <a:ahLst/>
              <a:cxnLst/>
              <a:rect l="l" t="t" r="r" b="b"/>
              <a:pathLst>
                <a:path w="4568190" h="819150">
                  <a:moveTo>
                    <a:pt x="4491675" y="819150"/>
                  </a:moveTo>
                  <a:lnTo>
                    <a:pt x="76200" y="819150"/>
                  </a:lnTo>
                  <a:lnTo>
                    <a:pt x="46612" y="813137"/>
                  </a:lnTo>
                  <a:lnTo>
                    <a:pt x="22383" y="796766"/>
                  </a:lnTo>
                  <a:lnTo>
                    <a:pt x="6012" y="772537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42950"/>
                  </a:lnTo>
                  <a:lnTo>
                    <a:pt x="4561862" y="772537"/>
                  </a:lnTo>
                  <a:lnTo>
                    <a:pt x="4545491" y="796766"/>
                  </a:lnTo>
                  <a:lnTo>
                    <a:pt x="4521262" y="813137"/>
                  </a:lnTo>
                  <a:lnTo>
                    <a:pt x="4491675" y="81915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11450" y="2533849"/>
              <a:ext cx="4568190" cy="819150"/>
            </a:xfrm>
            <a:custGeom>
              <a:avLst/>
              <a:gdLst/>
              <a:ahLst/>
              <a:cxnLst/>
              <a:rect l="l" t="t" r="r" b="b"/>
              <a:pathLst>
                <a:path w="4568190" h="819150">
                  <a:moveTo>
                    <a:pt x="4491675" y="819150"/>
                  </a:moveTo>
                  <a:lnTo>
                    <a:pt x="76200" y="819150"/>
                  </a:lnTo>
                  <a:lnTo>
                    <a:pt x="46612" y="813137"/>
                  </a:lnTo>
                  <a:lnTo>
                    <a:pt x="22383" y="796766"/>
                  </a:lnTo>
                  <a:lnTo>
                    <a:pt x="6012" y="772537"/>
                  </a:lnTo>
                  <a:lnTo>
                    <a:pt x="0" y="7429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42950"/>
                  </a:lnTo>
                  <a:lnTo>
                    <a:pt x="14786" y="768838"/>
                  </a:lnTo>
                  <a:lnTo>
                    <a:pt x="29110" y="790039"/>
                  </a:lnTo>
                  <a:lnTo>
                    <a:pt x="50311" y="804363"/>
                  </a:lnTo>
                  <a:lnTo>
                    <a:pt x="76200" y="809625"/>
                  </a:lnTo>
                  <a:lnTo>
                    <a:pt x="4526460" y="809625"/>
                  </a:lnTo>
                  <a:lnTo>
                    <a:pt x="4521262" y="813137"/>
                  </a:lnTo>
                  <a:lnTo>
                    <a:pt x="4491675" y="819150"/>
                  </a:lnTo>
                  <a:close/>
                </a:path>
                <a:path w="4568190" h="819150">
                  <a:moveTo>
                    <a:pt x="4526460" y="809625"/>
                  </a:moveTo>
                  <a:lnTo>
                    <a:pt x="4491675" y="809625"/>
                  </a:lnTo>
                  <a:lnTo>
                    <a:pt x="4517563" y="804363"/>
                  </a:lnTo>
                  <a:lnTo>
                    <a:pt x="4538764" y="790039"/>
                  </a:lnTo>
                  <a:lnTo>
                    <a:pt x="4553089" y="768838"/>
                  </a:lnTo>
                  <a:lnTo>
                    <a:pt x="4558350" y="74295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42950"/>
                  </a:lnTo>
                  <a:lnTo>
                    <a:pt x="4561862" y="772537"/>
                  </a:lnTo>
                  <a:lnTo>
                    <a:pt x="4545491" y="796766"/>
                  </a:lnTo>
                  <a:lnTo>
                    <a:pt x="4526460" y="809625"/>
                  </a:lnTo>
                  <a:close/>
                </a:path>
              </a:pathLst>
            </a:custGeom>
            <a:solidFill>
              <a:srgbClr val="D1992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711450" y="3448249"/>
            <a:ext cx="4568190" cy="857250"/>
            <a:chOff x="711450" y="3448249"/>
            <a:chExt cx="4568190" cy="857250"/>
          </a:xfrm>
        </p:grpSpPr>
        <p:sp>
          <p:nvSpPr>
            <p:cNvPr id="9" name="object 9"/>
            <p:cNvSpPr/>
            <p:nvPr/>
          </p:nvSpPr>
          <p:spPr>
            <a:xfrm>
              <a:off x="711450" y="3448249"/>
              <a:ext cx="4568190" cy="857250"/>
            </a:xfrm>
            <a:custGeom>
              <a:avLst/>
              <a:gdLst/>
              <a:ahLst/>
              <a:cxnLst/>
              <a:rect l="l" t="t" r="r" b="b"/>
              <a:pathLst>
                <a:path w="4568190" h="857250">
                  <a:moveTo>
                    <a:pt x="4491675" y="857250"/>
                  </a:moveTo>
                  <a:lnTo>
                    <a:pt x="76200" y="857250"/>
                  </a:lnTo>
                  <a:lnTo>
                    <a:pt x="46612" y="851237"/>
                  </a:lnTo>
                  <a:lnTo>
                    <a:pt x="22383" y="834866"/>
                  </a:lnTo>
                  <a:lnTo>
                    <a:pt x="6012" y="810637"/>
                  </a:lnTo>
                  <a:lnTo>
                    <a:pt x="0" y="7810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81050"/>
                  </a:lnTo>
                  <a:lnTo>
                    <a:pt x="4561862" y="810637"/>
                  </a:lnTo>
                  <a:lnTo>
                    <a:pt x="4545491" y="834866"/>
                  </a:lnTo>
                  <a:lnTo>
                    <a:pt x="4521262" y="851237"/>
                  </a:lnTo>
                  <a:lnTo>
                    <a:pt x="4491675" y="85725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1450" y="3448249"/>
              <a:ext cx="4568190" cy="857250"/>
            </a:xfrm>
            <a:custGeom>
              <a:avLst/>
              <a:gdLst/>
              <a:ahLst/>
              <a:cxnLst/>
              <a:rect l="l" t="t" r="r" b="b"/>
              <a:pathLst>
                <a:path w="4568190" h="857250">
                  <a:moveTo>
                    <a:pt x="4491675" y="857250"/>
                  </a:moveTo>
                  <a:lnTo>
                    <a:pt x="76200" y="857250"/>
                  </a:lnTo>
                  <a:lnTo>
                    <a:pt x="46612" y="851237"/>
                  </a:lnTo>
                  <a:lnTo>
                    <a:pt x="22383" y="834866"/>
                  </a:lnTo>
                  <a:lnTo>
                    <a:pt x="6012" y="810637"/>
                  </a:lnTo>
                  <a:lnTo>
                    <a:pt x="0" y="7810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81050"/>
                  </a:lnTo>
                  <a:lnTo>
                    <a:pt x="14786" y="806938"/>
                  </a:lnTo>
                  <a:lnTo>
                    <a:pt x="29110" y="828139"/>
                  </a:lnTo>
                  <a:lnTo>
                    <a:pt x="50311" y="842463"/>
                  </a:lnTo>
                  <a:lnTo>
                    <a:pt x="76200" y="847725"/>
                  </a:lnTo>
                  <a:lnTo>
                    <a:pt x="4526460" y="847725"/>
                  </a:lnTo>
                  <a:lnTo>
                    <a:pt x="4521262" y="851237"/>
                  </a:lnTo>
                  <a:lnTo>
                    <a:pt x="4491675" y="857250"/>
                  </a:lnTo>
                  <a:close/>
                </a:path>
                <a:path w="4568190" h="857250">
                  <a:moveTo>
                    <a:pt x="4526460" y="847725"/>
                  </a:moveTo>
                  <a:lnTo>
                    <a:pt x="4491675" y="847725"/>
                  </a:lnTo>
                  <a:lnTo>
                    <a:pt x="4517563" y="842463"/>
                  </a:lnTo>
                  <a:lnTo>
                    <a:pt x="4538764" y="828139"/>
                  </a:lnTo>
                  <a:lnTo>
                    <a:pt x="4553089" y="806938"/>
                  </a:lnTo>
                  <a:lnTo>
                    <a:pt x="4558350" y="78105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81050"/>
                  </a:lnTo>
                  <a:lnTo>
                    <a:pt x="4561862" y="810637"/>
                  </a:lnTo>
                  <a:lnTo>
                    <a:pt x="4545491" y="834866"/>
                  </a:lnTo>
                  <a:lnTo>
                    <a:pt x="4526460" y="84772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5412675" y="1619449"/>
            <a:ext cx="4568190" cy="2174240"/>
            <a:chOff x="5412675" y="1619449"/>
            <a:chExt cx="4568190" cy="2174240"/>
          </a:xfrm>
        </p:grpSpPr>
        <p:sp>
          <p:nvSpPr>
            <p:cNvPr id="12" name="object 12"/>
            <p:cNvSpPr/>
            <p:nvPr/>
          </p:nvSpPr>
          <p:spPr>
            <a:xfrm>
              <a:off x="5412675" y="1619449"/>
              <a:ext cx="4568190" cy="2174240"/>
            </a:xfrm>
            <a:custGeom>
              <a:avLst/>
              <a:gdLst/>
              <a:ahLst/>
              <a:cxnLst/>
              <a:rect l="l" t="t" r="r" b="b"/>
              <a:pathLst>
                <a:path w="4568190" h="2174240">
                  <a:moveTo>
                    <a:pt x="4510725" y="2174240"/>
                  </a:moveTo>
                  <a:lnTo>
                    <a:pt x="57150" y="2174240"/>
                  </a:lnTo>
                  <a:lnTo>
                    <a:pt x="34959" y="2169730"/>
                  </a:lnTo>
                  <a:lnTo>
                    <a:pt x="16787" y="2157452"/>
                  </a:lnTo>
                  <a:lnTo>
                    <a:pt x="4509" y="2139280"/>
                  </a:lnTo>
                  <a:lnTo>
                    <a:pt x="0" y="2117090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510725" y="0"/>
                  </a:lnTo>
                  <a:lnTo>
                    <a:pt x="4532915" y="4509"/>
                  </a:lnTo>
                  <a:lnTo>
                    <a:pt x="4551087" y="16787"/>
                  </a:lnTo>
                  <a:lnTo>
                    <a:pt x="4563365" y="34959"/>
                  </a:lnTo>
                  <a:lnTo>
                    <a:pt x="4567875" y="57150"/>
                  </a:lnTo>
                  <a:lnTo>
                    <a:pt x="4567875" y="2117090"/>
                  </a:lnTo>
                  <a:lnTo>
                    <a:pt x="4563365" y="2139280"/>
                  </a:lnTo>
                  <a:lnTo>
                    <a:pt x="4551087" y="2157452"/>
                  </a:lnTo>
                  <a:lnTo>
                    <a:pt x="4532915" y="2169730"/>
                  </a:lnTo>
                  <a:lnTo>
                    <a:pt x="4510725" y="2174240"/>
                  </a:lnTo>
                  <a:close/>
                </a:path>
              </a:pathLst>
            </a:custGeom>
            <a:solidFill>
              <a:srgbClr val="0103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412675" y="1619449"/>
              <a:ext cx="4568190" cy="2174240"/>
            </a:xfrm>
            <a:custGeom>
              <a:avLst/>
              <a:gdLst/>
              <a:ahLst/>
              <a:cxnLst/>
              <a:rect l="l" t="t" r="r" b="b"/>
              <a:pathLst>
                <a:path w="4568190" h="2174240">
                  <a:moveTo>
                    <a:pt x="4510725" y="2174240"/>
                  </a:moveTo>
                  <a:lnTo>
                    <a:pt x="57150" y="2174240"/>
                  </a:lnTo>
                  <a:lnTo>
                    <a:pt x="34959" y="2169730"/>
                  </a:lnTo>
                  <a:lnTo>
                    <a:pt x="16787" y="2157452"/>
                  </a:lnTo>
                  <a:lnTo>
                    <a:pt x="4509" y="2139280"/>
                  </a:lnTo>
                  <a:lnTo>
                    <a:pt x="0" y="2117090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510725" y="0"/>
                  </a:lnTo>
                  <a:lnTo>
                    <a:pt x="4532915" y="4509"/>
                  </a:lnTo>
                  <a:lnTo>
                    <a:pt x="4540338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2117090"/>
                  </a:lnTo>
                  <a:lnTo>
                    <a:pt x="13282" y="2135581"/>
                  </a:lnTo>
                  <a:lnTo>
                    <a:pt x="23514" y="2150725"/>
                  </a:lnTo>
                  <a:lnTo>
                    <a:pt x="38658" y="2160957"/>
                  </a:lnTo>
                  <a:lnTo>
                    <a:pt x="57150" y="2164715"/>
                  </a:lnTo>
                  <a:lnTo>
                    <a:pt x="4540338" y="2164715"/>
                  </a:lnTo>
                  <a:lnTo>
                    <a:pt x="4532915" y="2169730"/>
                  </a:lnTo>
                  <a:lnTo>
                    <a:pt x="4510725" y="2174240"/>
                  </a:lnTo>
                  <a:close/>
                </a:path>
                <a:path w="4568190" h="2174240">
                  <a:moveTo>
                    <a:pt x="4540338" y="2164715"/>
                  </a:moveTo>
                  <a:lnTo>
                    <a:pt x="4510725" y="2164715"/>
                  </a:lnTo>
                  <a:lnTo>
                    <a:pt x="4529217" y="2160957"/>
                  </a:lnTo>
                  <a:lnTo>
                    <a:pt x="4544360" y="2150725"/>
                  </a:lnTo>
                  <a:lnTo>
                    <a:pt x="4554592" y="2135581"/>
                  </a:lnTo>
                  <a:lnTo>
                    <a:pt x="4558350" y="2117090"/>
                  </a:lnTo>
                  <a:lnTo>
                    <a:pt x="4558350" y="57150"/>
                  </a:lnTo>
                  <a:lnTo>
                    <a:pt x="4554592" y="38658"/>
                  </a:lnTo>
                  <a:lnTo>
                    <a:pt x="4544360" y="23514"/>
                  </a:lnTo>
                  <a:lnTo>
                    <a:pt x="4529217" y="13282"/>
                  </a:lnTo>
                  <a:lnTo>
                    <a:pt x="4510725" y="9525"/>
                  </a:lnTo>
                  <a:lnTo>
                    <a:pt x="4540338" y="9525"/>
                  </a:lnTo>
                  <a:lnTo>
                    <a:pt x="4551087" y="16787"/>
                  </a:lnTo>
                  <a:lnTo>
                    <a:pt x="4563365" y="34959"/>
                  </a:lnTo>
                  <a:lnTo>
                    <a:pt x="4567875" y="57150"/>
                  </a:lnTo>
                  <a:lnTo>
                    <a:pt x="4567875" y="2117090"/>
                  </a:lnTo>
                  <a:lnTo>
                    <a:pt x="4563365" y="2139280"/>
                  </a:lnTo>
                  <a:lnTo>
                    <a:pt x="4551087" y="2157452"/>
                  </a:lnTo>
                  <a:lnTo>
                    <a:pt x="4540338" y="216471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5469825" y="3993714"/>
            <a:ext cx="2179320" cy="680720"/>
            <a:chOff x="5469825" y="3993714"/>
            <a:chExt cx="2179320" cy="680720"/>
          </a:xfrm>
        </p:grpSpPr>
        <p:sp>
          <p:nvSpPr>
            <p:cNvPr id="15" name="object 15"/>
            <p:cNvSpPr/>
            <p:nvPr/>
          </p:nvSpPr>
          <p:spPr>
            <a:xfrm>
              <a:off x="5469825" y="3993714"/>
              <a:ext cx="2179320" cy="680720"/>
            </a:xfrm>
            <a:custGeom>
              <a:avLst/>
              <a:gdLst/>
              <a:ahLst/>
              <a:cxnLst/>
              <a:rect l="l" t="t" r="r" b="b"/>
              <a:pathLst>
                <a:path w="2179320" h="680720">
                  <a:moveTo>
                    <a:pt x="2122012" y="680720"/>
                  </a:moveTo>
                  <a:lnTo>
                    <a:pt x="57150" y="680720"/>
                  </a:lnTo>
                  <a:lnTo>
                    <a:pt x="34959" y="676210"/>
                  </a:lnTo>
                  <a:lnTo>
                    <a:pt x="16787" y="663932"/>
                  </a:lnTo>
                  <a:lnTo>
                    <a:pt x="4509" y="645760"/>
                  </a:lnTo>
                  <a:lnTo>
                    <a:pt x="0" y="623570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122012" y="0"/>
                  </a:lnTo>
                  <a:lnTo>
                    <a:pt x="2144202" y="4509"/>
                  </a:lnTo>
                  <a:lnTo>
                    <a:pt x="2162374" y="16787"/>
                  </a:lnTo>
                  <a:lnTo>
                    <a:pt x="2174653" y="34959"/>
                  </a:lnTo>
                  <a:lnTo>
                    <a:pt x="2179162" y="57150"/>
                  </a:lnTo>
                  <a:lnTo>
                    <a:pt x="2179162" y="623570"/>
                  </a:lnTo>
                  <a:lnTo>
                    <a:pt x="2174653" y="645760"/>
                  </a:lnTo>
                  <a:lnTo>
                    <a:pt x="2162374" y="663932"/>
                  </a:lnTo>
                  <a:lnTo>
                    <a:pt x="2144202" y="676210"/>
                  </a:lnTo>
                  <a:lnTo>
                    <a:pt x="2122012" y="680720"/>
                  </a:lnTo>
                  <a:close/>
                </a:path>
              </a:pathLst>
            </a:custGeom>
            <a:solidFill>
              <a:srgbClr val="2126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469825" y="3993715"/>
              <a:ext cx="2179320" cy="680720"/>
            </a:xfrm>
            <a:custGeom>
              <a:avLst/>
              <a:gdLst/>
              <a:ahLst/>
              <a:cxnLst/>
              <a:rect l="l" t="t" r="r" b="b"/>
              <a:pathLst>
                <a:path w="2179320" h="680720">
                  <a:moveTo>
                    <a:pt x="2122012" y="680720"/>
                  </a:moveTo>
                  <a:lnTo>
                    <a:pt x="57150" y="680720"/>
                  </a:lnTo>
                  <a:lnTo>
                    <a:pt x="34959" y="676210"/>
                  </a:lnTo>
                  <a:lnTo>
                    <a:pt x="16787" y="663932"/>
                  </a:lnTo>
                  <a:lnTo>
                    <a:pt x="4509" y="645760"/>
                  </a:lnTo>
                  <a:lnTo>
                    <a:pt x="0" y="623570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122012" y="0"/>
                  </a:lnTo>
                  <a:lnTo>
                    <a:pt x="2144202" y="4509"/>
                  </a:lnTo>
                  <a:lnTo>
                    <a:pt x="2151625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623570"/>
                  </a:lnTo>
                  <a:lnTo>
                    <a:pt x="13282" y="642061"/>
                  </a:lnTo>
                  <a:lnTo>
                    <a:pt x="23514" y="657205"/>
                  </a:lnTo>
                  <a:lnTo>
                    <a:pt x="38658" y="667437"/>
                  </a:lnTo>
                  <a:lnTo>
                    <a:pt x="57150" y="671195"/>
                  </a:lnTo>
                  <a:lnTo>
                    <a:pt x="2151625" y="671195"/>
                  </a:lnTo>
                  <a:lnTo>
                    <a:pt x="2144202" y="676210"/>
                  </a:lnTo>
                  <a:lnTo>
                    <a:pt x="2122012" y="680720"/>
                  </a:lnTo>
                  <a:close/>
                </a:path>
                <a:path w="2179320" h="680720">
                  <a:moveTo>
                    <a:pt x="2151625" y="671195"/>
                  </a:moveTo>
                  <a:lnTo>
                    <a:pt x="2122012" y="671195"/>
                  </a:lnTo>
                  <a:lnTo>
                    <a:pt x="2140504" y="667437"/>
                  </a:lnTo>
                  <a:lnTo>
                    <a:pt x="2155647" y="657205"/>
                  </a:lnTo>
                  <a:lnTo>
                    <a:pt x="2165879" y="642061"/>
                  </a:lnTo>
                  <a:lnTo>
                    <a:pt x="2169637" y="623570"/>
                  </a:lnTo>
                  <a:lnTo>
                    <a:pt x="2169637" y="57150"/>
                  </a:lnTo>
                  <a:lnTo>
                    <a:pt x="2165879" y="38658"/>
                  </a:lnTo>
                  <a:lnTo>
                    <a:pt x="2155647" y="23514"/>
                  </a:lnTo>
                  <a:lnTo>
                    <a:pt x="2140504" y="13282"/>
                  </a:lnTo>
                  <a:lnTo>
                    <a:pt x="2122012" y="9525"/>
                  </a:lnTo>
                  <a:lnTo>
                    <a:pt x="2151625" y="9525"/>
                  </a:lnTo>
                  <a:lnTo>
                    <a:pt x="2162374" y="16787"/>
                  </a:lnTo>
                  <a:lnTo>
                    <a:pt x="2174653" y="34959"/>
                  </a:lnTo>
                  <a:lnTo>
                    <a:pt x="2179162" y="57150"/>
                  </a:lnTo>
                  <a:lnTo>
                    <a:pt x="2179162" y="623570"/>
                  </a:lnTo>
                  <a:lnTo>
                    <a:pt x="2174653" y="645760"/>
                  </a:lnTo>
                  <a:lnTo>
                    <a:pt x="2162374" y="663932"/>
                  </a:lnTo>
                  <a:lnTo>
                    <a:pt x="2151625" y="67119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7744237" y="3993714"/>
            <a:ext cx="2179320" cy="680720"/>
            <a:chOff x="7744237" y="3993714"/>
            <a:chExt cx="2179320" cy="680720"/>
          </a:xfrm>
        </p:grpSpPr>
        <p:sp>
          <p:nvSpPr>
            <p:cNvPr id="18" name="object 18"/>
            <p:cNvSpPr/>
            <p:nvPr/>
          </p:nvSpPr>
          <p:spPr>
            <a:xfrm>
              <a:off x="7744237" y="3993714"/>
              <a:ext cx="2179320" cy="680720"/>
            </a:xfrm>
            <a:custGeom>
              <a:avLst/>
              <a:gdLst/>
              <a:ahLst/>
              <a:cxnLst/>
              <a:rect l="l" t="t" r="r" b="b"/>
              <a:pathLst>
                <a:path w="2179320" h="680720">
                  <a:moveTo>
                    <a:pt x="2122012" y="680720"/>
                  </a:moveTo>
                  <a:lnTo>
                    <a:pt x="57150" y="680720"/>
                  </a:lnTo>
                  <a:lnTo>
                    <a:pt x="34959" y="676210"/>
                  </a:lnTo>
                  <a:lnTo>
                    <a:pt x="16787" y="663932"/>
                  </a:lnTo>
                  <a:lnTo>
                    <a:pt x="4509" y="645760"/>
                  </a:lnTo>
                  <a:lnTo>
                    <a:pt x="0" y="623570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122012" y="0"/>
                  </a:lnTo>
                  <a:lnTo>
                    <a:pt x="2144202" y="4509"/>
                  </a:lnTo>
                  <a:lnTo>
                    <a:pt x="2162374" y="16787"/>
                  </a:lnTo>
                  <a:lnTo>
                    <a:pt x="2174653" y="34959"/>
                  </a:lnTo>
                  <a:lnTo>
                    <a:pt x="2179162" y="57150"/>
                  </a:lnTo>
                  <a:lnTo>
                    <a:pt x="2179162" y="623570"/>
                  </a:lnTo>
                  <a:lnTo>
                    <a:pt x="2174653" y="645760"/>
                  </a:lnTo>
                  <a:lnTo>
                    <a:pt x="2162374" y="663932"/>
                  </a:lnTo>
                  <a:lnTo>
                    <a:pt x="2144202" y="676210"/>
                  </a:lnTo>
                  <a:lnTo>
                    <a:pt x="2122012" y="680720"/>
                  </a:lnTo>
                  <a:close/>
                </a:path>
              </a:pathLst>
            </a:custGeom>
            <a:solidFill>
              <a:srgbClr val="2126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744237" y="3993715"/>
              <a:ext cx="2179320" cy="680720"/>
            </a:xfrm>
            <a:custGeom>
              <a:avLst/>
              <a:gdLst/>
              <a:ahLst/>
              <a:cxnLst/>
              <a:rect l="l" t="t" r="r" b="b"/>
              <a:pathLst>
                <a:path w="2179320" h="680720">
                  <a:moveTo>
                    <a:pt x="2122012" y="680720"/>
                  </a:moveTo>
                  <a:lnTo>
                    <a:pt x="57150" y="680720"/>
                  </a:lnTo>
                  <a:lnTo>
                    <a:pt x="34959" y="676210"/>
                  </a:lnTo>
                  <a:lnTo>
                    <a:pt x="16787" y="663932"/>
                  </a:lnTo>
                  <a:lnTo>
                    <a:pt x="4509" y="645760"/>
                  </a:lnTo>
                  <a:lnTo>
                    <a:pt x="0" y="623570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122012" y="0"/>
                  </a:lnTo>
                  <a:lnTo>
                    <a:pt x="2144202" y="4509"/>
                  </a:lnTo>
                  <a:lnTo>
                    <a:pt x="2151625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623570"/>
                  </a:lnTo>
                  <a:lnTo>
                    <a:pt x="13282" y="642061"/>
                  </a:lnTo>
                  <a:lnTo>
                    <a:pt x="23514" y="657205"/>
                  </a:lnTo>
                  <a:lnTo>
                    <a:pt x="38658" y="667437"/>
                  </a:lnTo>
                  <a:lnTo>
                    <a:pt x="57150" y="671195"/>
                  </a:lnTo>
                  <a:lnTo>
                    <a:pt x="2151625" y="671195"/>
                  </a:lnTo>
                  <a:lnTo>
                    <a:pt x="2144202" y="676210"/>
                  </a:lnTo>
                  <a:lnTo>
                    <a:pt x="2122012" y="680720"/>
                  </a:lnTo>
                  <a:close/>
                </a:path>
                <a:path w="2179320" h="680720">
                  <a:moveTo>
                    <a:pt x="2151625" y="671195"/>
                  </a:moveTo>
                  <a:lnTo>
                    <a:pt x="2122012" y="671195"/>
                  </a:lnTo>
                  <a:lnTo>
                    <a:pt x="2140504" y="667437"/>
                  </a:lnTo>
                  <a:lnTo>
                    <a:pt x="2155647" y="657205"/>
                  </a:lnTo>
                  <a:lnTo>
                    <a:pt x="2165879" y="642061"/>
                  </a:lnTo>
                  <a:lnTo>
                    <a:pt x="2169637" y="623570"/>
                  </a:lnTo>
                  <a:lnTo>
                    <a:pt x="2169637" y="57150"/>
                  </a:lnTo>
                  <a:lnTo>
                    <a:pt x="2165879" y="38658"/>
                  </a:lnTo>
                  <a:lnTo>
                    <a:pt x="2155647" y="23514"/>
                  </a:lnTo>
                  <a:lnTo>
                    <a:pt x="2140504" y="13282"/>
                  </a:lnTo>
                  <a:lnTo>
                    <a:pt x="2122012" y="9525"/>
                  </a:lnTo>
                  <a:lnTo>
                    <a:pt x="2151625" y="9525"/>
                  </a:lnTo>
                  <a:lnTo>
                    <a:pt x="2162374" y="16787"/>
                  </a:lnTo>
                  <a:lnTo>
                    <a:pt x="2174653" y="34959"/>
                  </a:lnTo>
                  <a:lnTo>
                    <a:pt x="2179162" y="57150"/>
                  </a:lnTo>
                  <a:lnTo>
                    <a:pt x="2179162" y="623570"/>
                  </a:lnTo>
                  <a:lnTo>
                    <a:pt x="2174653" y="645760"/>
                  </a:lnTo>
                  <a:lnTo>
                    <a:pt x="2162374" y="663932"/>
                  </a:lnTo>
                  <a:lnTo>
                    <a:pt x="2151625" y="67119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98749" y="1268636"/>
            <a:ext cx="4436745" cy="2874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Core</a:t>
            </a:r>
            <a:r>
              <a:rPr dirty="0" sz="1300" spc="-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Challenges</a:t>
            </a:r>
            <a:r>
              <a:rPr dirty="0" sz="1300" spc="-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in</a:t>
            </a:r>
            <a:r>
              <a:rPr dirty="0" sz="1300" spc="-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Medical</a:t>
            </a:r>
            <a:r>
              <a:rPr dirty="0" sz="1300" spc="-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57A5FF"/>
                </a:solidFill>
                <a:latin typeface="Arial"/>
                <a:cs typeface="Arial"/>
              </a:rPr>
              <a:t>AI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300">
              <a:latin typeface="Arial"/>
              <a:cs typeface="Arial"/>
            </a:endParaRPr>
          </a:p>
          <a:p>
            <a:pPr marL="290830" indent="-15430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90830" algn="l"/>
              </a:tabLst>
            </a:pPr>
            <a:r>
              <a:rPr dirty="0" sz="1100" b="1">
                <a:solidFill>
                  <a:srgbClr val="F75049"/>
                </a:solidFill>
                <a:latin typeface="Arial"/>
                <a:cs typeface="Arial"/>
              </a:rPr>
              <a:t>Hallucination</a:t>
            </a:r>
            <a:r>
              <a:rPr dirty="0" sz="1100" spc="-10" b="1">
                <a:solidFill>
                  <a:srgbClr val="F75049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F75049"/>
                </a:solidFill>
                <a:latin typeface="Arial"/>
                <a:cs typeface="Arial"/>
              </a:rPr>
              <a:t>Risk</a:t>
            </a:r>
            <a:endParaRPr sz="1100">
              <a:latin typeface="Arial"/>
              <a:cs typeface="Arial"/>
            </a:endParaRPr>
          </a:p>
          <a:p>
            <a:pPr marL="136525" marR="188595">
              <a:lnSpc>
                <a:spcPct val="116700"/>
              </a:lnSpc>
              <a:spcBef>
                <a:spcPts val="340"/>
              </a:spcBef>
            </a:pP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General-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purpose</a:t>
            </a:r>
            <a:r>
              <a:rPr dirty="0" sz="95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LLMs</a:t>
            </a:r>
            <a:r>
              <a:rPr dirty="0" sz="95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generate</a:t>
            </a:r>
            <a:r>
              <a:rPr dirty="0" sz="95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plausible</a:t>
            </a:r>
            <a:r>
              <a:rPr dirty="0" sz="95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but</a:t>
            </a:r>
            <a:r>
              <a:rPr dirty="0" sz="95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unverified</a:t>
            </a:r>
            <a:r>
              <a:rPr dirty="0" sz="95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clinical</a:t>
            </a:r>
            <a:r>
              <a:rPr dirty="0" sz="95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advice</a:t>
            </a:r>
            <a:r>
              <a:rPr dirty="0" sz="95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when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querying</a:t>
            </a:r>
            <a:r>
              <a:rPr dirty="0" sz="950" spc="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dense</a:t>
            </a:r>
            <a:r>
              <a:rPr dirty="0" sz="950" spc="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medical</a:t>
            </a:r>
            <a:r>
              <a:rPr dirty="0" sz="950" spc="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literature.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950">
              <a:latin typeface="Arial MT"/>
              <a:cs typeface="Arial MT"/>
            </a:endParaRPr>
          </a:p>
          <a:p>
            <a:pPr marL="290830" indent="-15430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90830" algn="l"/>
              </a:tabLst>
            </a:pPr>
            <a:r>
              <a:rPr dirty="0" sz="1100" spc="-10" b="1">
                <a:solidFill>
                  <a:srgbClr val="D19921"/>
                </a:solidFill>
                <a:latin typeface="Arial"/>
                <a:cs typeface="Arial"/>
              </a:rPr>
              <a:t>Traceability</a:t>
            </a:r>
            <a:r>
              <a:rPr dirty="0" sz="1100" spc="20" b="1">
                <a:solidFill>
                  <a:srgbClr val="D19921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D19921"/>
                </a:solidFill>
                <a:latin typeface="Arial"/>
                <a:cs typeface="Arial"/>
              </a:rPr>
              <a:t>Gap</a:t>
            </a:r>
            <a:endParaRPr sz="1100">
              <a:latin typeface="Arial"/>
              <a:cs typeface="Arial"/>
            </a:endParaRPr>
          </a:p>
          <a:p>
            <a:pPr marL="136525" marR="5080">
              <a:lnSpc>
                <a:spcPct val="116700"/>
              </a:lnSpc>
              <a:spcBef>
                <a:spcPts val="340"/>
              </a:spcBef>
            </a:pP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Standard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conversational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AI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lacks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direct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verifiable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citation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mechanisms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to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specific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pages</a:t>
            </a:r>
            <a:r>
              <a:rPr dirty="0" sz="95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or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text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chunks.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950">
              <a:latin typeface="Arial MT"/>
              <a:cs typeface="Arial MT"/>
            </a:endParaRPr>
          </a:p>
          <a:p>
            <a:pPr marL="309880" indent="-154305">
              <a:lnSpc>
                <a:spcPct val="100000"/>
              </a:lnSpc>
              <a:buAutoNum type="arabicPeriod" startAt="3"/>
              <a:tabLst>
                <a:tab pos="309880" algn="l"/>
              </a:tabLst>
            </a:pPr>
            <a:r>
              <a:rPr dirty="0" sz="1100" b="1">
                <a:solidFill>
                  <a:srgbClr val="EFF6FB"/>
                </a:solidFill>
                <a:latin typeface="Arial"/>
                <a:cs typeface="Arial"/>
              </a:rPr>
              <a:t>Safety</a:t>
            </a:r>
            <a:r>
              <a:rPr dirty="0" sz="1100" spc="-30" b="1">
                <a:solidFill>
                  <a:srgbClr val="EFF6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FF6FB"/>
                </a:solidFill>
                <a:latin typeface="Arial"/>
                <a:cs typeface="Arial"/>
              </a:rPr>
              <a:t>&amp;</a:t>
            </a:r>
            <a:r>
              <a:rPr dirty="0" sz="1100" spc="-25" b="1">
                <a:solidFill>
                  <a:srgbClr val="EFF6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FF6FB"/>
                </a:solidFill>
                <a:latin typeface="Arial"/>
                <a:cs typeface="Arial"/>
              </a:rPr>
              <a:t>Diagnostic</a:t>
            </a:r>
            <a:r>
              <a:rPr dirty="0" sz="1100" spc="-30" b="1">
                <a:solidFill>
                  <a:srgbClr val="EFF6F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EFF6FB"/>
                </a:solidFill>
                <a:latin typeface="Arial"/>
                <a:cs typeface="Arial"/>
              </a:rPr>
              <a:t>Distinction</a:t>
            </a:r>
            <a:endParaRPr sz="1100">
              <a:latin typeface="Arial"/>
              <a:cs typeface="Arial"/>
            </a:endParaRPr>
          </a:p>
          <a:p>
            <a:pPr marL="155575" marR="186690">
              <a:lnSpc>
                <a:spcPct val="116700"/>
              </a:lnSpc>
              <a:spcBef>
                <a:spcPts val="345"/>
              </a:spcBef>
            </a:pP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Unconstrained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models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conflate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routine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screening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tools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with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formal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diagnostic procedures.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99975" y="1268636"/>
            <a:ext cx="21101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RAG</a:t>
            </a:r>
            <a:r>
              <a:rPr dirty="0" sz="1300" spc="-6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Architecture</a:t>
            </a:r>
            <a:r>
              <a:rPr dirty="0" sz="1300" spc="-6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Solution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04750" y="1691671"/>
            <a:ext cx="4171315" cy="1990089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TRADITIONAL</a:t>
            </a:r>
            <a:r>
              <a:rPr dirty="0" sz="850" spc="-6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UNCONSTRAINED</a:t>
            </a:r>
            <a:r>
              <a:rPr dirty="0" sz="850" spc="-5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LLM: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Clinical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Query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──►</a:t>
            </a:r>
            <a:r>
              <a:rPr dirty="0" sz="850" spc="-3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General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LLM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──►</a:t>
            </a:r>
            <a:r>
              <a:rPr dirty="0" sz="850" spc="-3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Unverified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Answer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CLINIC</a:t>
            </a:r>
            <a:r>
              <a:rPr dirty="0" sz="850" spc="-4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GPT</a:t>
            </a:r>
            <a:r>
              <a:rPr dirty="0" sz="850" spc="-4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(RAG</a:t>
            </a:r>
            <a:r>
              <a:rPr dirty="0" sz="850" spc="-4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PIPELINE):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Clinical</a:t>
            </a:r>
            <a:r>
              <a:rPr dirty="0" sz="850" spc="-4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Query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 ]</a:t>
            </a:r>
            <a:endParaRPr sz="850">
              <a:latin typeface="Courier New"/>
              <a:cs typeface="Courier New"/>
            </a:endParaRPr>
          </a:p>
          <a:p>
            <a:pPr marL="466090">
              <a:lnSpc>
                <a:spcPct val="100000"/>
              </a:lnSpc>
              <a:spcBef>
                <a:spcPts val="85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466090">
              <a:lnSpc>
                <a:spcPct val="100000"/>
              </a:lnSpc>
              <a:spcBef>
                <a:spcPts val="85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▼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4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Vector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Search</a:t>
            </a:r>
            <a:r>
              <a:rPr dirty="0" sz="850" spc="-4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──►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4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Evidence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Context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endParaRPr sz="850">
              <a:latin typeface="Courier New"/>
              <a:cs typeface="Courier New"/>
            </a:endParaRPr>
          </a:p>
          <a:p>
            <a:pPr marL="1891030">
              <a:lnSpc>
                <a:spcPct val="100000"/>
              </a:lnSpc>
              <a:spcBef>
                <a:spcPts val="85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1891030">
              <a:lnSpc>
                <a:spcPct val="100000"/>
              </a:lnSpc>
              <a:spcBef>
                <a:spcPts val="85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▼</a:t>
            </a:r>
            <a:endParaRPr sz="850">
              <a:latin typeface="Courier New"/>
              <a:cs typeface="Courier New"/>
            </a:endParaRPr>
          </a:p>
          <a:p>
            <a:pPr marL="1372870">
              <a:lnSpc>
                <a:spcPct val="100000"/>
              </a:lnSpc>
              <a:spcBef>
                <a:spcPts val="85"/>
              </a:spcBef>
            </a:pP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LLM</a:t>
            </a:r>
            <a:r>
              <a:rPr dirty="0" sz="850" spc="-4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Generation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 ]</a:t>
            </a:r>
            <a:endParaRPr sz="850">
              <a:latin typeface="Courier New"/>
              <a:cs typeface="Courier New"/>
            </a:endParaRPr>
          </a:p>
          <a:p>
            <a:pPr marL="1891030">
              <a:lnSpc>
                <a:spcPct val="100000"/>
              </a:lnSpc>
              <a:spcBef>
                <a:spcPts val="85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1891030">
              <a:lnSpc>
                <a:spcPct val="100000"/>
              </a:lnSpc>
              <a:spcBef>
                <a:spcPts val="85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▼</a:t>
            </a:r>
            <a:endParaRPr sz="850">
              <a:latin typeface="Courier New"/>
              <a:cs typeface="Courier New"/>
            </a:endParaRPr>
          </a:p>
          <a:p>
            <a:pPr marL="1372870">
              <a:lnSpc>
                <a:spcPct val="100000"/>
              </a:lnSpc>
              <a:spcBef>
                <a:spcPts val="85"/>
              </a:spcBef>
            </a:pP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4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Cited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Answer</a:t>
            </a:r>
            <a:r>
              <a:rPr dirty="0" sz="850" spc="-4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05159" y="3954605"/>
            <a:ext cx="1303655" cy="59880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005"/>
              </a:spcBef>
            </a:pPr>
            <a:r>
              <a:rPr dirty="0" sz="1800" spc="-25" b="1">
                <a:solidFill>
                  <a:srgbClr val="57A5FF"/>
                </a:solidFill>
                <a:latin typeface="Arial"/>
                <a:cs typeface="Arial"/>
              </a:rPr>
              <a:t>0%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dirty="0" sz="850">
                <a:solidFill>
                  <a:srgbClr val="8A939E"/>
                </a:solidFill>
                <a:latin typeface="Arial MT"/>
                <a:cs typeface="Arial MT"/>
              </a:rPr>
              <a:t>OUTSIDE</a:t>
            </a:r>
            <a:r>
              <a:rPr dirty="0" sz="850" spc="220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8A939E"/>
                </a:solidFill>
                <a:latin typeface="Arial MT"/>
                <a:cs typeface="Arial MT"/>
              </a:rPr>
              <a:t>KNOWLEDGE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48335" y="3954605"/>
            <a:ext cx="1165860" cy="59880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005"/>
              </a:spcBef>
            </a:pPr>
            <a:r>
              <a:rPr dirty="0" sz="1800" spc="-20" b="1">
                <a:solidFill>
                  <a:srgbClr val="57A5FF"/>
                </a:solidFill>
                <a:latin typeface="Arial"/>
                <a:cs typeface="Arial"/>
              </a:rPr>
              <a:t>100%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dirty="0" sz="850">
                <a:solidFill>
                  <a:srgbClr val="8A939E"/>
                </a:solidFill>
                <a:latin typeface="Arial MT"/>
                <a:cs typeface="Arial MT"/>
              </a:rPr>
              <a:t>TRACEABLE</a:t>
            </a:r>
            <a:r>
              <a:rPr dirty="0" sz="850" spc="280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8A939E"/>
                </a:solidFill>
                <a:latin typeface="Arial MT"/>
                <a:cs typeface="Arial MT"/>
              </a:rPr>
              <a:t>CLAIMS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87625" y="1121609"/>
            <a:ext cx="9516745" cy="19050"/>
          </a:xfrm>
          <a:custGeom>
            <a:avLst/>
            <a:gdLst/>
            <a:ahLst/>
            <a:cxnLst/>
            <a:rect l="l" t="t" r="r" b="b"/>
            <a:pathLst>
              <a:path w="9516745" h="19050">
                <a:moveTo>
                  <a:pt x="9516750" y="19050"/>
                </a:moveTo>
                <a:lnTo>
                  <a:pt x="0" y="19050"/>
                </a:lnTo>
                <a:lnTo>
                  <a:pt x="0" y="0"/>
                </a:lnTo>
                <a:lnTo>
                  <a:pt x="9516750" y="0"/>
                </a:lnTo>
                <a:lnTo>
                  <a:pt x="9516750" y="19050"/>
                </a:lnTo>
                <a:close/>
              </a:path>
            </a:pathLst>
          </a:custGeom>
          <a:solidFill>
            <a:srgbClr val="2F3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74924" y="506434"/>
            <a:ext cx="16021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S</a:t>
            </a:r>
            <a:r>
              <a:rPr dirty="0" sz="900" spc="-1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L</a:t>
            </a:r>
            <a:r>
              <a:rPr dirty="0" sz="900" spc="-1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70" b="1">
                <a:solidFill>
                  <a:srgbClr val="57A5FF"/>
                </a:solidFill>
                <a:latin typeface="Arial"/>
                <a:cs typeface="Arial"/>
              </a:rPr>
              <a:t>IDE</a:t>
            </a:r>
            <a:r>
              <a:rPr dirty="0" sz="900" spc="28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2</a:t>
            </a:r>
            <a:r>
              <a:rPr dirty="0" sz="900" spc="28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—</a:t>
            </a:r>
            <a:r>
              <a:rPr dirty="0" sz="900" spc="28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M</a:t>
            </a:r>
            <a:r>
              <a:rPr dirty="0" sz="900" spc="-1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OT</a:t>
            </a:r>
            <a:r>
              <a:rPr dirty="0" sz="900" spc="-1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IVAT</a:t>
            </a:r>
            <a:r>
              <a:rPr dirty="0" sz="900" spc="-1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45" b="1">
                <a:solidFill>
                  <a:srgbClr val="57A5FF"/>
                </a:solidFill>
                <a:latin typeface="Arial"/>
                <a:cs typeface="Arial"/>
              </a:rPr>
              <a:t>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40"/>
              <a:t> </a:t>
            </a:r>
            <a:r>
              <a:rPr dirty="0"/>
              <a:t>Evidence-Grounded</a:t>
            </a:r>
            <a:r>
              <a:rPr dirty="0" spc="-40"/>
              <a:t> </a:t>
            </a:r>
            <a:r>
              <a:rPr dirty="0"/>
              <a:t>Medical</a:t>
            </a:r>
            <a:r>
              <a:rPr dirty="0" spc="-35"/>
              <a:t> </a:t>
            </a:r>
            <a:r>
              <a:rPr dirty="0" spc="-25"/>
              <a:t>AI?</a:t>
            </a:r>
          </a:p>
        </p:txBody>
      </p:sp>
      <p:sp>
        <p:nvSpPr>
          <p:cNvPr id="28" name="object 28"/>
          <p:cNvSpPr/>
          <p:nvPr/>
        </p:nvSpPr>
        <p:spPr>
          <a:xfrm>
            <a:off x="540000" y="6703084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2126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1450" y="1619449"/>
            <a:ext cx="4568190" cy="783590"/>
            <a:chOff x="711450" y="1619449"/>
            <a:chExt cx="4568190" cy="783590"/>
          </a:xfrm>
        </p:grpSpPr>
        <p:sp>
          <p:nvSpPr>
            <p:cNvPr id="3" name="object 3"/>
            <p:cNvSpPr/>
            <p:nvPr/>
          </p:nvSpPr>
          <p:spPr>
            <a:xfrm>
              <a:off x="711450" y="1619449"/>
              <a:ext cx="4568190" cy="783590"/>
            </a:xfrm>
            <a:custGeom>
              <a:avLst/>
              <a:gdLst/>
              <a:ahLst/>
              <a:cxnLst/>
              <a:rect l="l" t="t" r="r" b="b"/>
              <a:pathLst>
                <a:path w="4568190" h="783589">
                  <a:moveTo>
                    <a:pt x="4491675" y="783590"/>
                  </a:moveTo>
                  <a:lnTo>
                    <a:pt x="76200" y="783590"/>
                  </a:lnTo>
                  <a:lnTo>
                    <a:pt x="46612" y="777577"/>
                  </a:lnTo>
                  <a:lnTo>
                    <a:pt x="22383" y="761206"/>
                  </a:lnTo>
                  <a:lnTo>
                    <a:pt x="6012" y="736977"/>
                  </a:lnTo>
                  <a:lnTo>
                    <a:pt x="0" y="70739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07390"/>
                  </a:lnTo>
                  <a:lnTo>
                    <a:pt x="4561862" y="736977"/>
                  </a:lnTo>
                  <a:lnTo>
                    <a:pt x="4545491" y="761206"/>
                  </a:lnTo>
                  <a:lnTo>
                    <a:pt x="4521262" y="777577"/>
                  </a:lnTo>
                  <a:lnTo>
                    <a:pt x="4491675" y="78359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11450" y="1619449"/>
              <a:ext cx="4568190" cy="783590"/>
            </a:xfrm>
            <a:custGeom>
              <a:avLst/>
              <a:gdLst/>
              <a:ahLst/>
              <a:cxnLst/>
              <a:rect l="l" t="t" r="r" b="b"/>
              <a:pathLst>
                <a:path w="4568190" h="783589">
                  <a:moveTo>
                    <a:pt x="4491675" y="783590"/>
                  </a:moveTo>
                  <a:lnTo>
                    <a:pt x="76200" y="783590"/>
                  </a:lnTo>
                  <a:lnTo>
                    <a:pt x="46612" y="777577"/>
                  </a:lnTo>
                  <a:lnTo>
                    <a:pt x="22383" y="761206"/>
                  </a:lnTo>
                  <a:lnTo>
                    <a:pt x="6012" y="736977"/>
                  </a:lnTo>
                  <a:lnTo>
                    <a:pt x="0" y="70739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07390"/>
                  </a:lnTo>
                  <a:lnTo>
                    <a:pt x="14786" y="733278"/>
                  </a:lnTo>
                  <a:lnTo>
                    <a:pt x="29110" y="754479"/>
                  </a:lnTo>
                  <a:lnTo>
                    <a:pt x="50311" y="768803"/>
                  </a:lnTo>
                  <a:lnTo>
                    <a:pt x="76200" y="774065"/>
                  </a:lnTo>
                  <a:lnTo>
                    <a:pt x="4526460" y="774065"/>
                  </a:lnTo>
                  <a:lnTo>
                    <a:pt x="4521262" y="777577"/>
                  </a:lnTo>
                  <a:lnTo>
                    <a:pt x="4491675" y="783590"/>
                  </a:lnTo>
                  <a:close/>
                </a:path>
                <a:path w="4568190" h="783589">
                  <a:moveTo>
                    <a:pt x="4526460" y="774065"/>
                  </a:moveTo>
                  <a:lnTo>
                    <a:pt x="4491675" y="774065"/>
                  </a:lnTo>
                  <a:lnTo>
                    <a:pt x="4517563" y="768803"/>
                  </a:lnTo>
                  <a:lnTo>
                    <a:pt x="4538764" y="754479"/>
                  </a:lnTo>
                  <a:lnTo>
                    <a:pt x="4553089" y="733278"/>
                  </a:lnTo>
                  <a:lnTo>
                    <a:pt x="4558350" y="70739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07390"/>
                  </a:lnTo>
                  <a:lnTo>
                    <a:pt x="4561862" y="736977"/>
                  </a:lnTo>
                  <a:lnTo>
                    <a:pt x="4545491" y="761206"/>
                  </a:lnTo>
                  <a:lnTo>
                    <a:pt x="4526460" y="774065"/>
                  </a:lnTo>
                  <a:close/>
                </a:path>
              </a:pathLst>
            </a:custGeom>
            <a:solidFill>
              <a:srgbClr val="1F6BE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749550" y="2555439"/>
            <a:ext cx="2207895" cy="680720"/>
            <a:chOff x="749550" y="2555439"/>
            <a:chExt cx="2207895" cy="680720"/>
          </a:xfrm>
        </p:grpSpPr>
        <p:sp>
          <p:nvSpPr>
            <p:cNvPr id="6" name="object 6"/>
            <p:cNvSpPr/>
            <p:nvPr/>
          </p:nvSpPr>
          <p:spPr>
            <a:xfrm>
              <a:off x="749550" y="2555439"/>
              <a:ext cx="2207895" cy="680720"/>
            </a:xfrm>
            <a:custGeom>
              <a:avLst/>
              <a:gdLst/>
              <a:ahLst/>
              <a:cxnLst/>
              <a:rect l="l" t="t" r="r" b="b"/>
              <a:pathLst>
                <a:path w="2207895" h="680719">
                  <a:moveTo>
                    <a:pt x="2150587" y="680720"/>
                  </a:moveTo>
                  <a:lnTo>
                    <a:pt x="57150" y="680720"/>
                  </a:lnTo>
                  <a:lnTo>
                    <a:pt x="34959" y="676210"/>
                  </a:lnTo>
                  <a:lnTo>
                    <a:pt x="16787" y="663932"/>
                  </a:lnTo>
                  <a:lnTo>
                    <a:pt x="4509" y="645760"/>
                  </a:lnTo>
                  <a:lnTo>
                    <a:pt x="0" y="623570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150587" y="0"/>
                  </a:lnTo>
                  <a:lnTo>
                    <a:pt x="2172777" y="4509"/>
                  </a:lnTo>
                  <a:lnTo>
                    <a:pt x="2190949" y="16787"/>
                  </a:lnTo>
                  <a:lnTo>
                    <a:pt x="2203228" y="34959"/>
                  </a:lnTo>
                  <a:lnTo>
                    <a:pt x="2207737" y="57150"/>
                  </a:lnTo>
                  <a:lnTo>
                    <a:pt x="2207737" y="623570"/>
                  </a:lnTo>
                  <a:lnTo>
                    <a:pt x="2203228" y="645760"/>
                  </a:lnTo>
                  <a:lnTo>
                    <a:pt x="2190949" y="663932"/>
                  </a:lnTo>
                  <a:lnTo>
                    <a:pt x="2172777" y="676210"/>
                  </a:lnTo>
                  <a:lnTo>
                    <a:pt x="2150587" y="680720"/>
                  </a:lnTo>
                  <a:close/>
                </a:path>
              </a:pathLst>
            </a:custGeom>
            <a:solidFill>
              <a:srgbClr val="2126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49550" y="2555439"/>
              <a:ext cx="2207895" cy="680720"/>
            </a:xfrm>
            <a:custGeom>
              <a:avLst/>
              <a:gdLst/>
              <a:ahLst/>
              <a:cxnLst/>
              <a:rect l="l" t="t" r="r" b="b"/>
              <a:pathLst>
                <a:path w="2207895" h="680719">
                  <a:moveTo>
                    <a:pt x="2150587" y="680720"/>
                  </a:moveTo>
                  <a:lnTo>
                    <a:pt x="57150" y="680720"/>
                  </a:lnTo>
                  <a:lnTo>
                    <a:pt x="34959" y="676210"/>
                  </a:lnTo>
                  <a:lnTo>
                    <a:pt x="16787" y="663932"/>
                  </a:lnTo>
                  <a:lnTo>
                    <a:pt x="4509" y="645760"/>
                  </a:lnTo>
                  <a:lnTo>
                    <a:pt x="0" y="623570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150587" y="0"/>
                  </a:lnTo>
                  <a:lnTo>
                    <a:pt x="2172777" y="4509"/>
                  </a:lnTo>
                  <a:lnTo>
                    <a:pt x="2180200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623570"/>
                  </a:lnTo>
                  <a:lnTo>
                    <a:pt x="13282" y="642061"/>
                  </a:lnTo>
                  <a:lnTo>
                    <a:pt x="23514" y="657205"/>
                  </a:lnTo>
                  <a:lnTo>
                    <a:pt x="38658" y="667437"/>
                  </a:lnTo>
                  <a:lnTo>
                    <a:pt x="57150" y="671195"/>
                  </a:lnTo>
                  <a:lnTo>
                    <a:pt x="2180200" y="671195"/>
                  </a:lnTo>
                  <a:lnTo>
                    <a:pt x="2172777" y="676210"/>
                  </a:lnTo>
                  <a:lnTo>
                    <a:pt x="2150587" y="680720"/>
                  </a:lnTo>
                  <a:close/>
                </a:path>
                <a:path w="2207895" h="680719">
                  <a:moveTo>
                    <a:pt x="2180200" y="671195"/>
                  </a:moveTo>
                  <a:lnTo>
                    <a:pt x="2150587" y="671195"/>
                  </a:lnTo>
                  <a:lnTo>
                    <a:pt x="2169079" y="667437"/>
                  </a:lnTo>
                  <a:lnTo>
                    <a:pt x="2184222" y="657205"/>
                  </a:lnTo>
                  <a:lnTo>
                    <a:pt x="2194454" y="642061"/>
                  </a:lnTo>
                  <a:lnTo>
                    <a:pt x="2198212" y="623570"/>
                  </a:lnTo>
                  <a:lnTo>
                    <a:pt x="2198212" y="57150"/>
                  </a:lnTo>
                  <a:lnTo>
                    <a:pt x="2194454" y="38658"/>
                  </a:lnTo>
                  <a:lnTo>
                    <a:pt x="2184222" y="23514"/>
                  </a:lnTo>
                  <a:lnTo>
                    <a:pt x="2169079" y="13282"/>
                  </a:lnTo>
                  <a:lnTo>
                    <a:pt x="2150587" y="9525"/>
                  </a:lnTo>
                  <a:lnTo>
                    <a:pt x="2180200" y="9525"/>
                  </a:lnTo>
                  <a:lnTo>
                    <a:pt x="2190949" y="16787"/>
                  </a:lnTo>
                  <a:lnTo>
                    <a:pt x="2203228" y="34959"/>
                  </a:lnTo>
                  <a:lnTo>
                    <a:pt x="2207737" y="57150"/>
                  </a:lnTo>
                  <a:lnTo>
                    <a:pt x="2207737" y="623570"/>
                  </a:lnTo>
                  <a:lnTo>
                    <a:pt x="2203228" y="645760"/>
                  </a:lnTo>
                  <a:lnTo>
                    <a:pt x="2190949" y="663932"/>
                  </a:lnTo>
                  <a:lnTo>
                    <a:pt x="2180200" y="67119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033487" y="2555439"/>
            <a:ext cx="2207895" cy="680720"/>
            <a:chOff x="3033487" y="2555439"/>
            <a:chExt cx="2207895" cy="680720"/>
          </a:xfrm>
        </p:grpSpPr>
        <p:sp>
          <p:nvSpPr>
            <p:cNvPr id="9" name="object 9"/>
            <p:cNvSpPr/>
            <p:nvPr/>
          </p:nvSpPr>
          <p:spPr>
            <a:xfrm>
              <a:off x="3033487" y="2555439"/>
              <a:ext cx="2207895" cy="680720"/>
            </a:xfrm>
            <a:custGeom>
              <a:avLst/>
              <a:gdLst/>
              <a:ahLst/>
              <a:cxnLst/>
              <a:rect l="l" t="t" r="r" b="b"/>
              <a:pathLst>
                <a:path w="2207895" h="680719">
                  <a:moveTo>
                    <a:pt x="2150587" y="680720"/>
                  </a:moveTo>
                  <a:lnTo>
                    <a:pt x="57150" y="680720"/>
                  </a:lnTo>
                  <a:lnTo>
                    <a:pt x="34959" y="676210"/>
                  </a:lnTo>
                  <a:lnTo>
                    <a:pt x="16787" y="663932"/>
                  </a:lnTo>
                  <a:lnTo>
                    <a:pt x="4509" y="645760"/>
                  </a:lnTo>
                  <a:lnTo>
                    <a:pt x="0" y="623570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150587" y="0"/>
                  </a:lnTo>
                  <a:lnTo>
                    <a:pt x="2172777" y="4509"/>
                  </a:lnTo>
                  <a:lnTo>
                    <a:pt x="2190949" y="16787"/>
                  </a:lnTo>
                  <a:lnTo>
                    <a:pt x="2203228" y="34959"/>
                  </a:lnTo>
                  <a:lnTo>
                    <a:pt x="2207737" y="57150"/>
                  </a:lnTo>
                  <a:lnTo>
                    <a:pt x="2207737" y="623570"/>
                  </a:lnTo>
                  <a:lnTo>
                    <a:pt x="2203228" y="645760"/>
                  </a:lnTo>
                  <a:lnTo>
                    <a:pt x="2190949" y="663932"/>
                  </a:lnTo>
                  <a:lnTo>
                    <a:pt x="2172777" y="676210"/>
                  </a:lnTo>
                  <a:lnTo>
                    <a:pt x="2150587" y="680720"/>
                  </a:lnTo>
                  <a:close/>
                </a:path>
              </a:pathLst>
            </a:custGeom>
            <a:solidFill>
              <a:srgbClr val="2126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33487" y="2555439"/>
              <a:ext cx="2207895" cy="680720"/>
            </a:xfrm>
            <a:custGeom>
              <a:avLst/>
              <a:gdLst/>
              <a:ahLst/>
              <a:cxnLst/>
              <a:rect l="l" t="t" r="r" b="b"/>
              <a:pathLst>
                <a:path w="2207895" h="680719">
                  <a:moveTo>
                    <a:pt x="2150587" y="680720"/>
                  </a:moveTo>
                  <a:lnTo>
                    <a:pt x="57150" y="680720"/>
                  </a:lnTo>
                  <a:lnTo>
                    <a:pt x="34959" y="676210"/>
                  </a:lnTo>
                  <a:lnTo>
                    <a:pt x="16787" y="663932"/>
                  </a:lnTo>
                  <a:lnTo>
                    <a:pt x="4509" y="645760"/>
                  </a:lnTo>
                  <a:lnTo>
                    <a:pt x="0" y="623570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150587" y="0"/>
                  </a:lnTo>
                  <a:lnTo>
                    <a:pt x="2172777" y="4509"/>
                  </a:lnTo>
                  <a:lnTo>
                    <a:pt x="2180200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623570"/>
                  </a:lnTo>
                  <a:lnTo>
                    <a:pt x="13282" y="642061"/>
                  </a:lnTo>
                  <a:lnTo>
                    <a:pt x="23514" y="657205"/>
                  </a:lnTo>
                  <a:lnTo>
                    <a:pt x="38658" y="667437"/>
                  </a:lnTo>
                  <a:lnTo>
                    <a:pt x="57150" y="671195"/>
                  </a:lnTo>
                  <a:lnTo>
                    <a:pt x="2180200" y="671195"/>
                  </a:lnTo>
                  <a:lnTo>
                    <a:pt x="2172777" y="676210"/>
                  </a:lnTo>
                  <a:lnTo>
                    <a:pt x="2150587" y="680720"/>
                  </a:lnTo>
                  <a:close/>
                </a:path>
                <a:path w="2207895" h="680719">
                  <a:moveTo>
                    <a:pt x="2180200" y="671195"/>
                  </a:moveTo>
                  <a:lnTo>
                    <a:pt x="2150587" y="671195"/>
                  </a:lnTo>
                  <a:lnTo>
                    <a:pt x="2169079" y="667437"/>
                  </a:lnTo>
                  <a:lnTo>
                    <a:pt x="2184222" y="657205"/>
                  </a:lnTo>
                  <a:lnTo>
                    <a:pt x="2194454" y="642061"/>
                  </a:lnTo>
                  <a:lnTo>
                    <a:pt x="2198212" y="623570"/>
                  </a:lnTo>
                  <a:lnTo>
                    <a:pt x="2198212" y="57150"/>
                  </a:lnTo>
                  <a:lnTo>
                    <a:pt x="2194454" y="38658"/>
                  </a:lnTo>
                  <a:lnTo>
                    <a:pt x="2184222" y="23514"/>
                  </a:lnTo>
                  <a:lnTo>
                    <a:pt x="2169079" y="13282"/>
                  </a:lnTo>
                  <a:lnTo>
                    <a:pt x="2150587" y="9525"/>
                  </a:lnTo>
                  <a:lnTo>
                    <a:pt x="2180200" y="9525"/>
                  </a:lnTo>
                  <a:lnTo>
                    <a:pt x="2190949" y="16787"/>
                  </a:lnTo>
                  <a:lnTo>
                    <a:pt x="2203228" y="34959"/>
                  </a:lnTo>
                  <a:lnTo>
                    <a:pt x="2207737" y="57150"/>
                  </a:lnTo>
                  <a:lnTo>
                    <a:pt x="2207737" y="623570"/>
                  </a:lnTo>
                  <a:lnTo>
                    <a:pt x="2203228" y="645760"/>
                  </a:lnTo>
                  <a:lnTo>
                    <a:pt x="2190949" y="663932"/>
                  </a:lnTo>
                  <a:lnTo>
                    <a:pt x="2180200" y="67119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711450" y="3369509"/>
            <a:ext cx="4568190" cy="1607185"/>
            <a:chOff x="711450" y="3369509"/>
            <a:chExt cx="4568190" cy="1607185"/>
          </a:xfrm>
        </p:grpSpPr>
        <p:sp>
          <p:nvSpPr>
            <p:cNvPr id="12" name="object 12"/>
            <p:cNvSpPr/>
            <p:nvPr/>
          </p:nvSpPr>
          <p:spPr>
            <a:xfrm>
              <a:off x="711450" y="3369509"/>
              <a:ext cx="4568190" cy="1607185"/>
            </a:xfrm>
            <a:custGeom>
              <a:avLst/>
              <a:gdLst/>
              <a:ahLst/>
              <a:cxnLst/>
              <a:rect l="l" t="t" r="r" b="b"/>
              <a:pathLst>
                <a:path w="4568190" h="1607185">
                  <a:moveTo>
                    <a:pt x="4491675" y="1607185"/>
                  </a:moveTo>
                  <a:lnTo>
                    <a:pt x="76200" y="1607185"/>
                  </a:lnTo>
                  <a:lnTo>
                    <a:pt x="46612" y="1601172"/>
                  </a:lnTo>
                  <a:lnTo>
                    <a:pt x="22383" y="1584801"/>
                  </a:lnTo>
                  <a:lnTo>
                    <a:pt x="6012" y="1560572"/>
                  </a:lnTo>
                  <a:lnTo>
                    <a:pt x="0" y="153098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1530985"/>
                  </a:lnTo>
                  <a:lnTo>
                    <a:pt x="4561862" y="1560572"/>
                  </a:lnTo>
                  <a:lnTo>
                    <a:pt x="4545491" y="1584801"/>
                  </a:lnTo>
                  <a:lnTo>
                    <a:pt x="4521262" y="1601172"/>
                  </a:lnTo>
                  <a:lnTo>
                    <a:pt x="4491675" y="1607185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11450" y="3369509"/>
              <a:ext cx="4568190" cy="1607185"/>
            </a:xfrm>
            <a:custGeom>
              <a:avLst/>
              <a:gdLst/>
              <a:ahLst/>
              <a:cxnLst/>
              <a:rect l="l" t="t" r="r" b="b"/>
              <a:pathLst>
                <a:path w="4568190" h="1607185">
                  <a:moveTo>
                    <a:pt x="4491675" y="1607185"/>
                  </a:moveTo>
                  <a:lnTo>
                    <a:pt x="76200" y="1607185"/>
                  </a:lnTo>
                  <a:lnTo>
                    <a:pt x="46612" y="1601172"/>
                  </a:lnTo>
                  <a:lnTo>
                    <a:pt x="22383" y="1584801"/>
                  </a:lnTo>
                  <a:lnTo>
                    <a:pt x="6012" y="1560572"/>
                  </a:lnTo>
                  <a:lnTo>
                    <a:pt x="0" y="153098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530985"/>
                  </a:lnTo>
                  <a:lnTo>
                    <a:pt x="14786" y="1556873"/>
                  </a:lnTo>
                  <a:lnTo>
                    <a:pt x="29110" y="1578074"/>
                  </a:lnTo>
                  <a:lnTo>
                    <a:pt x="50311" y="1592398"/>
                  </a:lnTo>
                  <a:lnTo>
                    <a:pt x="76200" y="1597660"/>
                  </a:lnTo>
                  <a:lnTo>
                    <a:pt x="4526460" y="1597660"/>
                  </a:lnTo>
                  <a:lnTo>
                    <a:pt x="4521262" y="1601172"/>
                  </a:lnTo>
                  <a:lnTo>
                    <a:pt x="4491675" y="1607185"/>
                  </a:lnTo>
                  <a:close/>
                </a:path>
                <a:path w="4568190" h="1607185">
                  <a:moveTo>
                    <a:pt x="4526460" y="1597660"/>
                  </a:moveTo>
                  <a:lnTo>
                    <a:pt x="4491675" y="1597660"/>
                  </a:lnTo>
                  <a:lnTo>
                    <a:pt x="4517563" y="1592398"/>
                  </a:lnTo>
                  <a:lnTo>
                    <a:pt x="4538764" y="1578074"/>
                  </a:lnTo>
                  <a:lnTo>
                    <a:pt x="4553089" y="1556873"/>
                  </a:lnTo>
                  <a:lnTo>
                    <a:pt x="4558350" y="1530985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1530985"/>
                  </a:lnTo>
                  <a:lnTo>
                    <a:pt x="4561862" y="1560572"/>
                  </a:lnTo>
                  <a:lnTo>
                    <a:pt x="4545491" y="1584801"/>
                  </a:lnTo>
                  <a:lnTo>
                    <a:pt x="4526460" y="1597660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54325" y="3755589"/>
              <a:ext cx="4282440" cy="1002030"/>
            </a:xfrm>
            <a:custGeom>
              <a:avLst/>
              <a:gdLst/>
              <a:ahLst/>
              <a:cxnLst/>
              <a:rect l="l" t="t" r="r" b="b"/>
              <a:pathLst>
                <a:path w="4282440" h="1002029">
                  <a:moveTo>
                    <a:pt x="4224975" y="1002030"/>
                  </a:moveTo>
                  <a:lnTo>
                    <a:pt x="57150" y="1002030"/>
                  </a:lnTo>
                  <a:lnTo>
                    <a:pt x="34959" y="997520"/>
                  </a:lnTo>
                  <a:lnTo>
                    <a:pt x="16787" y="985242"/>
                  </a:lnTo>
                  <a:lnTo>
                    <a:pt x="4509" y="967070"/>
                  </a:lnTo>
                  <a:lnTo>
                    <a:pt x="0" y="944880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224975" y="0"/>
                  </a:lnTo>
                  <a:lnTo>
                    <a:pt x="4247165" y="4509"/>
                  </a:lnTo>
                  <a:lnTo>
                    <a:pt x="4265337" y="16787"/>
                  </a:lnTo>
                  <a:lnTo>
                    <a:pt x="4277615" y="34959"/>
                  </a:lnTo>
                  <a:lnTo>
                    <a:pt x="4282125" y="57150"/>
                  </a:lnTo>
                  <a:lnTo>
                    <a:pt x="4282125" y="944880"/>
                  </a:lnTo>
                  <a:lnTo>
                    <a:pt x="4277615" y="967070"/>
                  </a:lnTo>
                  <a:lnTo>
                    <a:pt x="4265337" y="985242"/>
                  </a:lnTo>
                  <a:lnTo>
                    <a:pt x="4247165" y="997520"/>
                  </a:lnTo>
                  <a:lnTo>
                    <a:pt x="4224975" y="1002030"/>
                  </a:lnTo>
                  <a:close/>
                </a:path>
              </a:pathLst>
            </a:custGeom>
            <a:solidFill>
              <a:srgbClr val="0103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54325" y="3755589"/>
              <a:ext cx="4282440" cy="1002030"/>
            </a:xfrm>
            <a:custGeom>
              <a:avLst/>
              <a:gdLst/>
              <a:ahLst/>
              <a:cxnLst/>
              <a:rect l="l" t="t" r="r" b="b"/>
              <a:pathLst>
                <a:path w="4282440" h="1002029">
                  <a:moveTo>
                    <a:pt x="4224975" y="1002030"/>
                  </a:moveTo>
                  <a:lnTo>
                    <a:pt x="57150" y="1002030"/>
                  </a:lnTo>
                  <a:lnTo>
                    <a:pt x="34959" y="997520"/>
                  </a:lnTo>
                  <a:lnTo>
                    <a:pt x="16787" y="985242"/>
                  </a:lnTo>
                  <a:lnTo>
                    <a:pt x="4509" y="967070"/>
                  </a:lnTo>
                  <a:lnTo>
                    <a:pt x="0" y="944880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4224975" y="0"/>
                  </a:lnTo>
                  <a:lnTo>
                    <a:pt x="4247165" y="4509"/>
                  </a:lnTo>
                  <a:lnTo>
                    <a:pt x="4254588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944880"/>
                  </a:lnTo>
                  <a:lnTo>
                    <a:pt x="13282" y="963371"/>
                  </a:lnTo>
                  <a:lnTo>
                    <a:pt x="23514" y="978515"/>
                  </a:lnTo>
                  <a:lnTo>
                    <a:pt x="38658" y="988747"/>
                  </a:lnTo>
                  <a:lnTo>
                    <a:pt x="57150" y="992505"/>
                  </a:lnTo>
                  <a:lnTo>
                    <a:pt x="4254588" y="992505"/>
                  </a:lnTo>
                  <a:lnTo>
                    <a:pt x="4247165" y="997520"/>
                  </a:lnTo>
                  <a:lnTo>
                    <a:pt x="4224975" y="1002030"/>
                  </a:lnTo>
                  <a:close/>
                </a:path>
                <a:path w="4282440" h="1002029">
                  <a:moveTo>
                    <a:pt x="4254588" y="992505"/>
                  </a:moveTo>
                  <a:lnTo>
                    <a:pt x="4224975" y="992505"/>
                  </a:lnTo>
                  <a:lnTo>
                    <a:pt x="4243467" y="988747"/>
                  </a:lnTo>
                  <a:lnTo>
                    <a:pt x="4258610" y="978515"/>
                  </a:lnTo>
                  <a:lnTo>
                    <a:pt x="4268842" y="963371"/>
                  </a:lnTo>
                  <a:lnTo>
                    <a:pt x="4272600" y="944880"/>
                  </a:lnTo>
                  <a:lnTo>
                    <a:pt x="4272600" y="57150"/>
                  </a:lnTo>
                  <a:lnTo>
                    <a:pt x="4268842" y="38658"/>
                  </a:lnTo>
                  <a:lnTo>
                    <a:pt x="4258610" y="23514"/>
                  </a:lnTo>
                  <a:lnTo>
                    <a:pt x="4243467" y="13282"/>
                  </a:lnTo>
                  <a:lnTo>
                    <a:pt x="4224975" y="9525"/>
                  </a:lnTo>
                  <a:lnTo>
                    <a:pt x="4254588" y="9525"/>
                  </a:lnTo>
                  <a:lnTo>
                    <a:pt x="4265337" y="16787"/>
                  </a:lnTo>
                  <a:lnTo>
                    <a:pt x="4277615" y="34959"/>
                  </a:lnTo>
                  <a:lnTo>
                    <a:pt x="4282125" y="57150"/>
                  </a:lnTo>
                  <a:lnTo>
                    <a:pt x="4282125" y="944880"/>
                  </a:lnTo>
                  <a:lnTo>
                    <a:pt x="4277615" y="967070"/>
                  </a:lnTo>
                  <a:lnTo>
                    <a:pt x="4265337" y="985242"/>
                  </a:lnTo>
                  <a:lnTo>
                    <a:pt x="4254588" y="99250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5412675" y="1619449"/>
            <a:ext cx="4568190" cy="1473200"/>
            <a:chOff x="5412675" y="1619449"/>
            <a:chExt cx="4568190" cy="1473200"/>
          </a:xfrm>
        </p:grpSpPr>
        <p:sp>
          <p:nvSpPr>
            <p:cNvPr id="17" name="object 17"/>
            <p:cNvSpPr/>
            <p:nvPr/>
          </p:nvSpPr>
          <p:spPr>
            <a:xfrm>
              <a:off x="5412675" y="1619449"/>
              <a:ext cx="4568190" cy="1473200"/>
            </a:xfrm>
            <a:custGeom>
              <a:avLst/>
              <a:gdLst/>
              <a:ahLst/>
              <a:cxnLst/>
              <a:rect l="l" t="t" r="r" b="b"/>
              <a:pathLst>
                <a:path w="4568190" h="1473200">
                  <a:moveTo>
                    <a:pt x="4491675" y="1473200"/>
                  </a:moveTo>
                  <a:lnTo>
                    <a:pt x="76200" y="1473200"/>
                  </a:lnTo>
                  <a:lnTo>
                    <a:pt x="46612" y="1467187"/>
                  </a:lnTo>
                  <a:lnTo>
                    <a:pt x="22383" y="1450816"/>
                  </a:lnTo>
                  <a:lnTo>
                    <a:pt x="6012" y="1426587"/>
                  </a:lnTo>
                  <a:lnTo>
                    <a:pt x="0" y="13970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1397000"/>
                  </a:lnTo>
                  <a:lnTo>
                    <a:pt x="4561862" y="1426587"/>
                  </a:lnTo>
                  <a:lnTo>
                    <a:pt x="4545491" y="1450816"/>
                  </a:lnTo>
                  <a:lnTo>
                    <a:pt x="4521262" y="1467187"/>
                  </a:lnTo>
                  <a:lnTo>
                    <a:pt x="4491675" y="147320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412675" y="1619449"/>
              <a:ext cx="4568190" cy="1473200"/>
            </a:xfrm>
            <a:custGeom>
              <a:avLst/>
              <a:gdLst/>
              <a:ahLst/>
              <a:cxnLst/>
              <a:rect l="l" t="t" r="r" b="b"/>
              <a:pathLst>
                <a:path w="4568190" h="1473200">
                  <a:moveTo>
                    <a:pt x="4491675" y="1473200"/>
                  </a:moveTo>
                  <a:lnTo>
                    <a:pt x="76200" y="1473200"/>
                  </a:lnTo>
                  <a:lnTo>
                    <a:pt x="46612" y="1467187"/>
                  </a:lnTo>
                  <a:lnTo>
                    <a:pt x="22383" y="1450816"/>
                  </a:lnTo>
                  <a:lnTo>
                    <a:pt x="6012" y="1426587"/>
                  </a:lnTo>
                  <a:lnTo>
                    <a:pt x="0" y="13970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397000"/>
                  </a:lnTo>
                  <a:lnTo>
                    <a:pt x="14786" y="1422888"/>
                  </a:lnTo>
                  <a:lnTo>
                    <a:pt x="29110" y="1444089"/>
                  </a:lnTo>
                  <a:lnTo>
                    <a:pt x="50311" y="1458413"/>
                  </a:lnTo>
                  <a:lnTo>
                    <a:pt x="76200" y="1463675"/>
                  </a:lnTo>
                  <a:lnTo>
                    <a:pt x="4526460" y="1463675"/>
                  </a:lnTo>
                  <a:lnTo>
                    <a:pt x="4521262" y="1467187"/>
                  </a:lnTo>
                  <a:lnTo>
                    <a:pt x="4491675" y="1473200"/>
                  </a:lnTo>
                  <a:close/>
                </a:path>
                <a:path w="4568190" h="1473200">
                  <a:moveTo>
                    <a:pt x="4526460" y="1463675"/>
                  </a:moveTo>
                  <a:lnTo>
                    <a:pt x="4491675" y="1463675"/>
                  </a:lnTo>
                  <a:lnTo>
                    <a:pt x="4517563" y="1458413"/>
                  </a:lnTo>
                  <a:lnTo>
                    <a:pt x="4538764" y="1444089"/>
                  </a:lnTo>
                  <a:lnTo>
                    <a:pt x="4553089" y="1422888"/>
                  </a:lnTo>
                  <a:lnTo>
                    <a:pt x="4558350" y="139700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1397000"/>
                  </a:lnTo>
                  <a:lnTo>
                    <a:pt x="4561862" y="1426587"/>
                  </a:lnTo>
                  <a:lnTo>
                    <a:pt x="4545491" y="1450816"/>
                  </a:lnTo>
                  <a:lnTo>
                    <a:pt x="4526460" y="146367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5412675" y="3187899"/>
            <a:ext cx="4568190" cy="795020"/>
            <a:chOff x="5412675" y="3187899"/>
            <a:chExt cx="4568190" cy="795020"/>
          </a:xfrm>
        </p:grpSpPr>
        <p:sp>
          <p:nvSpPr>
            <p:cNvPr id="20" name="object 20"/>
            <p:cNvSpPr/>
            <p:nvPr/>
          </p:nvSpPr>
          <p:spPr>
            <a:xfrm>
              <a:off x="5412675" y="3187899"/>
              <a:ext cx="4568190" cy="795020"/>
            </a:xfrm>
            <a:custGeom>
              <a:avLst/>
              <a:gdLst/>
              <a:ahLst/>
              <a:cxnLst/>
              <a:rect l="l" t="t" r="r" b="b"/>
              <a:pathLst>
                <a:path w="4568190" h="795020">
                  <a:moveTo>
                    <a:pt x="4491675" y="795020"/>
                  </a:moveTo>
                  <a:lnTo>
                    <a:pt x="76200" y="795020"/>
                  </a:lnTo>
                  <a:lnTo>
                    <a:pt x="46612" y="789007"/>
                  </a:lnTo>
                  <a:lnTo>
                    <a:pt x="22383" y="772636"/>
                  </a:lnTo>
                  <a:lnTo>
                    <a:pt x="6012" y="748407"/>
                  </a:lnTo>
                  <a:lnTo>
                    <a:pt x="0" y="7188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18820"/>
                  </a:lnTo>
                  <a:lnTo>
                    <a:pt x="4561862" y="748407"/>
                  </a:lnTo>
                  <a:lnTo>
                    <a:pt x="4545491" y="772636"/>
                  </a:lnTo>
                  <a:lnTo>
                    <a:pt x="4521262" y="789007"/>
                  </a:lnTo>
                  <a:lnTo>
                    <a:pt x="4491675" y="79502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412675" y="3187899"/>
              <a:ext cx="4568190" cy="795020"/>
            </a:xfrm>
            <a:custGeom>
              <a:avLst/>
              <a:gdLst/>
              <a:ahLst/>
              <a:cxnLst/>
              <a:rect l="l" t="t" r="r" b="b"/>
              <a:pathLst>
                <a:path w="4568190" h="795020">
                  <a:moveTo>
                    <a:pt x="4491675" y="795020"/>
                  </a:moveTo>
                  <a:lnTo>
                    <a:pt x="76200" y="795020"/>
                  </a:lnTo>
                  <a:lnTo>
                    <a:pt x="46612" y="789007"/>
                  </a:lnTo>
                  <a:lnTo>
                    <a:pt x="22383" y="772636"/>
                  </a:lnTo>
                  <a:lnTo>
                    <a:pt x="6012" y="748407"/>
                  </a:lnTo>
                  <a:lnTo>
                    <a:pt x="0" y="7188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18820"/>
                  </a:lnTo>
                  <a:lnTo>
                    <a:pt x="14786" y="744708"/>
                  </a:lnTo>
                  <a:lnTo>
                    <a:pt x="29110" y="765909"/>
                  </a:lnTo>
                  <a:lnTo>
                    <a:pt x="50311" y="780233"/>
                  </a:lnTo>
                  <a:lnTo>
                    <a:pt x="76200" y="785495"/>
                  </a:lnTo>
                  <a:lnTo>
                    <a:pt x="4526460" y="785495"/>
                  </a:lnTo>
                  <a:lnTo>
                    <a:pt x="4521262" y="789007"/>
                  </a:lnTo>
                  <a:lnTo>
                    <a:pt x="4491675" y="795020"/>
                  </a:lnTo>
                  <a:close/>
                </a:path>
                <a:path w="4568190" h="795020">
                  <a:moveTo>
                    <a:pt x="4526460" y="785495"/>
                  </a:moveTo>
                  <a:lnTo>
                    <a:pt x="4491675" y="785495"/>
                  </a:lnTo>
                  <a:lnTo>
                    <a:pt x="4517563" y="780233"/>
                  </a:lnTo>
                  <a:lnTo>
                    <a:pt x="4538764" y="765909"/>
                  </a:lnTo>
                  <a:lnTo>
                    <a:pt x="4553089" y="744708"/>
                  </a:lnTo>
                  <a:lnTo>
                    <a:pt x="4558350" y="71882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18820"/>
                  </a:lnTo>
                  <a:lnTo>
                    <a:pt x="4561862" y="748407"/>
                  </a:lnTo>
                  <a:lnTo>
                    <a:pt x="4545491" y="772636"/>
                  </a:lnTo>
                  <a:lnTo>
                    <a:pt x="4526460" y="78549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5412675" y="4078169"/>
            <a:ext cx="4568190" cy="857250"/>
            <a:chOff x="5412675" y="4078169"/>
            <a:chExt cx="4568190" cy="857250"/>
          </a:xfrm>
        </p:grpSpPr>
        <p:sp>
          <p:nvSpPr>
            <p:cNvPr id="23" name="object 23"/>
            <p:cNvSpPr/>
            <p:nvPr/>
          </p:nvSpPr>
          <p:spPr>
            <a:xfrm>
              <a:off x="5412675" y="4078169"/>
              <a:ext cx="4568190" cy="857250"/>
            </a:xfrm>
            <a:custGeom>
              <a:avLst/>
              <a:gdLst/>
              <a:ahLst/>
              <a:cxnLst/>
              <a:rect l="l" t="t" r="r" b="b"/>
              <a:pathLst>
                <a:path w="4568190" h="857250">
                  <a:moveTo>
                    <a:pt x="4491675" y="857250"/>
                  </a:moveTo>
                  <a:lnTo>
                    <a:pt x="76200" y="857250"/>
                  </a:lnTo>
                  <a:lnTo>
                    <a:pt x="46612" y="851237"/>
                  </a:lnTo>
                  <a:lnTo>
                    <a:pt x="22383" y="834866"/>
                  </a:lnTo>
                  <a:lnTo>
                    <a:pt x="6012" y="810637"/>
                  </a:lnTo>
                  <a:lnTo>
                    <a:pt x="0" y="7810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81050"/>
                  </a:lnTo>
                  <a:lnTo>
                    <a:pt x="4561862" y="810637"/>
                  </a:lnTo>
                  <a:lnTo>
                    <a:pt x="4545491" y="834866"/>
                  </a:lnTo>
                  <a:lnTo>
                    <a:pt x="4521262" y="851237"/>
                  </a:lnTo>
                  <a:lnTo>
                    <a:pt x="4491675" y="85725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412675" y="4078169"/>
              <a:ext cx="4568190" cy="857250"/>
            </a:xfrm>
            <a:custGeom>
              <a:avLst/>
              <a:gdLst/>
              <a:ahLst/>
              <a:cxnLst/>
              <a:rect l="l" t="t" r="r" b="b"/>
              <a:pathLst>
                <a:path w="4568190" h="857250">
                  <a:moveTo>
                    <a:pt x="4491675" y="857250"/>
                  </a:moveTo>
                  <a:lnTo>
                    <a:pt x="76200" y="857250"/>
                  </a:lnTo>
                  <a:lnTo>
                    <a:pt x="46612" y="851237"/>
                  </a:lnTo>
                  <a:lnTo>
                    <a:pt x="22383" y="834866"/>
                  </a:lnTo>
                  <a:lnTo>
                    <a:pt x="6012" y="810637"/>
                  </a:lnTo>
                  <a:lnTo>
                    <a:pt x="0" y="7810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81050"/>
                  </a:lnTo>
                  <a:lnTo>
                    <a:pt x="14786" y="806938"/>
                  </a:lnTo>
                  <a:lnTo>
                    <a:pt x="29110" y="828139"/>
                  </a:lnTo>
                  <a:lnTo>
                    <a:pt x="50311" y="842463"/>
                  </a:lnTo>
                  <a:lnTo>
                    <a:pt x="76200" y="847725"/>
                  </a:lnTo>
                  <a:lnTo>
                    <a:pt x="4526460" y="847725"/>
                  </a:lnTo>
                  <a:lnTo>
                    <a:pt x="4521262" y="851237"/>
                  </a:lnTo>
                  <a:lnTo>
                    <a:pt x="4491675" y="857250"/>
                  </a:lnTo>
                  <a:close/>
                </a:path>
                <a:path w="4568190" h="857250">
                  <a:moveTo>
                    <a:pt x="4526460" y="847725"/>
                  </a:moveTo>
                  <a:lnTo>
                    <a:pt x="4491675" y="847725"/>
                  </a:lnTo>
                  <a:lnTo>
                    <a:pt x="4517563" y="842463"/>
                  </a:lnTo>
                  <a:lnTo>
                    <a:pt x="4538764" y="828139"/>
                  </a:lnTo>
                  <a:lnTo>
                    <a:pt x="4553089" y="806938"/>
                  </a:lnTo>
                  <a:lnTo>
                    <a:pt x="4558350" y="78105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81050"/>
                  </a:lnTo>
                  <a:lnTo>
                    <a:pt x="4561862" y="810637"/>
                  </a:lnTo>
                  <a:lnTo>
                    <a:pt x="4545491" y="834866"/>
                  </a:lnTo>
                  <a:lnTo>
                    <a:pt x="4526460" y="84772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98749" y="1268636"/>
            <a:ext cx="177482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57A5FF"/>
                </a:solidFill>
                <a:latin typeface="Arial"/>
                <a:cs typeface="Arial"/>
              </a:rPr>
              <a:t>Target</a:t>
            </a:r>
            <a:r>
              <a:rPr dirty="0" sz="1300" spc="-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Clinical</a:t>
            </a:r>
            <a:r>
              <a:rPr dirty="0" sz="1300" spc="-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Corpus</a:t>
            </a:r>
            <a:endParaRPr sz="13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1624" y="1661674"/>
            <a:ext cx="3724275" cy="48387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2025</a:t>
            </a:r>
            <a:r>
              <a:rPr dirty="0" sz="1100" spc="-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ESC</a:t>
            </a:r>
            <a:r>
              <a:rPr dirty="0" sz="1100" spc="-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Guidelines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Management of</a:t>
            </a:r>
            <a:r>
              <a:rPr dirty="0" sz="950" spc="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Cardiovascular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 Disease</a:t>
            </a:r>
            <a:r>
              <a:rPr dirty="0" sz="950" spc="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and</a:t>
            </a:r>
            <a:r>
              <a:rPr dirty="0" sz="950" spc="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Mental Health</a:t>
            </a:r>
            <a:r>
              <a:rPr dirty="0" sz="950" spc="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Disorders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19938" y="2516330"/>
            <a:ext cx="662305" cy="59880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1005"/>
              </a:spcBef>
            </a:pPr>
            <a:r>
              <a:rPr dirty="0" sz="1800" spc="-25" b="1">
                <a:solidFill>
                  <a:srgbClr val="57A5FF"/>
                </a:solidFill>
                <a:latin typeface="Arial"/>
                <a:cs typeface="Arial"/>
              </a:rPr>
              <a:t>70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dirty="0" sz="850">
                <a:solidFill>
                  <a:srgbClr val="8A939E"/>
                </a:solidFill>
                <a:latin typeface="Arial MT"/>
                <a:cs typeface="Arial MT"/>
              </a:rPr>
              <a:t>PDF</a:t>
            </a:r>
            <a:r>
              <a:rPr dirty="0" sz="850" spc="100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8A939E"/>
                </a:solidFill>
                <a:latin typeface="Arial MT"/>
                <a:cs typeface="Arial MT"/>
              </a:rPr>
              <a:t>PAGES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87182" y="2516330"/>
            <a:ext cx="1095375" cy="59880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005"/>
              </a:spcBef>
            </a:pPr>
            <a:r>
              <a:rPr dirty="0" sz="1800" spc="-25" b="1">
                <a:solidFill>
                  <a:srgbClr val="57A5FF"/>
                </a:solidFill>
                <a:latin typeface="Arial"/>
                <a:cs typeface="Arial"/>
              </a:rPr>
              <a:t>693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dirty="0" sz="850">
                <a:solidFill>
                  <a:srgbClr val="8A939E"/>
                </a:solidFill>
                <a:latin typeface="Arial MT"/>
                <a:cs typeface="Arial MT"/>
              </a:rPr>
              <a:t>BASELINE</a:t>
            </a:r>
            <a:r>
              <a:rPr dirty="0" sz="850" spc="265">
                <a:solidFill>
                  <a:srgbClr val="8A939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8A939E"/>
                </a:solidFill>
                <a:latin typeface="Arial MT"/>
                <a:cs typeface="Arial MT"/>
              </a:rPr>
              <a:t>CHUNKS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1624" y="3489767"/>
            <a:ext cx="17856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EFF6FB"/>
                </a:solidFill>
                <a:latin typeface="Arial"/>
                <a:cs typeface="Arial"/>
              </a:rPr>
              <a:t>Chunk</a:t>
            </a:r>
            <a:r>
              <a:rPr dirty="0" sz="1100" spc="-35" b="1">
                <a:solidFill>
                  <a:srgbClr val="EFF6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FF6FB"/>
                </a:solidFill>
                <a:latin typeface="Arial"/>
                <a:cs typeface="Arial"/>
              </a:rPr>
              <a:t>Metadata</a:t>
            </a:r>
            <a:r>
              <a:rPr dirty="0" sz="1100" spc="-30" b="1">
                <a:solidFill>
                  <a:srgbClr val="EFF6F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EFF6FB"/>
                </a:solidFill>
                <a:latin typeface="Arial"/>
                <a:cs typeface="Arial"/>
              </a:rPr>
              <a:t>Hierarchy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6399" y="3839145"/>
            <a:ext cx="8699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7EE687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6399" y="3961065"/>
            <a:ext cx="2829560" cy="68580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180"/>
              </a:spcBef>
            </a:pPr>
            <a:r>
              <a:rPr dirty="0" sz="800">
                <a:solidFill>
                  <a:srgbClr val="7EE687"/>
                </a:solidFill>
                <a:latin typeface="Courier New"/>
                <a:cs typeface="Courier New"/>
              </a:rPr>
              <a:t>"document_id":</a:t>
            </a:r>
            <a:r>
              <a:rPr dirty="0" sz="800" spc="22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7EE687"/>
                </a:solidFill>
                <a:latin typeface="Courier New"/>
                <a:cs typeface="Courier New"/>
              </a:rPr>
              <a:t>"ESC-MENTAL-HEALTH-CVD-2025",</a:t>
            </a:r>
            <a:endParaRPr sz="800">
              <a:latin typeface="Courier New"/>
              <a:cs typeface="Courier New"/>
            </a:endParaRPr>
          </a:p>
          <a:p>
            <a:pPr marL="134620" marR="797560">
              <a:lnSpc>
                <a:spcPct val="108300"/>
              </a:lnSpc>
            </a:pPr>
            <a:r>
              <a:rPr dirty="0" sz="800">
                <a:solidFill>
                  <a:srgbClr val="7EE687"/>
                </a:solidFill>
                <a:latin typeface="Courier New"/>
                <a:cs typeface="Courier New"/>
              </a:rPr>
              <a:t>"title":</a:t>
            </a:r>
            <a:r>
              <a:rPr dirty="0" sz="800" spc="-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EE687"/>
                </a:solidFill>
                <a:latin typeface="Courier New"/>
                <a:cs typeface="Courier New"/>
              </a:rPr>
              <a:t>"2025 ESC </a:t>
            </a:r>
            <a:r>
              <a:rPr dirty="0" sz="800" spc="-10">
                <a:solidFill>
                  <a:srgbClr val="7EE687"/>
                </a:solidFill>
                <a:latin typeface="Courier New"/>
                <a:cs typeface="Courier New"/>
              </a:rPr>
              <a:t>Guidelines", </a:t>
            </a:r>
            <a:r>
              <a:rPr dirty="0" sz="800">
                <a:solidFill>
                  <a:srgbClr val="7EE687"/>
                </a:solidFill>
                <a:latin typeface="Courier New"/>
                <a:cs typeface="Courier New"/>
              </a:rPr>
              <a:t>"page_number":</a:t>
            </a:r>
            <a:r>
              <a:rPr dirty="0" sz="800" spc="-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7EE687"/>
                </a:solidFill>
                <a:latin typeface="Courier New"/>
                <a:cs typeface="Courier New"/>
              </a:rPr>
              <a:t>21,</a:t>
            </a:r>
            <a:endParaRPr sz="800">
              <a:latin typeface="Courier New"/>
              <a:cs typeface="Courier New"/>
            </a:endParaRPr>
          </a:p>
          <a:p>
            <a:pPr marL="134620">
              <a:lnSpc>
                <a:spcPct val="100000"/>
              </a:lnSpc>
              <a:spcBef>
                <a:spcPts val="80"/>
              </a:spcBef>
            </a:pPr>
            <a:r>
              <a:rPr dirty="0" sz="800">
                <a:solidFill>
                  <a:srgbClr val="7EE687"/>
                </a:solidFill>
                <a:latin typeface="Courier New"/>
                <a:cs typeface="Courier New"/>
              </a:rPr>
              <a:t>"chunk_id":</a:t>
            </a:r>
            <a:r>
              <a:rPr dirty="0" sz="800" spc="3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7EE687"/>
                </a:solidFill>
                <a:latin typeface="Courier New"/>
                <a:cs typeface="Courier New"/>
              </a:rPr>
              <a:t>"CH-</a:t>
            </a:r>
            <a:r>
              <a:rPr dirty="0" sz="800" spc="-20">
                <a:solidFill>
                  <a:srgbClr val="7EE687"/>
                </a:solidFill>
                <a:latin typeface="Courier New"/>
                <a:cs typeface="Courier New"/>
              </a:rPr>
              <a:t>165"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800" spc="-50">
                <a:solidFill>
                  <a:srgbClr val="7EE687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99975" y="1268636"/>
            <a:ext cx="23564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Clinical</a:t>
            </a:r>
            <a:r>
              <a:rPr dirty="0" sz="1300" spc="-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Scope</a:t>
            </a:r>
            <a:r>
              <a:rPr dirty="0" sz="1300" spc="-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&amp;</a:t>
            </a:r>
            <a:r>
              <a:rPr dirty="0" sz="1300" spc="-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Focus</a:t>
            </a:r>
            <a:r>
              <a:rPr dirty="0" sz="1300" spc="-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57A5FF"/>
                </a:solidFill>
                <a:latin typeface="Arial"/>
                <a:cs typeface="Arial"/>
              </a:rPr>
              <a:t>Areas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55539" y="3564465"/>
            <a:ext cx="1898014" cy="180340"/>
          </a:xfrm>
          <a:custGeom>
            <a:avLst/>
            <a:gdLst/>
            <a:ahLst/>
            <a:cxnLst/>
            <a:rect l="l" t="t" r="r" b="b"/>
            <a:pathLst>
              <a:path w="1898015" h="180339">
                <a:moveTo>
                  <a:pt x="446392" y="90170"/>
                </a:moveTo>
                <a:lnTo>
                  <a:pt x="439267" y="55156"/>
                </a:lnTo>
                <a:lnTo>
                  <a:pt x="419900" y="26479"/>
                </a:lnTo>
                <a:lnTo>
                  <a:pt x="391223" y="7112"/>
                </a:lnTo>
                <a:lnTo>
                  <a:pt x="356222" y="0"/>
                </a:lnTo>
                <a:lnTo>
                  <a:pt x="90170" y="0"/>
                </a:lnTo>
                <a:lnTo>
                  <a:pt x="55168" y="7112"/>
                </a:lnTo>
                <a:lnTo>
                  <a:pt x="26492" y="26479"/>
                </a:lnTo>
                <a:lnTo>
                  <a:pt x="7124" y="55156"/>
                </a:lnTo>
                <a:lnTo>
                  <a:pt x="0" y="90170"/>
                </a:lnTo>
                <a:lnTo>
                  <a:pt x="7124" y="125171"/>
                </a:lnTo>
                <a:lnTo>
                  <a:pt x="26492" y="153847"/>
                </a:lnTo>
                <a:lnTo>
                  <a:pt x="55168" y="173215"/>
                </a:lnTo>
                <a:lnTo>
                  <a:pt x="90170" y="180340"/>
                </a:lnTo>
                <a:lnTo>
                  <a:pt x="356222" y="180340"/>
                </a:lnTo>
                <a:lnTo>
                  <a:pt x="391223" y="173215"/>
                </a:lnTo>
                <a:lnTo>
                  <a:pt x="419900" y="153847"/>
                </a:lnTo>
                <a:lnTo>
                  <a:pt x="439267" y="125171"/>
                </a:lnTo>
                <a:lnTo>
                  <a:pt x="446392" y="90170"/>
                </a:lnTo>
                <a:close/>
              </a:path>
              <a:path w="1898015" h="180339">
                <a:moveTo>
                  <a:pt x="926312" y="90170"/>
                </a:moveTo>
                <a:lnTo>
                  <a:pt x="919200" y="55156"/>
                </a:lnTo>
                <a:lnTo>
                  <a:pt x="899820" y="26479"/>
                </a:lnTo>
                <a:lnTo>
                  <a:pt x="871156" y="7112"/>
                </a:lnTo>
                <a:lnTo>
                  <a:pt x="836142" y="0"/>
                </a:lnTo>
                <a:lnTo>
                  <a:pt x="570103" y="0"/>
                </a:lnTo>
                <a:lnTo>
                  <a:pt x="535089" y="7112"/>
                </a:lnTo>
                <a:lnTo>
                  <a:pt x="506412" y="26479"/>
                </a:lnTo>
                <a:lnTo>
                  <a:pt x="487045" y="55156"/>
                </a:lnTo>
                <a:lnTo>
                  <a:pt x="479933" y="90170"/>
                </a:lnTo>
                <a:lnTo>
                  <a:pt x="487045" y="125171"/>
                </a:lnTo>
                <a:lnTo>
                  <a:pt x="506412" y="153847"/>
                </a:lnTo>
                <a:lnTo>
                  <a:pt x="535089" y="173215"/>
                </a:lnTo>
                <a:lnTo>
                  <a:pt x="570103" y="180340"/>
                </a:lnTo>
                <a:lnTo>
                  <a:pt x="836142" y="180340"/>
                </a:lnTo>
                <a:lnTo>
                  <a:pt x="871156" y="173215"/>
                </a:lnTo>
                <a:lnTo>
                  <a:pt x="899820" y="153847"/>
                </a:lnTo>
                <a:lnTo>
                  <a:pt x="919200" y="125171"/>
                </a:lnTo>
                <a:lnTo>
                  <a:pt x="926312" y="90170"/>
                </a:lnTo>
                <a:close/>
              </a:path>
              <a:path w="1898015" h="180339">
                <a:moveTo>
                  <a:pt x="1411922" y="90170"/>
                </a:moveTo>
                <a:lnTo>
                  <a:pt x="1404797" y="55156"/>
                </a:lnTo>
                <a:lnTo>
                  <a:pt x="1385430" y="26479"/>
                </a:lnTo>
                <a:lnTo>
                  <a:pt x="1356766" y="7112"/>
                </a:lnTo>
                <a:lnTo>
                  <a:pt x="1321752" y="0"/>
                </a:lnTo>
                <a:lnTo>
                  <a:pt x="1050023" y="0"/>
                </a:lnTo>
                <a:lnTo>
                  <a:pt x="1015009" y="7112"/>
                </a:lnTo>
                <a:lnTo>
                  <a:pt x="986345" y="26479"/>
                </a:lnTo>
                <a:lnTo>
                  <a:pt x="966965" y="55156"/>
                </a:lnTo>
                <a:lnTo>
                  <a:pt x="959853" y="90170"/>
                </a:lnTo>
                <a:lnTo>
                  <a:pt x="966965" y="125171"/>
                </a:lnTo>
                <a:lnTo>
                  <a:pt x="986345" y="153847"/>
                </a:lnTo>
                <a:lnTo>
                  <a:pt x="1015009" y="173215"/>
                </a:lnTo>
                <a:lnTo>
                  <a:pt x="1050023" y="180340"/>
                </a:lnTo>
                <a:lnTo>
                  <a:pt x="1321752" y="180340"/>
                </a:lnTo>
                <a:lnTo>
                  <a:pt x="1356766" y="173215"/>
                </a:lnTo>
                <a:lnTo>
                  <a:pt x="1385430" y="153847"/>
                </a:lnTo>
                <a:lnTo>
                  <a:pt x="1404797" y="125171"/>
                </a:lnTo>
                <a:lnTo>
                  <a:pt x="1411922" y="90170"/>
                </a:lnTo>
                <a:close/>
              </a:path>
              <a:path w="1898015" h="180339">
                <a:moveTo>
                  <a:pt x="1897532" y="90170"/>
                </a:moveTo>
                <a:lnTo>
                  <a:pt x="1890407" y="55156"/>
                </a:lnTo>
                <a:lnTo>
                  <a:pt x="1871040" y="26479"/>
                </a:lnTo>
                <a:lnTo>
                  <a:pt x="1842363" y="7112"/>
                </a:lnTo>
                <a:lnTo>
                  <a:pt x="1807362" y="0"/>
                </a:lnTo>
                <a:lnTo>
                  <a:pt x="1535633" y="0"/>
                </a:lnTo>
                <a:lnTo>
                  <a:pt x="1500619" y="7112"/>
                </a:lnTo>
                <a:lnTo>
                  <a:pt x="1471942" y="26479"/>
                </a:lnTo>
                <a:lnTo>
                  <a:pt x="1452575" y="55156"/>
                </a:lnTo>
                <a:lnTo>
                  <a:pt x="1445463" y="90170"/>
                </a:lnTo>
                <a:lnTo>
                  <a:pt x="1452575" y="125171"/>
                </a:lnTo>
                <a:lnTo>
                  <a:pt x="1471942" y="153847"/>
                </a:lnTo>
                <a:lnTo>
                  <a:pt x="1500619" y="173215"/>
                </a:lnTo>
                <a:lnTo>
                  <a:pt x="1535633" y="180340"/>
                </a:lnTo>
                <a:lnTo>
                  <a:pt x="1807362" y="180340"/>
                </a:lnTo>
                <a:lnTo>
                  <a:pt x="1842363" y="173215"/>
                </a:lnTo>
                <a:lnTo>
                  <a:pt x="1871040" y="153847"/>
                </a:lnTo>
                <a:lnTo>
                  <a:pt x="1890407" y="125171"/>
                </a:lnTo>
                <a:lnTo>
                  <a:pt x="1897532" y="90170"/>
                </a:lnTo>
                <a:close/>
              </a:path>
            </a:pathLst>
          </a:custGeom>
          <a:solidFill>
            <a:srgbClr val="1F6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542850" y="3308158"/>
            <a:ext cx="200469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79BFFF"/>
                </a:solidFill>
                <a:latin typeface="Arial"/>
                <a:cs typeface="Arial"/>
              </a:rPr>
              <a:t>Key</a:t>
            </a:r>
            <a:r>
              <a:rPr dirty="0" sz="1100" spc="-45" b="1">
                <a:solidFill>
                  <a:srgbClr val="79B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9BFFF"/>
                </a:solidFill>
                <a:latin typeface="Arial"/>
                <a:cs typeface="Arial"/>
              </a:rPr>
              <a:t>Screening</a:t>
            </a:r>
            <a:r>
              <a:rPr dirty="0" sz="1100" spc="-45" b="1">
                <a:solidFill>
                  <a:srgbClr val="79BFFF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79BFFF"/>
                </a:solidFill>
                <a:latin typeface="Arial"/>
                <a:cs typeface="Arial"/>
              </a:rPr>
              <a:t>Tools</a:t>
            </a:r>
            <a:r>
              <a:rPr dirty="0" sz="1100" spc="-45" b="1">
                <a:solidFill>
                  <a:srgbClr val="79B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79BFFF"/>
                </a:solidFill>
                <a:latin typeface="Arial"/>
                <a:cs typeface="Arial"/>
              </a:rPr>
              <a:t>Included</a:t>
            </a:r>
            <a:endParaRPr sz="1100">
              <a:latin typeface="Arial"/>
              <a:cs typeface="Arial"/>
            </a:endParaRPr>
          </a:p>
          <a:p>
            <a:pPr marL="79375">
              <a:lnSpc>
                <a:spcPct val="100000"/>
              </a:lnSpc>
              <a:spcBef>
                <a:spcPts val="690"/>
              </a:spcBef>
              <a:tabLst>
                <a:tab pos="558800" algn="l"/>
                <a:tab pos="1038860" algn="l"/>
                <a:tab pos="1524635" algn="l"/>
              </a:tabLst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PHQ-</a:t>
            </a: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	PHQ-</a:t>
            </a: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	GAD-</a:t>
            </a: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	GAD-</a:t>
            </a: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86613" y="3564454"/>
            <a:ext cx="1081405" cy="180340"/>
          </a:xfrm>
          <a:custGeom>
            <a:avLst/>
            <a:gdLst/>
            <a:ahLst/>
            <a:cxnLst/>
            <a:rect l="l" t="t" r="r" b="b"/>
            <a:pathLst>
              <a:path w="1081404" h="180339">
                <a:moveTo>
                  <a:pt x="991233" y="180340"/>
                </a:moveTo>
                <a:lnTo>
                  <a:pt x="90169" y="180340"/>
                </a:lnTo>
                <a:lnTo>
                  <a:pt x="55158" y="173225"/>
                </a:lnTo>
                <a:lnTo>
                  <a:pt x="26487" y="153852"/>
                </a:lnTo>
                <a:lnTo>
                  <a:pt x="7114" y="125181"/>
                </a:lnTo>
                <a:lnTo>
                  <a:pt x="0" y="90170"/>
                </a:lnTo>
                <a:lnTo>
                  <a:pt x="7114" y="55158"/>
                </a:lnTo>
                <a:lnTo>
                  <a:pt x="26487" y="26487"/>
                </a:lnTo>
                <a:lnTo>
                  <a:pt x="55158" y="7114"/>
                </a:lnTo>
                <a:lnTo>
                  <a:pt x="90169" y="0"/>
                </a:lnTo>
                <a:lnTo>
                  <a:pt x="991233" y="0"/>
                </a:lnTo>
                <a:lnTo>
                  <a:pt x="1026245" y="7114"/>
                </a:lnTo>
                <a:lnTo>
                  <a:pt x="1054916" y="26487"/>
                </a:lnTo>
                <a:lnTo>
                  <a:pt x="1074288" y="55158"/>
                </a:lnTo>
                <a:lnTo>
                  <a:pt x="1081403" y="90170"/>
                </a:lnTo>
                <a:lnTo>
                  <a:pt x="1074288" y="125181"/>
                </a:lnTo>
                <a:lnTo>
                  <a:pt x="1054916" y="153852"/>
                </a:lnTo>
                <a:lnTo>
                  <a:pt x="1026245" y="173225"/>
                </a:lnTo>
                <a:lnTo>
                  <a:pt x="991233" y="180340"/>
                </a:lnTo>
                <a:close/>
              </a:path>
            </a:pathLst>
          </a:custGeom>
          <a:solidFill>
            <a:srgbClr val="1F6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540588" y="3563592"/>
            <a:ext cx="9734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Whooley</a:t>
            </a:r>
            <a:r>
              <a:rPr dirty="0" sz="8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42850" y="4120395"/>
            <a:ext cx="4071620" cy="65278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100" b="1">
                <a:solidFill>
                  <a:srgbClr val="79BFFF"/>
                </a:solidFill>
                <a:latin typeface="Arial"/>
                <a:cs typeface="Arial"/>
              </a:rPr>
              <a:t>Intervention</a:t>
            </a:r>
            <a:r>
              <a:rPr dirty="0" sz="1100" spc="-20" b="1">
                <a:solidFill>
                  <a:srgbClr val="79B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79BFFF"/>
                </a:solidFill>
                <a:latin typeface="Arial"/>
                <a:cs typeface="Arial"/>
              </a:rPr>
              <a:t>Frameworks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340"/>
              </a:spcBef>
            </a:pP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Psychological,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Lifestyle,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Cardiac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Rehabilitation,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and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Pharmacological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 Safety Considerations.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87625" y="1121609"/>
            <a:ext cx="9516745" cy="19050"/>
          </a:xfrm>
          <a:custGeom>
            <a:avLst/>
            <a:gdLst/>
            <a:ahLst/>
            <a:cxnLst/>
            <a:rect l="l" t="t" r="r" b="b"/>
            <a:pathLst>
              <a:path w="9516745" h="19050">
                <a:moveTo>
                  <a:pt x="9516750" y="19050"/>
                </a:moveTo>
                <a:lnTo>
                  <a:pt x="0" y="19050"/>
                </a:lnTo>
                <a:lnTo>
                  <a:pt x="0" y="0"/>
                </a:lnTo>
                <a:lnTo>
                  <a:pt x="9516750" y="0"/>
                </a:lnTo>
                <a:lnTo>
                  <a:pt x="9516750" y="19050"/>
                </a:lnTo>
                <a:close/>
              </a:path>
            </a:pathLst>
          </a:custGeom>
          <a:solidFill>
            <a:srgbClr val="2F3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74924" y="506434"/>
            <a:ext cx="20593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S</a:t>
            </a:r>
            <a:r>
              <a:rPr dirty="0" sz="900" spc="-1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L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70" b="1">
                <a:solidFill>
                  <a:srgbClr val="57A5FF"/>
                </a:solidFill>
                <a:latin typeface="Arial"/>
                <a:cs typeface="Arial"/>
              </a:rPr>
              <a:t>IDE</a:t>
            </a:r>
            <a:r>
              <a:rPr dirty="0" sz="900" spc="24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3</a:t>
            </a:r>
            <a:r>
              <a:rPr dirty="0" sz="900" spc="2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—</a:t>
            </a:r>
            <a:r>
              <a:rPr dirty="0" sz="900" spc="2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KN</a:t>
            </a:r>
            <a:r>
              <a:rPr dirty="0" sz="900" spc="-1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60" b="1">
                <a:solidFill>
                  <a:srgbClr val="57A5FF"/>
                </a:solidFill>
                <a:latin typeface="Arial"/>
                <a:cs typeface="Arial"/>
              </a:rPr>
              <a:t>OWL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50" b="1">
                <a:solidFill>
                  <a:srgbClr val="57A5FF"/>
                </a:solidFill>
                <a:latin typeface="Arial"/>
                <a:cs typeface="Arial"/>
              </a:rPr>
              <a:t>ED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55" b="1">
                <a:solidFill>
                  <a:srgbClr val="57A5FF"/>
                </a:solidFill>
                <a:latin typeface="Arial"/>
                <a:cs typeface="Arial"/>
              </a:rPr>
              <a:t>GE</a:t>
            </a:r>
            <a:r>
              <a:rPr dirty="0" sz="900" spc="2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45" b="1">
                <a:solidFill>
                  <a:srgbClr val="57A5FF"/>
                </a:solidFill>
                <a:latin typeface="Arial"/>
                <a:cs typeface="Arial"/>
              </a:rPr>
              <a:t>BASE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Corpus</a:t>
            </a:r>
            <a:r>
              <a:rPr dirty="0" spc="-1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/>
              <a:t>Document</a:t>
            </a:r>
            <a:r>
              <a:rPr dirty="0" spc="-15"/>
              <a:t> </a:t>
            </a:r>
            <a:r>
              <a:rPr dirty="0" spc="-10"/>
              <a:t>Intelligence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5542850" y="1711768"/>
            <a:ext cx="2720340" cy="111760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100" b="1">
                <a:solidFill>
                  <a:srgbClr val="79BFFF"/>
                </a:solidFill>
                <a:latin typeface="Arial"/>
                <a:cs typeface="Arial"/>
              </a:rPr>
              <a:t>Disorders</a:t>
            </a:r>
            <a:r>
              <a:rPr dirty="0" sz="1100" spc="-55" b="1">
                <a:solidFill>
                  <a:srgbClr val="79B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79BFFF"/>
                </a:solidFill>
                <a:latin typeface="Arial"/>
                <a:cs typeface="Arial"/>
              </a:rPr>
              <a:t>Covered</a:t>
            </a:r>
            <a:endParaRPr sz="1100">
              <a:latin typeface="Arial"/>
              <a:cs typeface="Arial"/>
            </a:endParaRPr>
          </a:p>
          <a:p>
            <a:pPr marL="182880" indent="-86995">
              <a:lnSpc>
                <a:spcPct val="100000"/>
              </a:lnSpc>
              <a:spcBef>
                <a:spcPts val="219"/>
              </a:spcBef>
              <a:buChar char="•"/>
              <a:tabLst>
                <a:tab pos="182880" algn="l"/>
              </a:tabLst>
            </a:pP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Depression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&amp;</a:t>
            </a:r>
            <a:r>
              <a:rPr dirty="0" sz="11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Major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Depressive</a:t>
            </a:r>
            <a:r>
              <a:rPr dirty="0" sz="11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Disorder</a:t>
            </a:r>
            <a:endParaRPr sz="1100">
              <a:latin typeface="Arial MT"/>
              <a:cs typeface="Arial MT"/>
            </a:endParaRPr>
          </a:p>
          <a:p>
            <a:pPr marL="182880" indent="-86995">
              <a:lnSpc>
                <a:spcPct val="100000"/>
              </a:lnSpc>
              <a:spcBef>
                <a:spcPts val="520"/>
              </a:spcBef>
              <a:buChar char="•"/>
              <a:tabLst>
                <a:tab pos="182880" algn="l"/>
              </a:tabLst>
            </a:pP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Generalized</a:t>
            </a:r>
            <a:r>
              <a:rPr dirty="0" sz="11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Anxiety</a:t>
            </a:r>
            <a:r>
              <a:rPr dirty="0" sz="11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&amp;</a:t>
            </a:r>
            <a:r>
              <a:rPr dirty="0" sz="11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Panic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 Disorders</a:t>
            </a:r>
            <a:endParaRPr sz="1100">
              <a:latin typeface="Arial MT"/>
              <a:cs typeface="Arial MT"/>
            </a:endParaRPr>
          </a:p>
          <a:p>
            <a:pPr marL="182880" indent="-86995">
              <a:lnSpc>
                <a:spcPct val="100000"/>
              </a:lnSpc>
              <a:spcBef>
                <a:spcPts val="520"/>
              </a:spcBef>
              <a:buChar char="•"/>
              <a:tabLst>
                <a:tab pos="182880" algn="l"/>
              </a:tabLst>
            </a:pPr>
            <a:r>
              <a:rPr dirty="0" sz="1100" spc="-40">
                <a:solidFill>
                  <a:srgbClr val="C8D1D8"/>
                </a:solidFill>
                <a:latin typeface="Arial MT"/>
                <a:cs typeface="Arial MT"/>
              </a:rPr>
              <a:t>Post-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Traumatic</a:t>
            </a:r>
            <a:r>
              <a:rPr dirty="0" sz="1100" spc="-3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Stress</a:t>
            </a:r>
            <a:r>
              <a:rPr dirty="0" sz="11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Disorder</a:t>
            </a:r>
            <a:r>
              <a:rPr dirty="0" sz="11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(PTSD)</a:t>
            </a:r>
            <a:endParaRPr sz="1100">
              <a:latin typeface="Arial MT"/>
              <a:cs typeface="Arial MT"/>
            </a:endParaRPr>
          </a:p>
          <a:p>
            <a:pPr marL="182880" indent="-86995">
              <a:lnSpc>
                <a:spcPct val="100000"/>
              </a:lnSpc>
              <a:spcBef>
                <a:spcPts val="520"/>
              </a:spcBef>
              <a:buChar char="•"/>
              <a:tabLst>
                <a:tab pos="182880" algn="l"/>
              </a:tabLst>
            </a:pP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General</a:t>
            </a:r>
            <a:r>
              <a:rPr dirty="0" sz="11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Psychological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Distress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in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C8D1D8"/>
                </a:solidFill>
                <a:latin typeface="Arial MT"/>
                <a:cs typeface="Arial MT"/>
              </a:rPr>
              <a:t>CVD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40000" y="6703084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2126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7625" y="1283534"/>
            <a:ext cx="9516745" cy="3313429"/>
            <a:chOff x="587625" y="1283534"/>
            <a:chExt cx="9516745" cy="3313429"/>
          </a:xfrm>
        </p:grpSpPr>
        <p:sp>
          <p:nvSpPr>
            <p:cNvPr id="3" name="object 3"/>
            <p:cNvSpPr/>
            <p:nvPr/>
          </p:nvSpPr>
          <p:spPr>
            <a:xfrm>
              <a:off x="587625" y="1283534"/>
              <a:ext cx="9516745" cy="3313429"/>
            </a:xfrm>
            <a:custGeom>
              <a:avLst/>
              <a:gdLst/>
              <a:ahLst/>
              <a:cxnLst/>
              <a:rect l="l" t="t" r="r" b="b"/>
              <a:pathLst>
                <a:path w="9516745" h="3313429">
                  <a:moveTo>
                    <a:pt x="9459600" y="3313112"/>
                  </a:moveTo>
                  <a:lnTo>
                    <a:pt x="57150" y="3313112"/>
                  </a:lnTo>
                  <a:lnTo>
                    <a:pt x="34959" y="3308603"/>
                  </a:lnTo>
                  <a:lnTo>
                    <a:pt x="16787" y="3296324"/>
                  </a:lnTo>
                  <a:lnTo>
                    <a:pt x="4509" y="3278152"/>
                  </a:lnTo>
                  <a:lnTo>
                    <a:pt x="0" y="3255962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9459600" y="0"/>
                  </a:lnTo>
                  <a:lnTo>
                    <a:pt x="9481790" y="4509"/>
                  </a:lnTo>
                  <a:lnTo>
                    <a:pt x="9499962" y="16787"/>
                  </a:lnTo>
                  <a:lnTo>
                    <a:pt x="9512240" y="34959"/>
                  </a:lnTo>
                  <a:lnTo>
                    <a:pt x="9516750" y="57150"/>
                  </a:lnTo>
                  <a:lnTo>
                    <a:pt x="9516750" y="3255962"/>
                  </a:lnTo>
                  <a:lnTo>
                    <a:pt x="9512240" y="3278152"/>
                  </a:lnTo>
                  <a:lnTo>
                    <a:pt x="9499962" y="3296324"/>
                  </a:lnTo>
                  <a:lnTo>
                    <a:pt x="9481790" y="3308603"/>
                  </a:lnTo>
                  <a:lnTo>
                    <a:pt x="9459600" y="3313112"/>
                  </a:lnTo>
                  <a:close/>
                </a:path>
              </a:pathLst>
            </a:custGeom>
            <a:solidFill>
              <a:srgbClr val="0103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87625" y="1283534"/>
              <a:ext cx="9516745" cy="3313429"/>
            </a:xfrm>
            <a:custGeom>
              <a:avLst/>
              <a:gdLst/>
              <a:ahLst/>
              <a:cxnLst/>
              <a:rect l="l" t="t" r="r" b="b"/>
              <a:pathLst>
                <a:path w="9516745" h="3313429">
                  <a:moveTo>
                    <a:pt x="9459600" y="3313112"/>
                  </a:moveTo>
                  <a:lnTo>
                    <a:pt x="57150" y="3313112"/>
                  </a:lnTo>
                  <a:lnTo>
                    <a:pt x="34959" y="3308603"/>
                  </a:lnTo>
                  <a:lnTo>
                    <a:pt x="16787" y="3296324"/>
                  </a:lnTo>
                  <a:lnTo>
                    <a:pt x="4509" y="3278152"/>
                  </a:lnTo>
                  <a:lnTo>
                    <a:pt x="0" y="3255962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9459600" y="0"/>
                  </a:lnTo>
                  <a:lnTo>
                    <a:pt x="9481790" y="4509"/>
                  </a:lnTo>
                  <a:lnTo>
                    <a:pt x="9489213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3255962"/>
                  </a:lnTo>
                  <a:lnTo>
                    <a:pt x="13282" y="3274454"/>
                  </a:lnTo>
                  <a:lnTo>
                    <a:pt x="23514" y="3289597"/>
                  </a:lnTo>
                  <a:lnTo>
                    <a:pt x="38658" y="3299829"/>
                  </a:lnTo>
                  <a:lnTo>
                    <a:pt x="57150" y="3303587"/>
                  </a:lnTo>
                  <a:lnTo>
                    <a:pt x="9489213" y="3303587"/>
                  </a:lnTo>
                  <a:lnTo>
                    <a:pt x="9481790" y="3308603"/>
                  </a:lnTo>
                  <a:lnTo>
                    <a:pt x="9459600" y="3313112"/>
                  </a:lnTo>
                  <a:close/>
                </a:path>
                <a:path w="9516745" h="3313429">
                  <a:moveTo>
                    <a:pt x="9489213" y="3303587"/>
                  </a:moveTo>
                  <a:lnTo>
                    <a:pt x="9459600" y="3303587"/>
                  </a:lnTo>
                  <a:lnTo>
                    <a:pt x="9478092" y="3299829"/>
                  </a:lnTo>
                  <a:lnTo>
                    <a:pt x="9493235" y="3289597"/>
                  </a:lnTo>
                  <a:lnTo>
                    <a:pt x="9503467" y="3274454"/>
                  </a:lnTo>
                  <a:lnTo>
                    <a:pt x="9507225" y="3255962"/>
                  </a:lnTo>
                  <a:lnTo>
                    <a:pt x="9507225" y="57150"/>
                  </a:lnTo>
                  <a:lnTo>
                    <a:pt x="9503467" y="38658"/>
                  </a:lnTo>
                  <a:lnTo>
                    <a:pt x="9493235" y="23514"/>
                  </a:lnTo>
                  <a:lnTo>
                    <a:pt x="9478092" y="13282"/>
                  </a:lnTo>
                  <a:lnTo>
                    <a:pt x="9459600" y="9525"/>
                  </a:lnTo>
                  <a:lnTo>
                    <a:pt x="9489213" y="9525"/>
                  </a:lnTo>
                  <a:lnTo>
                    <a:pt x="9499962" y="16787"/>
                  </a:lnTo>
                  <a:lnTo>
                    <a:pt x="9512240" y="34959"/>
                  </a:lnTo>
                  <a:lnTo>
                    <a:pt x="9516750" y="57150"/>
                  </a:lnTo>
                  <a:lnTo>
                    <a:pt x="9516750" y="3255962"/>
                  </a:lnTo>
                  <a:lnTo>
                    <a:pt x="9512240" y="3278152"/>
                  </a:lnTo>
                  <a:lnTo>
                    <a:pt x="9499962" y="3296324"/>
                  </a:lnTo>
                  <a:lnTo>
                    <a:pt x="9489213" y="3303587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692400" y="4796671"/>
            <a:ext cx="3026410" cy="676910"/>
            <a:chOff x="692400" y="4796671"/>
            <a:chExt cx="3026410" cy="676910"/>
          </a:xfrm>
        </p:grpSpPr>
        <p:sp>
          <p:nvSpPr>
            <p:cNvPr id="6" name="object 6"/>
            <p:cNvSpPr/>
            <p:nvPr/>
          </p:nvSpPr>
          <p:spPr>
            <a:xfrm>
              <a:off x="692400" y="4796671"/>
              <a:ext cx="3026410" cy="676910"/>
            </a:xfrm>
            <a:custGeom>
              <a:avLst/>
              <a:gdLst/>
              <a:ahLst/>
              <a:cxnLst/>
              <a:rect l="l" t="t" r="r" b="b"/>
              <a:pathLst>
                <a:path w="3026410" h="676910">
                  <a:moveTo>
                    <a:pt x="2950000" y="676910"/>
                  </a:moveTo>
                  <a:lnTo>
                    <a:pt x="76200" y="676910"/>
                  </a:lnTo>
                  <a:lnTo>
                    <a:pt x="46612" y="670897"/>
                  </a:lnTo>
                  <a:lnTo>
                    <a:pt x="22383" y="654526"/>
                  </a:lnTo>
                  <a:lnTo>
                    <a:pt x="6012" y="630297"/>
                  </a:lnTo>
                  <a:lnTo>
                    <a:pt x="0" y="60071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600710"/>
                  </a:lnTo>
                  <a:lnTo>
                    <a:pt x="3020187" y="630297"/>
                  </a:lnTo>
                  <a:lnTo>
                    <a:pt x="3003816" y="654526"/>
                  </a:lnTo>
                  <a:lnTo>
                    <a:pt x="2979587" y="670897"/>
                  </a:lnTo>
                  <a:lnTo>
                    <a:pt x="2950000" y="67691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92400" y="4796672"/>
              <a:ext cx="3026410" cy="676910"/>
            </a:xfrm>
            <a:custGeom>
              <a:avLst/>
              <a:gdLst/>
              <a:ahLst/>
              <a:cxnLst/>
              <a:rect l="l" t="t" r="r" b="b"/>
              <a:pathLst>
                <a:path w="3026410" h="676910">
                  <a:moveTo>
                    <a:pt x="2950000" y="676910"/>
                  </a:moveTo>
                  <a:lnTo>
                    <a:pt x="76200" y="676910"/>
                  </a:lnTo>
                  <a:lnTo>
                    <a:pt x="46612" y="670897"/>
                  </a:lnTo>
                  <a:lnTo>
                    <a:pt x="22383" y="654526"/>
                  </a:lnTo>
                  <a:lnTo>
                    <a:pt x="6012" y="630297"/>
                  </a:lnTo>
                  <a:lnTo>
                    <a:pt x="0" y="60071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29847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600710"/>
                  </a:lnTo>
                  <a:lnTo>
                    <a:pt x="14786" y="626598"/>
                  </a:lnTo>
                  <a:lnTo>
                    <a:pt x="29110" y="647799"/>
                  </a:lnTo>
                  <a:lnTo>
                    <a:pt x="50311" y="662123"/>
                  </a:lnTo>
                  <a:lnTo>
                    <a:pt x="76200" y="667385"/>
                  </a:lnTo>
                  <a:lnTo>
                    <a:pt x="2984785" y="667385"/>
                  </a:lnTo>
                  <a:lnTo>
                    <a:pt x="2979587" y="670897"/>
                  </a:lnTo>
                  <a:lnTo>
                    <a:pt x="2950000" y="676910"/>
                  </a:lnTo>
                  <a:close/>
                </a:path>
                <a:path w="3026410" h="676910">
                  <a:moveTo>
                    <a:pt x="2984785" y="667385"/>
                  </a:moveTo>
                  <a:lnTo>
                    <a:pt x="2950000" y="667385"/>
                  </a:lnTo>
                  <a:lnTo>
                    <a:pt x="2975888" y="662123"/>
                  </a:lnTo>
                  <a:lnTo>
                    <a:pt x="2997089" y="647799"/>
                  </a:lnTo>
                  <a:lnTo>
                    <a:pt x="3011414" y="626598"/>
                  </a:lnTo>
                  <a:lnTo>
                    <a:pt x="3016675" y="600710"/>
                  </a:lnTo>
                  <a:lnTo>
                    <a:pt x="3016675" y="76200"/>
                  </a:lnTo>
                  <a:lnTo>
                    <a:pt x="3011414" y="50311"/>
                  </a:lnTo>
                  <a:lnTo>
                    <a:pt x="2997089" y="29110"/>
                  </a:lnTo>
                  <a:lnTo>
                    <a:pt x="2975888" y="14786"/>
                  </a:lnTo>
                  <a:lnTo>
                    <a:pt x="2950000" y="9525"/>
                  </a:lnTo>
                  <a:lnTo>
                    <a:pt x="2984785" y="9525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600710"/>
                  </a:lnTo>
                  <a:lnTo>
                    <a:pt x="3020187" y="630297"/>
                  </a:lnTo>
                  <a:lnTo>
                    <a:pt x="3003816" y="654526"/>
                  </a:lnTo>
                  <a:lnTo>
                    <a:pt x="2984785" y="66738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832900" y="4796671"/>
            <a:ext cx="3026410" cy="676910"/>
            <a:chOff x="3832900" y="4796671"/>
            <a:chExt cx="3026410" cy="676910"/>
          </a:xfrm>
        </p:grpSpPr>
        <p:sp>
          <p:nvSpPr>
            <p:cNvPr id="9" name="object 9"/>
            <p:cNvSpPr/>
            <p:nvPr/>
          </p:nvSpPr>
          <p:spPr>
            <a:xfrm>
              <a:off x="3832900" y="4796671"/>
              <a:ext cx="3026410" cy="676910"/>
            </a:xfrm>
            <a:custGeom>
              <a:avLst/>
              <a:gdLst/>
              <a:ahLst/>
              <a:cxnLst/>
              <a:rect l="l" t="t" r="r" b="b"/>
              <a:pathLst>
                <a:path w="3026409" h="676910">
                  <a:moveTo>
                    <a:pt x="2950000" y="676910"/>
                  </a:moveTo>
                  <a:lnTo>
                    <a:pt x="76200" y="676910"/>
                  </a:lnTo>
                  <a:lnTo>
                    <a:pt x="46612" y="670897"/>
                  </a:lnTo>
                  <a:lnTo>
                    <a:pt x="22383" y="654526"/>
                  </a:lnTo>
                  <a:lnTo>
                    <a:pt x="6012" y="630297"/>
                  </a:lnTo>
                  <a:lnTo>
                    <a:pt x="0" y="60071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600710"/>
                  </a:lnTo>
                  <a:lnTo>
                    <a:pt x="3020187" y="630297"/>
                  </a:lnTo>
                  <a:lnTo>
                    <a:pt x="3003816" y="654526"/>
                  </a:lnTo>
                  <a:lnTo>
                    <a:pt x="2979587" y="670897"/>
                  </a:lnTo>
                  <a:lnTo>
                    <a:pt x="2950000" y="67691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32900" y="4796672"/>
              <a:ext cx="3026410" cy="676910"/>
            </a:xfrm>
            <a:custGeom>
              <a:avLst/>
              <a:gdLst/>
              <a:ahLst/>
              <a:cxnLst/>
              <a:rect l="l" t="t" r="r" b="b"/>
              <a:pathLst>
                <a:path w="3026409" h="676910">
                  <a:moveTo>
                    <a:pt x="2950000" y="676910"/>
                  </a:moveTo>
                  <a:lnTo>
                    <a:pt x="76200" y="676910"/>
                  </a:lnTo>
                  <a:lnTo>
                    <a:pt x="46612" y="670897"/>
                  </a:lnTo>
                  <a:lnTo>
                    <a:pt x="22383" y="654526"/>
                  </a:lnTo>
                  <a:lnTo>
                    <a:pt x="6012" y="630297"/>
                  </a:lnTo>
                  <a:lnTo>
                    <a:pt x="0" y="60071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29847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600710"/>
                  </a:lnTo>
                  <a:lnTo>
                    <a:pt x="14786" y="626598"/>
                  </a:lnTo>
                  <a:lnTo>
                    <a:pt x="29110" y="647799"/>
                  </a:lnTo>
                  <a:lnTo>
                    <a:pt x="50311" y="662123"/>
                  </a:lnTo>
                  <a:lnTo>
                    <a:pt x="76200" y="667385"/>
                  </a:lnTo>
                  <a:lnTo>
                    <a:pt x="2984785" y="667385"/>
                  </a:lnTo>
                  <a:lnTo>
                    <a:pt x="2979587" y="670897"/>
                  </a:lnTo>
                  <a:lnTo>
                    <a:pt x="2950000" y="676910"/>
                  </a:lnTo>
                  <a:close/>
                </a:path>
                <a:path w="3026409" h="676910">
                  <a:moveTo>
                    <a:pt x="2984785" y="667385"/>
                  </a:moveTo>
                  <a:lnTo>
                    <a:pt x="2950000" y="667385"/>
                  </a:lnTo>
                  <a:lnTo>
                    <a:pt x="2975888" y="662123"/>
                  </a:lnTo>
                  <a:lnTo>
                    <a:pt x="2997089" y="647799"/>
                  </a:lnTo>
                  <a:lnTo>
                    <a:pt x="3011414" y="626598"/>
                  </a:lnTo>
                  <a:lnTo>
                    <a:pt x="3016675" y="600710"/>
                  </a:lnTo>
                  <a:lnTo>
                    <a:pt x="3016675" y="76200"/>
                  </a:lnTo>
                  <a:lnTo>
                    <a:pt x="3011414" y="50311"/>
                  </a:lnTo>
                  <a:lnTo>
                    <a:pt x="2997089" y="29110"/>
                  </a:lnTo>
                  <a:lnTo>
                    <a:pt x="2975888" y="14786"/>
                  </a:lnTo>
                  <a:lnTo>
                    <a:pt x="2950000" y="9525"/>
                  </a:lnTo>
                  <a:lnTo>
                    <a:pt x="2984785" y="9525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600710"/>
                  </a:lnTo>
                  <a:lnTo>
                    <a:pt x="3020187" y="630297"/>
                  </a:lnTo>
                  <a:lnTo>
                    <a:pt x="3003816" y="654526"/>
                  </a:lnTo>
                  <a:lnTo>
                    <a:pt x="2984785" y="66738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6973399" y="4796671"/>
            <a:ext cx="3026410" cy="676910"/>
            <a:chOff x="6973399" y="4796671"/>
            <a:chExt cx="3026410" cy="676910"/>
          </a:xfrm>
        </p:grpSpPr>
        <p:sp>
          <p:nvSpPr>
            <p:cNvPr id="12" name="object 12"/>
            <p:cNvSpPr/>
            <p:nvPr/>
          </p:nvSpPr>
          <p:spPr>
            <a:xfrm>
              <a:off x="6973399" y="4796671"/>
              <a:ext cx="3026410" cy="676910"/>
            </a:xfrm>
            <a:custGeom>
              <a:avLst/>
              <a:gdLst/>
              <a:ahLst/>
              <a:cxnLst/>
              <a:rect l="l" t="t" r="r" b="b"/>
              <a:pathLst>
                <a:path w="3026409" h="676910">
                  <a:moveTo>
                    <a:pt x="2950000" y="676910"/>
                  </a:moveTo>
                  <a:lnTo>
                    <a:pt x="76200" y="676910"/>
                  </a:lnTo>
                  <a:lnTo>
                    <a:pt x="46612" y="670897"/>
                  </a:lnTo>
                  <a:lnTo>
                    <a:pt x="22383" y="654526"/>
                  </a:lnTo>
                  <a:lnTo>
                    <a:pt x="6012" y="630297"/>
                  </a:lnTo>
                  <a:lnTo>
                    <a:pt x="0" y="60071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600710"/>
                  </a:lnTo>
                  <a:lnTo>
                    <a:pt x="3020187" y="630297"/>
                  </a:lnTo>
                  <a:lnTo>
                    <a:pt x="3003816" y="654526"/>
                  </a:lnTo>
                  <a:lnTo>
                    <a:pt x="2979587" y="670897"/>
                  </a:lnTo>
                  <a:lnTo>
                    <a:pt x="2950000" y="67691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973399" y="4796672"/>
              <a:ext cx="3026410" cy="676910"/>
            </a:xfrm>
            <a:custGeom>
              <a:avLst/>
              <a:gdLst/>
              <a:ahLst/>
              <a:cxnLst/>
              <a:rect l="l" t="t" r="r" b="b"/>
              <a:pathLst>
                <a:path w="3026409" h="676910">
                  <a:moveTo>
                    <a:pt x="2950000" y="676910"/>
                  </a:moveTo>
                  <a:lnTo>
                    <a:pt x="76200" y="676910"/>
                  </a:lnTo>
                  <a:lnTo>
                    <a:pt x="46612" y="670897"/>
                  </a:lnTo>
                  <a:lnTo>
                    <a:pt x="22383" y="654526"/>
                  </a:lnTo>
                  <a:lnTo>
                    <a:pt x="6012" y="630297"/>
                  </a:lnTo>
                  <a:lnTo>
                    <a:pt x="0" y="60071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29847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600710"/>
                  </a:lnTo>
                  <a:lnTo>
                    <a:pt x="14786" y="626598"/>
                  </a:lnTo>
                  <a:lnTo>
                    <a:pt x="29110" y="647799"/>
                  </a:lnTo>
                  <a:lnTo>
                    <a:pt x="50311" y="662123"/>
                  </a:lnTo>
                  <a:lnTo>
                    <a:pt x="76200" y="667385"/>
                  </a:lnTo>
                  <a:lnTo>
                    <a:pt x="2984785" y="667385"/>
                  </a:lnTo>
                  <a:lnTo>
                    <a:pt x="2979587" y="670897"/>
                  </a:lnTo>
                  <a:lnTo>
                    <a:pt x="2950000" y="676910"/>
                  </a:lnTo>
                  <a:close/>
                </a:path>
                <a:path w="3026409" h="676910">
                  <a:moveTo>
                    <a:pt x="2984785" y="667385"/>
                  </a:moveTo>
                  <a:lnTo>
                    <a:pt x="2950000" y="667385"/>
                  </a:lnTo>
                  <a:lnTo>
                    <a:pt x="2975888" y="662123"/>
                  </a:lnTo>
                  <a:lnTo>
                    <a:pt x="2997089" y="647799"/>
                  </a:lnTo>
                  <a:lnTo>
                    <a:pt x="3011414" y="626598"/>
                  </a:lnTo>
                  <a:lnTo>
                    <a:pt x="3016675" y="600710"/>
                  </a:lnTo>
                  <a:lnTo>
                    <a:pt x="3016675" y="76200"/>
                  </a:lnTo>
                  <a:lnTo>
                    <a:pt x="3011414" y="50311"/>
                  </a:lnTo>
                  <a:lnTo>
                    <a:pt x="2997089" y="29110"/>
                  </a:lnTo>
                  <a:lnTo>
                    <a:pt x="2975888" y="14786"/>
                  </a:lnTo>
                  <a:lnTo>
                    <a:pt x="2950000" y="9525"/>
                  </a:lnTo>
                  <a:lnTo>
                    <a:pt x="2984785" y="9525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600710"/>
                  </a:lnTo>
                  <a:lnTo>
                    <a:pt x="3020187" y="630297"/>
                  </a:lnTo>
                  <a:lnTo>
                    <a:pt x="3003816" y="654526"/>
                  </a:lnTo>
                  <a:lnTo>
                    <a:pt x="2984785" y="66738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44470" y="1498789"/>
            <a:ext cx="6891655" cy="964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6812915" algn="l"/>
              </a:tabLst>
            </a:pP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1.</a:t>
            </a:r>
            <a:r>
              <a:rPr dirty="0" sz="850" spc="-4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DATA</a:t>
            </a:r>
            <a:r>
              <a:rPr dirty="0" sz="850" spc="-4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PREPARATION</a:t>
            </a:r>
            <a:r>
              <a:rPr dirty="0" sz="850" spc="-4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LAYER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	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6748145" algn="l"/>
              </a:tabLst>
            </a:pP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r>
              <a:rPr dirty="0" sz="850" spc="45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2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2025</a:t>
            </a:r>
            <a:r>
              <a:rPr dirty="0" sz="850" spc="-3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ESC</a:t>
            </a:r>
            <a:r>
              <a:rPr dirty="0" sz="850" spc="-3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Guidelines</a:t>
            </a:r>
            <a:r>
              <a:rPr dirty="0" sz="850" spc="-2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PDF</a:t>
            </a:r>
            <a:r>
              <a:rPr dirty="0" sz="850" spc="-3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r>
              <a:rPr dirty="0" sz="850" spc="-2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──►</a:t>
            </a:r>
            <a:r>
              <a:rPr dirty="0" sz="850" spc="-3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3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PyPDFLoader</a:t>
            </a:r>
            <a:r>
              <a:rPr dirty="0" sz="850" spc="-2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r>
              <a:rPr dirty="0" sz="850" spc="-3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──►</a:t>
            </a:r>
            <a:r>
              <a:rPr dirty="0" sz="850" spc="-2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3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RecursiveCharacterTextSplitter</a:t>
            </a:r>
            <a:r>
              <a:rPr dirty="0" sz="850" spc="-3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r>
              <a:rPr dirty="0" sz="850" spc="-2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(850</a:t>
            </a:r>
            <a:r>
              <a:rPr dirty="0" sz="850" spc="-3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/</a:t>
            </a:r>
            <a:r>
              <a:rPr dirty="0" sz="850" spc="-2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150)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	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└───────────────────────────────────────────────────┬────────────────────────────────────────────────────┘</a:t>
            </a:r>
            <a:endParaRPr sz="850">
              <a:latin typeface="Courier New"/>
              <a:cs typeface="Courier New"/>
            </a:endParaRPr>
          </a:p>
          <a:p>
            <a:pPr marL="3380740">
              <a:lnSpc>
                <a:spcPct val="100000"/>
              </a:lnSpc>
              <a:spcBef>
                <a:spcPts val="45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3380740">
              <a:lnSpc>
                <a:spcPct val="100000"/>
              </a:lnSpc>
              <a:spcBef>
                <a:spcPts val="40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▼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4470" y="2443352"/>
            <a:ext cx="190373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r>
              <a:rPr dirty="0" sz="850" spc="-5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2.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RETRIEVAL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PIPELINE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LAYER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4470" y="2578289"/>
            <a:ext cx="6308725" cy="560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r>
              <a:rPr dirty="0" sz="850" spc="48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User</a:t>
            </a:r>
            <a:r>
              <a:rPr dirty="0" sz="850" spc="-1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Query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r>
              <a:rPr dirty="0" sz="850" spc="-1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──►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1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SentenceTransformer: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 all-MiniLM-L6-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v2</a:t>
            </a:r>
            <a:r>
              <a:rPr dirty="0" sz="850" spc="-1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──►</a:t>
            </a:r>
            <a:r>
              <a:rPr dirty="0" sz="850" spc="-1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FAISS</a:t>
            </a:r>
            <a:r>
              <a:rPr dirty="0" sz="850" spc="-1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Index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(IP</a:t>
            </a:r>
            <a:r>
              <a:rPr dirty="0" sz="850" spc="-1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/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Cosine)</a:t>
            </a:r>
            <a:r>
              <a:rPr dirty="0" sz="850" spc="-1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4869815" algn="l"/>
              </a:tabLst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	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4869815" algn="l"/>
              </a:tabLst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	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▼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4157345" algn="l"/>
              </a:tabLst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	[</a:t>
            </a:r>
            <a:r>
              <a:rPr dirty="0" sz="850" spc="-3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Top-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K</a:t>
            </a:r>
            <a:r>
              <a:rPr dirty="0" sz="850" spc="-3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Evidence</a:t>
            </a:r>
            <a:r>
              <a:rPr dirty="0" sz="850" spc="-3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Chunks</a:t>
            </a:r>
            <a:r>
              <a:rPr dirty="0" sz="850" spc="-3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]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80550" y="2443352"/>
            <a:ext cx="155575" cy="694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77470">
              <a:lnSpc>
                <a:spcPct val="100000"/>
              </a:lnSpc>
              <a:spcBef>
                <a:spcPts val="45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77470">
              <a:lnSpc>
                <a:spcPct val="100000"/>
              </a:lnSpc>
              <a:spcBef>
                <a:spcPts val="40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77470">
              <a:lnSpc>
                <a:spcPct val="100000"/>
              </a:lnSpc>
              <a:spcBef>
                <a:spcPts val="45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4470" y="3118039"/>
            <a:ext cx="6891020" cy="560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└───────────────────────────────────────────────────┬────────────────────────────────────────────────────┘</a:t>
            </a:r>
            <a:endParaRPr sz="850">
              <a:latin typeface="Courier New"/>
              <a:cs typeface="Courier New"/>
            </a:endParaRPr>
          </a:p>
          <a:p>
            <a:pPr algn="ctr" marR="56515">
              <a:lnSpc>
                <a:spcPct val="100000"/>
              </a:lnSpc>
              <a:spcBef>
                <a:spcPts val="40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algn="ctr" marR="56515">
              <a:lnSpc>
                <a:spcPct val="100000"/>
              </a:lnSpc>
              <a:spcBef>
                <a:spcPts val="45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▼</a:t>
            </a:r>
            <a:endParaRPr sz="85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┌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sz="850">
              <a:latin typeface="Courier New"/>
              <a:cs typeface="Courier New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725420" y="3688569"/>
          <a:ext cx="7005955" cy="256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905"/>
                <a:gridCol w="2137410"/>
                <a:gridCol w="518159"/>
                <a:gridCol w="518160"/>
                <a:gridCol w="129539"/>
                <a:gridCol w="259079"/>
                <a:gridCol w="129539"/>
                <a:gridCol w="453389"/>
                <a:gridCol w="1295400"/>
                <a:gridCol w="680085"/>
                <a:gridCol w="679449"/>
              </a:tblGrid>
              <a:tr h="128270">
                <a:tc>
                  <a:txBody>
                    <a:bodyPr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880"/>
                        </a:lnSpc>
                      </a:pP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r>
                        <a:rPr dirty="0" sz="850" spc="-6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GENERATION</a:t>
                      </a:r>
                      <a:r>
                        <a:rPr dirty="0" sz="850" spc="-5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&amp;</a:t>
                      </a:r>
                      <a:r>
                        <a:rPr dirty="0" sz="850" spc="-5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SAFEGUARD</a:t>
                      </a:r>
                      <a:r>
                        <a:rPr dirty="0" sz="850" spc="-5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LAYER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8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algn="ctr">
                        <a:lnSpc>
                          <a:spcPts val="91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ts val="915"/>
                        </a:lnSpc>
                      </a:pP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dirty="0" sz="850" spc="-4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Safety</a:t>
                      </a:r>
                      <a:r>
                        <a:rPr dirty="0" sz="850" spc="-4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Intercept</a:t>
                      </a:r>
                      <a:r>
                        <a:rPr dirty="0" sz="850" spc="-4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Gate</a:t>
                      </a:r>
                      <a:r>
                        <a:rPr dirty="0" sz="850" spc="-4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r>
                        <a:rPr dirty="0" sz="850" spc="-4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──►</a:t>
                      </a:r>
                      <a:r>
                        <a:rPr dirty="0" sz="850" spc="-4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15"/>
                        </a:lnSpc>
                      </a:pP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Context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915"/>
                        </a:lnSpc>
                      </a:pP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Builder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91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15"/>
                        </a:lnSpc>
                      </a:pPr>
                      <a:r>
                        <a:rPr dirty="0" sz="850" spc="-2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──►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91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15"/>
                        </a:lnSpc>
                      </a:pP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Groq</a:t>
                      </a:r>
                      <a:r>
                        <a:rPr dirty="0" sz="850" spc="-4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/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15"/>
                        </a:lnSpc>
                      </a:pPr>
                      <a:r>
                        <a:rPr dirty="0" sz="850" spc="-2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openai/gpt-oss-120b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91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1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25420" y="3958444"/>
          <a:ext cx="7005955" cy="391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290"/>
                <a:gridCol w="550544"/>
                <a:gridCol w="129540"/>
                <a:gridCol w="712469"/>
                <a:gridCol w="1198245"/>
                <a:gridCol w="1781175"/>
                <a:gridCol w="1424939"/>
                <a:gridCol w="970915"/>
              </a:tblGrid>
              <a:tr h="128270">
                <a:tc>
                  <a:txBody>
                    <a:bodyPr/>
                    <a:lstStyle/>
                    <a:p>
                      <a:pPr algn="ctr" marR="26034">
                        <a:lnSpc>
                          <a:spcPts val="88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880"/>
                        </a:lnSpc>
                      </a:pP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(Crisis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88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&amp;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880"/>
                        </a:lnSpc>
                      </a:pP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Medication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880"/>
                        </a:lnSpc>
                      </a:pP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Filter)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47980">
                        <a:lnSpc>
                          <a:spcPts val="88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8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134620">
                <a:tc>
                  <a:txBody>
                    <a:bodyPr/>
                    <a:lstStyle/>
                    <a:p>
                      <a:pPr algn="ctr" marR="26034">
                        <a:lnSpc>
                          <a:spcPts val="92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47980">
                        <a:lnSpc>
                          <a:spcPts val="92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▼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2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algn="ctr" marR="26034">
                        <a:lnSpc>
                          <a:spcPts val="91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12470">
                        <a:lnSpc>
                          <a:spcPts val="915"/>
                        </a:lnSpc>
                      </a:pP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dirty="0" sz="850" spc="-3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Cited</a:t>
                      </a:r>
                      <a:r>
                        <a:rPr dirty="0" sz="850" spc="-3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Clinical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915"/>
                        </a:lnSpc>
                      </a:pP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Answer</a:t>
                      </a:r>
                      <a:r>
                        <a:rPr dirty="0" sz="850" spc="-6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1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744470" y="4332477"/>
            <a:ext cx="689102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└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71233" y="4851737"/>
            <a:ext cx="1269365" cy="44894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Embeddings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all-MiniLM-L6-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v2</a:t>
            </a:r>
            <a:r>
              <a:rPr dirty="0" sz="900" spc="6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(384-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d)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0532" y="4851737"/>
            <a:ext cx="1391285" cy="44894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Vector</a:t>
            </a:r>
            <a:r>
              <a:rPr dirty="0" sz="1100" spc="-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Index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FAISS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(Normalized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 L2 /</a:t>
            </a:r>
            <a:r>
              <a:rPr dirty="0" sz="900" spc="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IP)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79037" y="4851737"/>
            <a:ext cx="1415415" cy="44894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LLM</a:t>
            </a:r>
            <a:r>
              <a:rPr dirty="0" sz="1100" spc="-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Engine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Groq</a:t>
            </a:r>
            <a:r>
              <a:rPr dirty="0" sz="900" spc="4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/</a:t>
            </a:r>
            <a:r>
              <a:rPr dirty="0" sz="900" spc="6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openai/gpt-oss-</a:t>
            </a:r>
            <a:r>
              <a:rPr dirty="0" sz="900" spc="-20">
                <a:solidFill>
                  <a:srgbClr val="C8D1D8"/>
                </a:solidFill>
                <a:latin typeface="Arial MT"/>
                <a:cs typeface="Arial MT"/>
              </a:rPr>
              <a:t>120b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87625" y="1121609"/>
            <a:ext cx="9516745" cy="19050"/>
          </a:xfrm>
          <a:custGeom>
            <a:avLst/>
            <a:gdLst/>
            <a:ahLst/>
            <a:cxnLst/>
            <a:rect l="l" t="t" r="r" b="b"/>
            <a:pathLst>
              <a:path w="9516745" h="19050">
                <a:moveTo>
                  <a:pt x="9516750" y="19050"/>
                </a:moveTo>
                <a:lnTo>
                  <a:pt x="0" y="19050"/>
                </a:lnTo>
                <a:lnTo>
                  <a:pt x="0" y="0"/>
                </a:lnTo>
                <a:lnTo>
                  <a:pt x="9516750" y="0"/>
                </a:lnTo>
                <a:lnTo>
                  <a:pt x="9516750" y="19050"/>
                </a:lnTo>
                <a:close/>
              </a:path>
            </a:pathLst>
          </a:custGeom>
          <a:solidFill>
            <a:srgbClr val="2F3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74924" y="506434"/>
            <a:ext cx="183133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S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L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70" b="1">
                <a:solidFill>
                  <a:srgbClr val="57A5FF"/>
                </a:solidFill>
                <a:latin typeface="Arial"/>
                <a:cs typeface="Arial"/>
              </a:rPr>
              <a:t>IDE</a:t>
            </a:r>
            <a:r>
              <a:rPr dirty="0" sz="900" spc="24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4</a:t>
            </a:r>
            <a:r>
              <a:rPr dirty="0" sz="900" spc="24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—</a:t>
            </a:r>
            <a:r>
              <a:rPr dirty="0" sz="900" spc="2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A</a:t>
            </a:r>
            <a:r>
              <a:rPr dirty="0" sz="900" spc="-1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RC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H</a:t>
            </a:r>
            <a:r>
              <a:rPr dirty="0" sz="900" spc="-1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80" b="1">
                <a:solidFill>
                  <a:srgbClr val="57A5FF"/>
                </a:solidFill>
                <a:latin typeface="Arial"/>
                <a:cs typeface="Arial"/>
              </a:rPr>
              <a:t>ITECTU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57A5FF"/>
                </a:solidFill>
                <a:latin typeface="Arial"/>
                <a:cs typeface="Arial"/>
              </a:rPr>
              <a:t>RE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Clinic</a:t>
            </a:r>
            <a:r>
              <a:rPr dirty="0" spc="-15"/>
              <a:t> </a:t>
            </a:r>
            <a:r>
              <a:rPr dirty="0"/>
              <a:t>GPT</a:t>
            </a:r>
            <a:r>
              <a:rPr dirty="0" spc="-10"/>
              <a:t> </a:t>
            </a:r>
            <a:r>
              <a:rPr dirty="0"/>
              <a:t>Pipeline</a:t>
            </a:r>
            <a:r>
              <a:rPr dirty="0" spc="-10"/>
              <a:t> Architecture</a:t>
            </a:r>
          </a:p>
        </p:txBody>
      </p:sp>
      <p:sp>
        <p:nvSpPr>
          <p:cNvPr id="28" name="object 28"/>
          <p:cNvSpPr/>
          <p:nvPr/>
        </p:nvSpPr>
        <p:spPr>
          <a:xfrm>
            <a:off x="540000" y="6703084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2126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7625" y="1283534"/>
            <a:ext cx="9516745" cy="495300"/>
            <a:chOff x="587625" y="1283534"/>
            <a:chExt cx="9516745" cy="495300"/>
          </a:xfrm>
        </p:grpSpPr>
        <p:sp>
          <p:nvSpPr>
            <p:cNvPr id="3" name="object 3"/>
            <p:cNvSpPr/>
            <p:nvPr/>
          </p:nvSpPr>
          <p:spPr>
            <a:xfrm>
              <a:off x="587625" y="1283534"/>
              <a:ext cx="9516745" cy="495300"/>
            </a:xfrm>
            <a:custGeom>
              <a:avLst/>
              <a:gdLst/>
              <a:ahLst/>
              <a:cxnLst/>
              <a:rect l="l" t="t" r="r" b="b"/>
              <a:pathLst>
                <a:path w="9516745" h="495300">
                  <a:moveTo>
                    <a:pt x="9440550" y="494738"/>
                  </a:moveTo>
                  <a:lnTo>
                    <a:pt x="76200" y="494738"/>
                  </a:lnTo>
                  <a:lnTo>
                    <a:pt x="46612" y="488725"/>
                  </a:lnTo>
                  <a:lnTo>
                    <a:pt x="22383" y="472354"/>
                  </a:lnTo>
                  <a:lnTo>
                    <a:pt x="6012" y="448125"/>
                  </a:lnTo>
                  <a:lnTo>
                    <a:pt x="0" y="418538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440550" y="0"/>
                  </a:lnTo>
                  <a:lnTo>
                    <a:pt x="9470137" y="6012"/>
                  </a:lnTo>
                  <a:lnTo>
                    <a:pt x="9494366" y="22383"/>
                  </a:lnTo>
                  <a:lnTo>
                    <a:pt x="9510737" y="46612"/>
                  </a:lnTo>
                  <a:lnTo>
                    <a:pt x="9516750" y="76200"/>
                  </a:lnTo>
                  <a:lnTo>
                    <a:pt x="9516750" y="418538"/>
                  </a:lnTo>
                  <a:lnTo>
                    <a:pt x="9510737" y="448125"/>
                  </a:lnTo>
                  <a:lnTo>
                    <a:pt x="9494366" y="472354"/>
                  </a:lnTo>
                  <a:lnTo>
                    <a:pt x="9470137" y="488725"/>
                  </a:lnTo>
                  <a:lnTo>
                    <a:pt x="9440550" y="494738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87625" y="1283534"/>
              <a:ext cx="9516745" cy="495300"/>
            </a:xfrm>
            <a:custGeom>
              <a:avLst/>
              <a:gdLst/>
              <a:ahLst/>
              <a:cxnLst/>
              <a:rect l="l" t="t" r="r" b="b"/>
              <a:pathLst>
                <a:path w="9516745" h="495300">
                  <a:moveTo>
                    <a:pt x="9440550" y="494738"/>
                  </a:moveTo>
                  <a:lnTo>
                    <a:pt x="76200" y="494738"/>
                  </a:lnTo>
                  <a:lnTo>
                    <a:pt x="46612" y="488725"/>
                  </a:lnTo>
                  <a:lnTo>
                    <a:pt x="22383" y="472354"/>
                  </a:lnTo>
                  <a:lnTo>
                    <a:pt x="6012" y="448125"/>
                  </a:lnTo>
                  <a:lnTo>
                    <a:pt x="0" y="418538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440550" y="0"/>
                  </a:lnTo>
                  <a:lnTo>
                    <a:pt x="9470137" y="6012"/>
                  </a:lnTo>
                  <a:lnTo>
                    <a:pt x="947533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418538"/>
                  </a:lnTo>
                  <a:lnTo>
                    <a:pt x="14786" y="444427"/>
                  </a:lnTo>
                  <a:lnTo>
                    <a:pt x="29110" y="465627"/>
                  </a:lnTo>
                  <a:lnTo>
                    <a:pt x="50311" y="479952"/>
                  </a:lnTo>
                  <a:lnTo>
                    <a:pt x="76200" y="485213"/>
                  </a:lnTo>
                  <a:lnTo>
                    <a:pt x="9475335" y="485213"/>
                  </a:lnTo>
                  <a:lnTo>
                    <a:pt x="9470137" y="488725"/>
                  </a:lnTo>
                  <a:lnTo>
                    <a:pt x="9440550" y="494738"/>
                  </a:lnTo>
                  <a:close/>
                </a:path>
                <a:path w="9516745" h="495300">
                  <a:moveTo>
                    <a:pt x="9475335" y="485213"/>
                  </a:moveTo>
                  <a:lnTo>
                    <a:pt x="9440550" y="485213"/>
                  </a:lnTo>
                  <a:lnTo>
                    <a:pt x="9466438" y="479952"/>
                  </a:lnTo>
                  <a:lnTo>
                    <a:pt x="9487639" y="465627"/>
                  </a:lnTo>
                  <a:lnTo>
                    <a:pt x="9501964" y="444427"/>
                  </a:lnTo>
                  <a:lnTo>
                    <a:pt x="9507225" y="418538"/>
                  </a:lnTo>
                  <a:lnTo>
                    <a:pt x="9507225" y="76200"/>
                  </a:lnTo>
                  <a:lnTo>
                    <a:pt x="9501964" y="50311"/>
                  </a:lnTo>
                  <a:lnTo>
                    <a:pt x="9487639" y="29110"/>
                  </a:lnTo>
                  <a:lnTo>
                    <a:pt x="9466438" y="14786"/>
                  </a:lnTo>
                  <a:lnTo>
                    <a:pt x="9440550" y="9525"/>
                  </a:lnTo>
                  <a:lnTo>
                    <a:pt x="9475335" y="9525"/>
                  </a:lnTo>
                  <a:lnTo>
                    <a:pt x="9494366" y="22383"/>
                  </a:lnTo>
                  <a:lnTo>
                    <a:pt x="9510737" y="46612"/>
                  </a:lnTo>
                  <a:lnTo>
                    <a:pt x="9516750" y="76200"/>
                  </a:lnTo>
                  <a:lnTo>
                    <a:pt x="9516750" y="418538"/>
                  </a:lnTo>
                  <a:lnTo>
                    <a:pt x="9510737" y="448125"/>
                  </a:lnTo>
                  <a:lnTo>
                    <a:pt x="9494366" y="472354"/>
                  </a:lnTo>
                  <a:lnTo>
                    <a:pt x="9475335" y="485213"/>
                  </a:lnTo>
                  <a:close/>
                </a:path>
              </a:pathLst>
            </a:custGeom>
            <a:solidFill>
              <a:srgbClr val="1F6BE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587625" y="2218962"/>
            <a:ext cx="9516745" cy="842644"/>
            <a:chOff x="587625" y="2218962"/>
            <a:chExt cx="9516745" cy="842644"/>
          </a:xfrm>
        </p:grpSpPr>
        <p:sp>
          <p:nvSpPr>
            <p:cNvPr id="6" name="object 6"/>
            <p:cNvSpPr/>
            <p:nvPr/>
          </p:nvSpPr>
          <p:spPr>
            <a:xfrm>
              <a:off x="587625" y="2218962"/>
              <a:ext cx="9516745" cy="842644"/>
            </a:xfrm>
            <a:custGeom>
              <a:avLst/>
              <a:gdLst/>
              <a:ahLst/>
              <a:cxnLst/>
              <a:rect l="l" t="t" r="r" b="b"/>
              <a:pathLst>
                <a:path w="9516745" h="842644">
                  <a:moveTo>
                    <a:pt x="9440550" y="842480"/>
                  </a:moveTo>
                  <a:lnTo>
                    <a:pt x="76200" y="842480"/>
                  </a:lnTo>
                  <a:lnTo>
                    <a:pt x="46612" y="836467"/>
                  </a:lnTo>
                  <a:lnTo>
                    <a:pt x="22383" y="820096"/>
                  </a:lnTo>
                  <a:lnTo>
                    <a:pt x="6012" y="795867"/>
                  </a:lnTo>
                  <a:lnTo>
                    <a:pt x="0" y="76628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440550" y="0"/>
                  </a:lnTo>
                  <a:lnTo>
                    <a:pt x="9470137" y="6012"/>
                  </a:lnTo>
                  <a:lnTo>
                    <a:pt x="9494366" y="22383"/>
                  </a:lnTo>
                  <a:lnTo>
                    <a:pt x="9510737" y="46612"/>
                  </a:lnTo>
                  <a:lnTo>
                    <a:pt x="9516750" y="76200"/>
                  </a:lnTo>
                  <a:lnTo>
                    <a:pt x="9516750" y="766280"/>
                  </a:lnTo>
                  <a:lnTo>
                    <a:pt x="9510737" y="795867"/>
                  </a:lnTo>
                  <a:lnTo>
                    <a:pt x="9494366" y="820096"/>
                  </a:lnTo>
                  <a:lnTo>
                    <a:pt x="9470137" y="836467"/>
                  </a:lnTo>
                  <a:lnTo>
                    <a:pt x="9440550" y="84248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7625" y="2218963"/>
              <a:ext cx="9516745" cy="842644"/>
            </a:xfrm>
            <a:custGeom>
              <a:avLst/>
              <a:gdLst/>
              <a:ahLst/>
              <a:cxnLst/>
              <a:rect l="l" t="t" r="r" b="b"/>
              <a:pathLst>
                <a:path w="9516745" h="842644">
                  <a:moveTo>
                    <a:pt x="9440550" y="842480"/>
                  </a:moveTo>
                  <a:lnTo>
                    <a:pt x="76200" y="842480"/>
                  </a:lnTo>
                  <a:lnTo>
                    <a:pt x="46612" y="836467"/>
                  </a:lnTo>
                  <a:lnTo>
                    <a:pt x="22383" y="820096"/>
                  </a:lnTo>
                  <a:lnTo>
                    <a:pt x="6012" y="795867"/>
                  </a:lnTo>
                  <a:lnTo>
                    <a:pt x="0" y="76628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440550" y="0"/>
                  </a:lnTo>
                  <a:lnTo>
                    <a:pt x="9470137" y="6012"/>
                  </a:lnTo>
                  <a:lnTo>
                    <a:pt x="947533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66280"/>
                  </a:lnTo>
                  <a:lnTo>
                    <a:pt x="14786" y="792168"/>
                  </a:lnTo>
                  <a:lnTo>
                    <a:pt x="29110" y="813369"/>
                  </a:lnTo>
                  <a:lnTo>
                    <a:pt x="50311" y="827693"/>
                  </a:lnTo>
                  <a:lnTo>
                    <a:pt x="76200" y="832955"/>
                  </a:lnTo>
                  <a:lnTo>
                    <a:pt x="9475335" y="832955"/>
                  </a:lnTo>
                  <a:lnTo>
                    <a:pt x="9470137" y="836467"/>
                  </a:lnTo>
                  <a:lnTo>
                    <a:pt x="9440550" y="842480"/>
                  </a:lnTo>
                  <a:close/>
                </a:path>
                <a:path w="9516745" h="842644">
                  <a:moveTo>
                    <a:pt x="9475335" y="832955"/>
                  </a:moveTo>
                  <a:lnTo>
                    <a:pt x="9440550" y="832955"/>
                  </a:lnTo>
                  <a:lnTo>
                    <a:pt x="9466438" y="827693"/>
                  </a:lnTo>
                  <a:lnTo>
                    <a:pt x="9487639" y="813369"/>
                  </a:lnTo>
                  <a:lnTo>
                    <a:pt x="9501964" y="792168"/>
                  </a:lnTo>
                  <a:lnTo>
                    <a:pt x="9507225" y="766280"/>
                  </a:lnTo>
                  <a:lnTo>
                    <a:pt x="9507225" y="76200"/>
                  </a:lnTo>
                  <a:lnTo>
                    <a:pt x="9501964" y="50311"/>
                  </a:lnTo>
                  <a:lnTo>
                    <a:pt x="9487639" y="29110"/>
                  </a:lnTo>
                  <a:lnTo>
                    <a:pt x="9466438" y="14786"/>
                  </a:lnTo>
                  <a:lnTo>
                    <a:pt x="9440550" y="9525"/>
                  </a:lnTo>
                  <a:lnTo>
                    <a:pt x="9475335" y="9525"/>
                  </a:lnTo>
                  <a:lnTo>
                    <a:pt x="9494366" y="22383"/>
                  </a:lnTo>
                  <a:lnTo>
                    <a:pt x="9510737" y="46612"/>
                  </a:lnTo>
                  <a:lnTo>
                    <a:pt x="9516750" y="76200"/>
                  </a:lnTo>
                  <a:lnTo>
                    <a:pt x="9516750" y="766280"/>
                  </a:lnTo>
                  <a:lnTo>
                    <a:pt x="9510737" y="795867"/>
                  </a:lnTo>
                  <a:lnTo>
                    <a:pt x="9494366" y="820096"/>
                  </a:lnTo>
                  <a:lnTo>
                    <a:pt x="9475335" y="83295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87625" y="3137642"/>
            <a:ext cx="9516745" cy="842644"/>
            <a:chOff x="587625" y="3137642"/>
            <a:chExt cx="9516745" cy="842644"/>
          </a:xfrm>
        </p:grpSpPr>
        <p:sp>
          <p:nvSpPr>
            <p:cNvPr id="9" name="object 9"/>
            <p:cNvSpPr/>
            <p:nvPr/>
          </p:nvSpPr>
          <p:spPr>
            <a:xfrm>
              <a:off x="587625" y="3137642"/>
              <a:ext cx="9516745" cy="842644"/>
            </a:xfrm>
            <a:custGeom>
              <a:avLst/>
              <a:gdLst/>
              <a:ahLst/>
              <a:cxnLst/>
              <a:rect l="l" t="t" r="r" b="b"/>
              <a:pathLst>
                <a:path w="9516745" h="842645">
                  <a:moveTo>
                    <a:pt x="9440550" y="842480"/>
                  </a:moveTo>
                  <a:lnTo>
                    <a:pt x="76200" y="842480"/>
                  </a:lnTo>
                  <a:lnTo>
                    <a:pt x="46612" y="836467"/>
                  </a:lnTo>
                  <a:lnTo>
                    <a:pt x="22383" y="820096"/>
                  </a:lnTo>
                  <a:lnTo>
                    <a:pt x="6012" y="795867"/>
                  </a:lnTo>
                  <a:lnTo>
                    <a:pt x="0" y="76628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440550" y="0"/>
                  </a:lnTo>
                  <a:lnTo>
                    <a:pt x="9470137" y="6012"/>
                  </a:lnTo>
                  <a:lnTo>
                    <a:pt x="9494366" y="22383"/>
                  </a:lnTo>
                  <a:lnTo>
                    <a:pt x="9510737" y="46612"/>
                  </a:lnTo>
                  <a:lnTo>
                    <a:pt x="9516750" y="76200"/>
                  </a:lnTo>
                  <a:lnTo>
                    <a:pt x="9516750" y="766280"/>
                  </a:lnTo>
                  <a:lnTo>
                    <a:pt x="9510737" y="795867"/>
                  </a:lnTo>
                  <a:lnTo>
                    <a:pt x="9494366" y="820096"/>
                  </a:lnTo>
                  <a:lnTo>
                    <a:pt x="9470137" y="836467"/>
                  </a:lnTo>
                  <a:lnTo>
                    <a:pt x="9440550" y="84248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87625" y="3137643"/>
              <a:ext cx="9516745" cy="842644"/>
            </a:xfrm>
            <a:custGeom>
              <a:avLst/>
              <a:gdLst/>
              <a:ahLst/>
              <a:cxnLst/>
              <a:rect l="l" t="t" r="r" b="b"/>
              <a:pathLst>
                <a:path w="9516745" h="842645">
                  <a:moveTo>
                    <a:pt x="9440550" y="842480"/>
                  </a:moveTo>
                  <a:lnTo>
                    <a:pt x="76200" y="842480"/>
                  </a:lnTo>
                  <a:lnTo>
                    <a:pt x="46612" y="836467"/>
                  </a:lnTo>
                  <a:lnTo>
                    <a:pt x="22383" y="820096"/>
                  </a:lnTo>
                  <a:lnTo>
                    <a:pt x="6012" y="795867"/>
                  </a:lnTo>
                  <a:lnTo>
                    <a:pt x="0" y="76628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440550" y="0"/>
                  </a:lnTo>
                  <a:lnTo>
                    <a:pt x="9470137" y="6012"/>
                  </a:lnTo>
                  <a:lnTo>
                    <a:pt x="947533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66280"/>
                  </a:lnTo>
                  <a:lnTo>
                    <a:pt x="14786" y="792168"/>
                  </a:lnTo>
                  <a:lnTo>
                    <a:pt x="29110" y="813369"/>
                  </a:lnTo>
                  <a:lnTo>
                    <a:pt x="50311" y="827693"/>
                  </a:lnTo>
                  <a:lnTo>
                    <a:pt x="76200" y="832955"/>
                  </a:lnTo>
                  <a:lnTo>
                    <a:pt x="9475335" y="832955"/>
                  </a:lnTo>
                  <a:lnTo>
                    <a:pt x="9470137" y="836467"/>
                  </a:lnTo>
                  <a:lnTo>
                    <a:pt x="9440550" y="842480"/>
                  </a:lnTo>
                  <a:close/>
                </a:path>
                <a:path w="9516745" h="842645">
                  <a:moveTo>
                    <a:pt x="9475335" y="832955"/>
                  </a:moveTo>
                  <a:lnTo>
                    <a:pt x="9440550" y="832955"/>
                  </a:lnTo>
                  <a:lnTo>
                    <a:pt x="9466438" y="827693"/>
                  </a:lnTo>
                  <a:lnTo>
                    <a:pt x="9487639" y="813369"/>
                  </a:lnTo>
                  <a:lnTo>
                    <a:pt x="9501964" y="792168"/>
                  </a:lnTo>
                  <a:lnTo>
                    <a:pt x="9507225" y="766280"/>
                  </a:lnTo>
                  <a:lnTo>
                    <a:pt x="9507225" y="76200"/>
                  </a:lnTo>
                  <a:lnTo>
                    <a:pt x="9501964" y="50311"/>
                  </a:lnTo>
                  <a:lnTo>
                    <a:pt x="9487639" y="29110"/>
                  </a:lnTo>
                  <a:lnTo>
                    <a:pt x="9466438" y="14786"/>
                  </a:lnTo>
                  <a:lnTo>
                    <a:pt x="9440550" y="9525"/>
                  </a:lnTo>
                  <a:lnTo>
                    <a:pt x="9475335" y="9525"/>
                  </a:lnTo>
                  <a:lnTo>
                    <a:pt x="9494366" y="22383"/>
                  </a:lnTo>
                  <a:lnTo>
                    <a:pt x="9510737" y="46612"/>
                  </a:lnTo>
                  <a:lnTo>
                    <a:pt x="9516750" y="76200"/>
                  </a:lnTo>
                  <a:lnTo>
                    <a:pt x="9516750" y="766280"/>
                  </a:lnTo>
                  <a:lnTo>
                    <a:pt x="9510737" y="795867"/>
                  </a:lnTo>
                  <a:lnTo>
                    <a:pt x="9494366" y="820096"/>
                  </a:lnTo>
                  <a:lnTo>
                    <a:pt x="9475335" y="83295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587625" y="4056322"/>
            <a:ext cx="9516745" cy="842644"/>
            <a:chOff x="587625" y="4056322"/>
            <a:chExt cx="9516745" cy="842644"/>
          </a:xfrm>
        </p:grpSpPr>
        <p:sp>
          <p:nvSpPr>
            <p:cNvPr id="12" name="object 12"/>
            <p:cNvSpPr/>
            <p:nvPr/>
          </p:nvSpPr>
          <p:spPr>
            <a:xfrm>
              <a:off x="587625" y="4056322"/>
              <a:ext cx="9516745" cy="842644"/>
            </a:xfrm>
            <a:custGeom>
              <a:avLst/>
              <a:gdLst/>
              <a:ahLst/>
              <a:cxnLst/>
              <a:rect l="l" t="t" r="r" b="b"/>
              <a:pathLst>
                <a:path w="9516745" h="842645">
                  <a:moveTo>
                    <a:pt x="9440550" y="842480"/>
                  </a:moveTo>
                  <a:lnTo>
                    <a:pt x="76200" y="842480"/>
                  </a:lnTo>
                  <a:lnTo>
                    <a:pt x="46612" y="836467"/>
                  </a:lnTo>
                  <a:lnTo>
                    <a:pt x="22383" y="820096"/>
                  </a:lnTo>
                  <a:lnTo>
                    <a:pt x="6012" y="795867"/>
                  </a:lnTo>
                  <a:lnTo>
                    <a:pt x="0" y="76628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440550" y="0"/>
                  </a:lnTo>
                  <a:lnTo>
                    <a:pt x="9470137" y="6012"/>
                  </a:lnTo>
                  <a:lnTo>
                    <a:pt x="9494366" y="22383"/>
                  </a:lnTo>
                  <a:lnTo>
                    <a:pt x="9510737" y="46612"/>
                  </a:lnTo>
                  <a:lnTo>
                    <a:pt x="9516750" y="76200"/>
                  </a:lnTo>
                  <a:lnTo>
                    <a:pt x="9516750" y="766280"/>
                  </a:lnTo>
                  <a:lnTo>
                    <a:pt x="9510737" y="795867"/>
                  </a:lnTo>
                  <a:lnTo>
                    <a:pt x="9494366" y="820096"/>
                  </a:lnTo>
                  <a:lnTo>
                    <a:pt x="9470137" y="836467"/>
                  </a:lnTo>
                  <a:lnTo>
                    <a:pt x="9440550" y="84248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87625" y="4056323"/>
              <a:ext cx="9516745" cy="842644"/>
            </a:xfrm>
            <a:custGeom>
              <a:avLst/>
              <a:gdLst/>
              <a:ahLst/>
              <a:cxnLst/>
              <a:rect l="l" t="t" r="r" b="b"/>
              <a:pathLst>
                <a:path w="9516745" h="842645">
                  <a:moveTo>
                    <a:pt x="9440550" y="842480"/>
                  </a:moveTo>
                  <a:lnTo>
                    <a:pt x="76200" y="842480"/>
                  </a:lnTo>
                  <a:lnTo>
                    <a:pt x="46612" y="836467"/>
                  </a:lnTo>
                  <a:lnTo>
                    <a:pt x="22383" y="820096"/>
                  </a:lnTo>
                  <a:lnTo>
                    <a:pt x="6012" y="795867"/>
                  </a:lnTo>
                  <a:lnTo>
                    <a:pt x="0" y="76628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440550" y="0"/>
                  </a:lnTo>
                  <a:lnTo>
                    <a:pt x="9470137" y="6012"/>
                  </a:lnTo>
                  <a:lnTo>
                    <a:pt x="947533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66280"/>
                  </a:lnTo>
                  <a:lnTo>
                    <a:pt x="14786" y="792168"/>
                  </a:lnTo>
                  <a:lnTo>
                    <a:pt x="29110" y="813369"/>
                  </a:lnTo>
                  <a:lnTo>
                    <a:pt x="50311" y="827693"/>
                  </a:lnTo>
                  <a:lnTo>
                    <a:pt x="76200" y="832955"/>
                  </a:lnTo>
                  <a:lnTo>
                    <a:pt x="9475335" y="832955"/>
                  </a:lnTo>
                  <a:lnTo>
                    <a:pt x="9470137" y="836467"/>
                  </a:lnTo>
                  <a:lnTo>
                    <a:pt x="9440550" y="842480"/>
                  </a:lnTo>
                  <a:close/>
                </a:path>
                <a:path w="9516745" h="842645">
                  <a:moveTo>
                    <a:pt x="9475335" y="832955"/>
                  </a:moveTo>
                  <a:lnTo>
                    <a:pt x="9440550" y="832955"/>
                  </a:lnTo>
                  <a:lnTo>
                    <a:pt x="9466438" y="827693"/>
                  </a:lnTo>
                  <a:lnTo>
                    <a:pt x="9487639" y="813369"/>
                  </a:lnTo>
                  <a:lnTo>
                    <a:pt x="9501964" y="792168"/>
                  </a:lnTo>
                  <a:lnTo>
                    <a:pt x="9507225" y="766280"/>
                  </a:lnTo>
                  <a:lnTo>
                    <a:pt x="9507225" y="76200"/>
                  </a:lnTo>
                  <a:lnTo>
                    <a:pt x="9501964" y="50311"/>
                  </a:lnTo>
                  <a:lnTo>
                    <a:pt x="9487639" y="29110"/>
                  </a:lnTo>
                  <a:lnTo>
                    <a:pt x="9466438" y="14786"/>
                  </a:lnTo>
                  <a:lnTo>
                    <a:pt x="9440550" y="9525"/>
                  </a:lnTo>
                  <a:lnTo>
                    <a:pt x="9475335" y="9525"/>
                  </a:lnTo>
                  <a:lnTo>
                    <a:pt x="9494366" y="22383"/>
                  </a:lnTo>
                  <a:lnTo>
                    <a:pt x="9510737" y="46612"/>
                  </a:lnTo>
                  <a:lnTo>
                    <a:pt x="9516750" y="76200"/>
                  </a:lnTo>
                  <a:lnTo>
                    <a:pt x="9516750" y="766280"/>
                  </a:lnTo>
                  <a:lnTo>
                    <a:pt x="9510737" y="795867"/>
                  </a:lnTo>
                  <a:lnTo>
                    <a:pt x="9494366" y="820096"/>
                  </a:lnTo>
                  <a:lnTo>
                    <a:pt x="9475335" y="83295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74924" y="1417201"/>
            <a:ext cx="4977765" cy="67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5575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79BFFF"/>
                </a:solidFill>
                <a:latin typeface="Arial"/>
                <a:cs typeface="Arial"/>
              </a:rPr>
              <a:t>Query:</a:t>
            </a:r>
            <a:r>
              <a:rPr dirty="0" sz="1100" spc="-30" b="1">
                <a:solidFill>
                  <a:srgbClr val="79BFF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C8D1D8"/>
                </a:solidFill>
                <a:latin typeface="Arial"/>
                <a:cs typeface="Arial"/>
              </a:rPr>
              <a:t>"What</a:t>
            </a:r>
            <a:r>
              <a:rPr dirty="0" sz="1100" spc="-2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C8D1D8"/>
                </a:solidFill>
                <a:latin typeface="Arial"/>
                <a:cs typeface="Arial"/>
              </a:rPr>
              <a:t>screening</a:t>
            </a:r>
            <a:r>
              <a:rPr dirty="0" sz="1100" spc="-3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C8D1D8"/>
                </a:solidFill>
                <a:latin typeface="Arial"/>
                <a:cs typeface="Arial"/>
              </a:rPr>
              <a:t>tools</a:t>
            </a:r>
            <a:r>
              <a:rPr dirty="0" sz="1100" spc="-2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C8D1D8"/>
                </a:solidFill>
                <a:latin typeface="Arial"/>
                <a:cs typeface="Arial"/>
              </a:rPr>
              <a:t>are</a:t>
            </a:r>
            <a:r>
              <a:rPr dirty="0" sz="1100" spc="-3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C8D1D8"/>
                </a:solidFill>
                <a:latin typeface="Arial"/>
                <a:cs typeface="Arial"/>
              </a:rPr>
              <a:t>recommended</a:t>
            </a:r>
            <a:r>
              <a:rPr dirty="0" sz="1100" spc="-2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C8D1D8"/>
                </a:solidFill>
                <a:latin typeface="Arial"/>
                <a:cs typeface="Arial"/>
              </a:rPr>
              <a:t>for</a:t>
            </a:r>
            <a:r>
              <a:rPr dirty="0" sz="1100" spc="-3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C8D1D8"/>
                </a:solidFill>
                <a:latin typeface="Arial"/>
                <a:cs typeface="Arial"/>
              </a:rPr>
              <a:t>depression</a:t>
            </a:r>
            <a:r>
              <a:rPr dirty="0" sz="1100" spc="-2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C8D1D8"/>
                </a:solidFill>
                <a:latin typeface="Arial"/>
                <a:cs typeface="Arial"/>
              </a:rPr>
              <a:t>and</a:t>
            </a:r>
            <a:r>
              <a:rPr dirty="0" sz="1100" spc="-3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C8D1D8"/>
                </a:solidFill>
                <a:latin typeface="Arial"/>
                <a:cs typeface="Arial"/>
              </a:rPr>
              <a:t>anxiety?"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00" spc="-20" b="1">
                <a:solidFill>
                  <a:srgbClr val="57A5FF"/>
                </a:solidFill>
                <a:latin typeface="Arial"/>
                <a:cs typeface="Arial"/>
              </a:rPr>
              <a:t>Top</a:t>
            </a:r>
            <a:r>
              <a:rPr dirty="0" sz="1300" spc="-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Retrieved</a:t>
            </a:r>
            <a:r>
              <a:rPr dirty="0" sz="1300" spc="-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Evidence</a:t>
            </a:r>
            <a:r>
              <a:rPr dirty="0" sz="1300" spc="-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Chunks: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6374" y="2368349"/>
            <a:ext cx="22479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Rank</a:t>
            </a:r>
            <a:r>
              <a:rPr dirty="0" sz="1100" spc="-20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1</a:t>
            </a:r>
            <a:r>
              <a:rPr dirty="0" sz="1100" spc="-15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|</a:t>
            </a:r>
            <a:r>
              <a:rPr dirty="0" sz="1100" spc="-20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Cosine</a:t>
            </a:r>
            <a:r>
              <a:rPr dirty="0" sz="1100" spc="-15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Similarity:</a:t>
            </a:r>
            <a:r>
              <a:rPr dirty="0" sz="1100" spc="-15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7EE687"/>
                </a:solidFill>
                <a:latin typeface="Arial"/>
                <a:cs typeface="Arial"/>
              </a:rPr>
              <a:t>0.6406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549589" y="2406758"/>
            <a:ext cx="1383665" cy="180340"/>
          </a:xfrm>
          <a:custGeom>
            <a:avLst/>
            <a:gdLst/>
            <a:ahLst/>
            <a:cxnLst/>
            <a:rect l="l" t="t" r="r" b="b"/>
            <a:pathLst>
              <a:path w="1383665" h="180339">
                <a:moveTo>
                  <a:pt x="516699" y="90170"/>
                </a:moveTo>
                <a:lnTo>
                  <a:pt x="509587" y="55168"/>
                </a:lnTo>
                <a:lnTo>
                  <a:pt x="490220" y="26492"/>
                </a:lnTo>
                <a:lnTo>
                  <a:pt x="461543" y="7124"/>
                </a:lnTo>
                <a:lnTo>
                  <a:pt x="426529" y="0"/>
                </a:lnTo>
                <a:lnTo>
                  <a:pt x="90170" y="0"/>
                </a:lnTo>
                <a:lnTo>
                  <a:pt x="55156" y="7124"/>
                </a:lnTo>
                <a:lnTo>
                  <a:pt x="26492" y="26492"/>
                </a:lnTo>
                <a:lnTo>
                  <a:pt x="7112" y="55168"/>
                </a:lnTo>
                <a:lnTo>
                  <a:pt x="0" y="90170"/>
                </a:lnTo>
                <a:lnTo>
                  <a:pt x="7112" y="125183"/>
                </a:lnTo>
                <a:lnTo>
                  <a:pt x="26492" y="153860"/>
                </a:lnTo>
                <a:lnTo>
                  <a:pt x="55156" y="173228"/>
                </a:lnTo>
                <a:lnTo>
                  <a:pt x="90170" y="180340"/>
                </a:lnTo>
                <a:lnTo>
                  <a:pt x="426529" y="180340"/>
                </a:lnTo>
                <a:lnTo>
                  <a:pt x="461543" y="173228"/>
                </a:lnTo>
                <a:lnTo>
                  <a:pt x="490220" y="153860"/>
                </a:lnTo>
                <a:lnTo>
                  <a:pt x="509587" y="125183"/>
                </a:lnTo>
                <a:lnTo>
                  <a:pt x="516699" y="90170"/>
                </a:lnTo>
                <a:close/>
              </a:path>
              <a:path w="1383665" h="180339">
                <a:moveTo>
                  <a:pt x="1383334" y="90170"/>
                </a:moveTo>
                <a:lnTo>
                  <a:pt x="1376210" y="55168"/>
                </a:lnTo>
                <a:lnTo>
                  <a:pt x="1356842" y="26492"/>
                </a:lnTo>
                <a:lnTo>
                  <a:pt x="1328166" y="7124"/>
                </a:lnTo>
                <a:lnTo>
                  <a:pt x="1293164" y="0"/>
                </a:lnTo>
                <a:lnTo>
                  <a:pt x="645706" y="0"/>
                </a:lnTo>
                <a:lnTo>
                  <a:pt x="610692" y="7124"/>
                </a:lnTo>
                <a:lnTo>
                  <a:pt x="582028" y="26492"/>
                </a:lnTo>
                <a:lnTo>
                  <a:pt x="562648" y="55168"/>
                </a:lnTo>
                <a:lnTo>
                  <a:pt x="555536" y="90170"/>
                </a:lnTo>
                <a:lnTo>
                  <a:pt x="562648" y="125183"/>
                </a:lnTo>
                <a:lnTo>
                  <a:pt x="582028" y="153860"/>
                </a:lnTo>
                <a:lnTo>
                  <a:pt x="610692" y="173228"/>
                </a:lnTo>
                <a:lnTo>
                  <a:pt x="645706" y="180340"/>
                </a:lnTo>
                <a:lnTo>
                  <a:pt x="1293164" y="180340"/>
                </a:lnTo>
                <a:lnTo>
                  <a:pt x="1328166" y="173228"/>
                </a:lnTo>
                <a:lnTo>
                  <a:pt x="1356842" y="153860"/>
                </a:lnTo>
                <a:lnTo>
                  <a:pt x="1376210" y="125183"/>
                </a:lnTo>
                <a:lnTo>
                  <a:pt x="1383334" y="90170"/>
                </a:lnTo>
                <a:close/>
              </a:path>
            </a:pathLst>
          </a:custGeom>
          <a:solidFill>
            <a:srgbClr val="1F6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603570" y="2405896"/>
            <a:ext cx="12757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7690" algn="l"/>
              </a:tabLst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r>
              <a:rPr dirty="0" sz="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21</a:t>
            </a: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	Chunk</a:t>
            </a:r>
            <a:r>
              <a:rPr dirty="0" sz="8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CH-</a:t>
            </a: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165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7799" y="2653454"/>
            <a:ext cx="87407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"Whooley</a:t>
            </a:r>
            <a:r>
              <a:rPr dirty="0" sz="900" spc="-1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questions,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Patient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Health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Questionnaire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(PHQ)-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2,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and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Generalized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Anxiety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Disorder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(GAD)-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2.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Positive</a:t>
            </a:r>
            <a:r>
              <a:rPr dirty="0" sz="900" spc="-1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screens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indicate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the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need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for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a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longer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screening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measure..."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549595" y="3325437"/>
            <a:ext cx="516890" cy="180340"/>
          </a:xfrm>
          <a:custGeom>
            <a:avLst/>
            <a:gdLst/>
            <a:ahLst/>
            <a:cxnLst/>
            <a:rect l="l" t="t" r="r" b="b"/>
            <a:pathLst>
              <a:path w="516890" h="180339">
                <a:moveTo>
                  <a:pt x="426533" y="180340"/>
                </a:moveTo>
                <a:lnTo>
                  <a:pt x="90170" y="180340"/>
                </a:lnTo>
                <a:lnTo>
                  <a:pt x="55158" y="173225"/>
                </a:lnTo>
                <a:lnTo>
                  <a:pt x="26487" y="153852"/>
                </a:lnTo>
                <a:lnTo>
                  <a:pt x="7114" y="125181"/>
                </a:lnTo>
                <a:lnTo>
                  <a:pt x="0" y="90170"/>
                </a:lnTo>
                <a:lnTo>
                  <a:pt x="7114" y="55158"/>
                </a:lnTo>
                <a:lnTo>
                  <a:pt x="26487" y="26487"/>
                </a:lnTo>
                <a:lnTo>
                  <a:pt x="55158" y="7114"/>
                </a:lnTo>
                <a:lnTo>
                  <a:pt x="90170" y="0"/>
                </a:lnTo>
                <a:lnTo>
                  <a:pt x="426533" y="0"/>
                </a:lnTo>
                <a:lnTo>
                  <a:pt x="461544" y="7114"/>
                </a:lnTo>
                <a:lnTo>
                  <a:pt x="490215" y="26487"/>
                </a:lnTo>
                <a:lnTo>
                  <a:pt x="509588" y="55158"/>
                </a:lnTo>
                <a:lnTo>
                  <a:pt x="516703" y="90170"/>
                </a:lnTo>
                <a:lnTo>
                  <a:pt x="509588" y="125181"/>
                </a:lnTo>
                <a:lnTo>
                  <a:pt x="490215" y="153852"/>
                </a:lnTo>
                <a:lnTo>
                  <a:pt x="461544" y="173225"/>
                </a:lnTo>
                <a:lnTo>
                  <a:pt x="426533" y="180340"/>
                </a:lnTo>
                <a:close/>
              </a:path>
            </a:pathLst>
          </a:custGeom>
          <a:solidFill>
            <a:srgbClr val="1F6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603570" y="3324576"/>
            <a:ext cx="40894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r>
              <a:rPr dirty="0" sz="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105134" y="3325437"/>
            <a:ext cx="828040" cy="180340"/>
          </a:xfrm>
          <a:custGeom>
            <a:avLst/>
            <a:gdLst/>
            <a:ahLst/>
            <a:cxnLst/>
            <a:rect l="l" t="t" r="r" b="b"/>
            <a:pathLst>
              <a:path w="828040" h="180339">
                <a:moveTo>
                  <a:pt x="737621" y="180340"/>
                </a:moveTo>
                <a:lnTo>
                  <a:pt x="90170" y="180340"/>
                </a:lnTo>
                <a:lnTo>
                  <a:pt x="55158" y="173225"/>
                </a:lnTo>
                <a:lnTo>
                  <a:pt x="26487" y="153852"/>
                </a:lnTo>
                <a:lnTo>
                  <a:pt x="7114" y="125181"/>
                </a:lnTo>
                <a:lnTo>
                  <a:pt x="0" y="90170"/>
                </a:lnTo>
                <a:lnTo>
                  <a:pt x="7114" y="55158"/>
                </a:lnTo>
                <a:lnTo>
                  <a:pt x="26487" y="26487"/>
                </a:lnTo>
                <a:lnTo>
                  <a:pt x="55158" y="7114"/>
                </a:lnTo>
                <a:lnTo>
                  <a:pt x="90170" y="0"/>
                </a:lnTo>
                <a:lnTo>
                  <a:pt x="737621" y="0"/>
                </a:lnTo>
                <a:lnTo>
                  <a:pt x="772632" y="7114"/>
                </a:lnTo>
                <a:lnTo>
                  <a:pt x="801303" y="26487"/>
                </a:lnTo>
                <a:lnTo>
                  <a:pt x="820676" y="55158"/>
                </a:lnTo>
                <a:lnTo>
                  <a:pt x="827791" y="90170"/>
                </a:lnTo>
                <a:lnTo>
                  <a:pt x="820676" y="125181"/>
                </a:lnTo>
                <a:lnTo>
                  <a:pt x="801303" y="153852"/>
                </a:lnTo>
                <a:lnTo>
                  <a:pt x="772632" y="173225"/>
                </a:lnTo>
                <a:lnTo>
                  <a:pt x="737621" y="180340"/>
                </a:lnTo>
                <a:close/>
              </a:path>
            </a:pathLst>
          </a:custGeom>
          <a:solidFill>
            <a:srgbClr val="1F6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159108" y="3324576"/>
            <a:ext cx="7200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Chunk</a:t>
            </a:r>
            <a:r>
              <a:rPr dirty="0" sz="8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CH-</a:t>
            </a: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175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7799" y="3287029"/>
            <a:ext cx="6012180" cy="447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Rank</a:t>
            </a:r>
            <a:r>
              <a:rPr dirty="0" sz="1100" spc="-20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2</a:t>
            </a:r>
            <a:r>
              <a:rPr dirty="0" sz="1100" spc="-15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|</a:t>
            </a:r>
            <a:r>
              <a:rPr dirty="0" sz="1100" spc="-20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Cosine</a:t>
            </a:r>
            <a:r>
              <a:rPr dirty="0" sz="1100" spc="-15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Similarity:</a:t>
            </a:r>
            <a:r>
              <a:rPr dirty="0" sz="1100" spc="-15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7EE687"/>
                </a:solidFill>
                <a:latin typeface="Arial"/>
                <a:cs typeface="Arial"/>
              </a:rPr>
              <a:t>0.6208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"Table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5: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Timing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and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tools</a:t>
            </a:r>
            <a:r>
              <a:rPr dirty="0" sz="900" spc="-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for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screening...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GAD-2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followed</a:t>
            </a:r>
            <a:r>
              <a:rPr dirty="0" sz="900" spc="-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by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GAD-7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if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positive,</a:t>
            </a:r>
            <a:r>
              <a:rPr dirty="0" sz="900" spc="-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PHQ-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2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followed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by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PHQ-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9</a:t>
            </a:r>
            <a:r>
              <a:rPr dirty="0" sz="900" spc="-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if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positive..."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6374" y="4205709"/>
            <a:ext cx="22479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Rank</a:t>
            </a:r>
            <a:r>
              <a:rPr dirty="0" sz="1100" spc="-20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3</a:t>
            </a:r>
            <a:r>
              <a:rPr dirty="0" sz="1100" spc="-15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|</a:t>
            </a:r>
            <a:r>
              <a:rPr dirty="0" sz="1100" spc="-20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Cosine</a:t>
            </a:r>
            <a:r>
              <a:rPr dirty="0" sz="1100" spc="-15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7EE687"/>
                </a:solidFill>
                <a:latin typeface="Arial"/>
                <a:cs typeface="Arial"/>
              </a:rPr>
              <a:t>Similarity:</a:t>
            </a:r>
            <a:r>
              <a:rPr dirty="0" sz="1100" spc="-15" b="1">
                <a:solidFill>
                  <a:srgbClr val="7EE687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7EE687"/>
                </a:solidFill>
                <a:latin typeface="Arial"/>
                <a:cs typeface="Arial"/>
              </a:rPr>
              <a:t>0.6129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549589" y="4244118"/>
            <a:ext cx="1383665" cy="180340"/>
          </a:xfrm>
          <a:custGeom>
            <a:avLst/>
            <a:gdLst/>
            <a:ahLst/>
            <a:cxnLst/>
            <a:rect l="l" t="t" r="r" b="b"/>
            <a:pathLst>
              <a:path w="1383665" h="180339">
                <a:moveTo>
                  <a:pt x="516699" y="90170"/>
                </a:moveTo>
                <a:lnTo>
                  <a:pt x="509587" y="55168"/>
                </a:lnTo>
                <a:lnTo>
                  <a:pt x="490220" y="26492"/>
                </a:lnTo>
                <a:lnTo>
                  <a:pt x="461543" y="7124"/>
                </a:lnTo>
                <a:lnTo>
                  <a:pt x="426529" y="0"/>
                </a:lnTo>
                <a:lnTo>
                  <a:pt x="90170" y="0"/>
                </a:lnTo>
                <a:lnTo>
                  <a:pt x="55156" y="7124"/>
                </a:lnTo>
                <a:lnTo>
                  <a:pt x="26492" y="26492"/>
                </a:lnTo>
                <a:lnTo>
                  <a:pt x="7112" y="55168"/>
                </a:lnTo>
                <a:lnTo>
                  <a:pt x="0" y="90170"/>
                </a:lnTo>
                <a:lnTo>
                  <a:pt x="7112" y="125183"/>
                </a:lnTo>
                <a:lnTo>
                  <a:pt x="26492" y="153860"/>
                </a:lnTo>
                <a:lnTo>
                  <a:pt x="55156" y="173228"/>
                </a:lnTo>
                <a:lnTo>
                  <a:pt x="90170" y="180340"/>
                </a:lnTo>
                <a:lnTo>
                  <a:pt x="426529" y="180340"/>
                </a:lnTo>
                <a:lnTo>
                  <a:pt x="461543" y="173228"/>
                </a:lnTo>
                <a:lnTo>
                  <a:pt x="490220" y="153860"/>
                </a:lnTo>
                <a:lnTo>
                  <a:pt x="509587" y="125183"/>
                </a:lnTo>
                <a:lnTo>
                  <a:pt x="516699" y="90170"/>
                </a:lnTo>
                <a:close/>
              </a:path>
              <a:path w="1383665" h="180339">
                <a:moveTo>
                  <a:pt x="1383334" y="90170"/>
                </a:moveTo>
                <a:lnTo>
                  <a:pt x="1376210" y="55168"/>
                </a:lnTo>
                <a:lnTo>
                  <a:pt x="1356842" y="26492"/>
                </a:lnTo>
                <a:lnTo>
                  <a:pt x="1328166" y="7124"/>
                </a:lnTo>
                <a:lnTo>
                  <a:pt x="1293164" y="0"/>
                </a:lnTo>
                <a:lnTo>
                  <a:pt x="645706" y="0"/>
                </a:lnTo>
                <a:lnTo>
                  <a:pt x="610692" y="7124"/>
                </a:lnTo>
                <a:lnTo>
                  <a:pt x="582028" y="26492"/>
                </a:lnTo>
                <a:lnTo>
                  <a:pt x="562648" y="55168"/>
                </a:lnTo>
                <a:lnTo>
                  <a:pt x="555536" y="90170"/>
                </a:lnTo>
                <a:lnTo>
                  <a:pt x="562648" y="125183"/>
                </a:lnTo>
                <a:lnTo>
                  <a:pt x="582028" y="153860"/>
                </a:lnTo>
                <a:lnTo>
                  <a:pt x="610692" y="173228"/>
                </a:lnTo>
                <a:lnTo>
                  <a:pt x="645706" y="180340"/>
                </a:lnTo>
                <a:lnTo>
                  <a:pt x="1293164" y="180340"/>
                </a:lnTo>
                <a:lnTo>
                  <a:pt x="1328166" y="173228"/>
                </a:lnTo>
                <a:lnTo>
                  <a:pt x="1356842" y="153860"/>
                </a:lnTo>
                <a:lnTo>
                  <a:pt x="1376210" y="125183"/>
                </a:lnTo>
                <a:lnTo>
                  <a:pt x="1383334" y="90170"/>
                </a:lnTo>
                <a:close/>
              </a:path>
            </a:pathLst>
          </a:custGeom>
          <a:solidFill>
            <a:srgbClr val="1F6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603570" y="4243256"/>
            <a:ext cx="12757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7690" algn="l"/>
              </a:tabLst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r>
              <a:rPr dirty="0" sz="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21</a:t>
            </a: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	Chunk</a:t>
            </a:r>
            <a:r>
              <a:rPr dirty="0" sz="8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CH-</a:t>
            </a: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164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7799" y="4490815"/>
            <a:ext cx="86779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"Who</a:t>
            </a:r>
            <a:r>
              <a:rPr dirty="0" sz="900" spc="-1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should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screen?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Any</a:t>
            </a:r>
            <a:r>
              <a:rPr dirty="0" sz="900" spc="-1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member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of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the</a:t>
            </a:r>
            <a:r>
              <a:rPr dirty="0" sz="900" spc="-1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Psycho-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Cardio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multidisciplinary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team...</a:t>
            </a:r>
            <a:r>
              <a:rPr dirty="0" sz="900" spc="-1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Screening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by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itself</a:t>
            </a:r>
            <a:r>
              <a:rPr dirty="0" sz="900" spc="-1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does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not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help</a:t>
            </a:r>
            <a:r>
              <a:rPr dirty="0" sz="900" spc="-1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people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with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CVD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but</a:t>
            </a:r>
            <a:r>
              <a:rPr dirty="0" sz="900" spc="-1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includes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responsibility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C8D1D8"/>
                </a:solidFill>
                <a:latin typeface="Arial"/>
                <a:cs typeface="Arial"/>
              </a:rPr>
              <a:t>to</a:t>
            </a:r>
            <a:r>
              <a:rPr dirty="0" sz="900" spc="-15" i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C8D1D8"/>
                </a:solidFill>
                <a:latin typeface="Arial"/>
                <a:cs typeface="Arial"/>
              </a:rPr>
              <a:t>address..."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87625" y="1121609"/>
            <a:ext cx="9516745" cy="19050"/>
          </a:xfrm>
          <a:custGeom>
            <a:avLst/>
            <a:gdLst/>
            <a:ahLst/>
            <a:cxnLst/>
            <a:rect l="l" t="t" r="r" b="b"/>
            <a:pathLst>
              <a:path w="9516745" h="19050">
                <a:moveTo>
                  <a:pt x="9516750" y="19050"/>
                </a:moveTo>
                <a:lnTo>
                  <a:pt x="0" y="19050"/>
                </a:lnTo>
                <a:lnTo>
                  <a:pt x="0" y="0"/>
                </a:lnTo>
                <a:lnTo>
                  <a:pt x="9516750" y="0"/>
                </a:lnTo>
                <a:lnTo>
                  <a:pt x="9516750" y="19050"/>
                </a:lnTo>
                <a:close/>
              </a:path>
            </a:pathLst>
          </a:custGeom>
          <a:solidFill>
            <a:srgbClr val="2F3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74924" y="506434"/>
            <a:ext cx="19748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S</a:t>
            </a:r>
            <a:r>
              <a:rPr dirty="0" sz="900" spc="-1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L</a:t>
            </a:r>
            <a:r>
              <a:rPr dirty="0" sz="900" spc="-1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70" b="1">
                <a:solidFill>
                  <a:srgbClr val="57A5FF"/>
                </a:solidFill>
                <a:latin typeface="Arial"/>
                <a:cs typeface="Arial"/>
              </a:rPr>
              <a:t>IDE</a:t>
            </a:r>
            <a:r>
              <a:rPr dirty="0" sz="900" spc="229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5</a:t>
            </a:r>
            <a:r>
              <a:rPr dirty="0" sz="900" spc="229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—</a:t>
            </a:r>
            <a:r>
              <a:rPr dirty="0" sz="900" spc="2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70" b="1">
                <a:solidFill>
                  <a:srgbClr val="57A5FF"/>
                </a:solidFill>
                <a:latin typeface="Arial"/>
                <a:cs typeface="Arial"/>
              </a:rPr>
              <a:t>RETR</a:t>
            </a:r>
            <a:r>
              <a:rPr dirty="0" sz="900" spc="-1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60" b="1">
                <a:solidFill>
                  <a:srgbClr val="57A5FF"/>
                </a:solidFill>
                <a:latin typeface="Arial"/>
                <a:cs typeface="Arial"/>
              </a:rPr>
              <a:t>IEVA</a:t>
            </a:r>
            <a:r>
              <a:rPr dirty="0" sz="900" spc="-1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L</a:t>
            </a:r>
            <a:r>
              <a:rPr dirty="0" sz="900" spc="229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65" b="1">
                <a:solidFill>
                  <a:srgbClr val="57A5FF"/>
                </a:solidFill>
                <a:latin typeface="Arial"/>
                <a:cs typeface="Arial"/>
              </a:rPr>
              <a:t>DEM</a:t>
            </a:r>
            <a:r>
              <a:rPr dirty="0" sz="900" spc="-1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50" b="1">
                <a:solidFill>
                  <a:srgbClr val="57A5FF"/>
                </a:solidFill>
                <a:latin typeface="Arial"/>
                <a:cs typeface="Arial"/>
              </a:rPr>
              <a:t>O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From</a:t>
            </a:r>
            <a:r>
              <a:rPr dirty="0" spc="-25"/>
              <a:t> </a:t>
            </a:r>
            <a:r>
              <a:rPr dirty="0"/>
              <a:t>Clinical</a:t>
            </a:r>
            <a:r>
              <a:rPr dirty="0" spc="-20"/>
              <a:t> </a:t>
            </a:r>
            <a:r>
              <a:rPr dirty="0"/>
              <a:t>Query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Evidence</a:t>
            </a:r>
            <a:r>
              <a:rPr dirty="0" spc="-20"/>
              <a:t> </a:t>
            </a:r>
            <a:r>
              <a:rPr dirty="0" spc="-10"/>
              <a:t>Retrieval</a:t>
            </a:r>
          </a:p>
        </p:txBody>
      </p:sp>
      <p:sp>
        <p:nvSpPr>
          <p:cNvPr id="31" name="object 31"/>
          <p:cNvSpPr/>
          <p:nvPr/>
        </p:nvSpPr>
        <p:spPr>
          <a:xfrm>
            <a:off x="540000" y="6703084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2126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12675" y="1619449"/>
            <a:ext cx="4568190" cy="934719"/>
            <a:chOff x="5412675" y="1619449"/>
            <a:chExt cx="4568190" cy="934719"/>
          </a:xfrm>
        </p:grpSpPr>
        <p:sp>
          <p:nvSpPr>
            <p:cNvPr id="3" name="object 3"/>
            <p:cNvSpPr/>
            <p:nvPr/>
          </p:nvSpPr>
          <p:spPr>
            <a:xfrm>
              <a:off x="5412675" y="1619449"/>
              <a:ext cx="4568190" cy="934719"/>
            </a:xfrm>
            <a:custGeom>
              <a:avLst/>
              <a:gdLst/>
              <a:ahLst/>
              <a:cxnLst/>
              <a:rect l="l" t="t" r="r" b="b"/>
              <a:pathLst>
                <a:path w="4568190" h="934719">
                  <a:moveTo>
                    <a:pt x="4491675" y="934720"/>
                  </a:moveTo>
                  <a:lnTo>
                    <a:pt x="76200" y="934720"/>
                  </a:lnTo>
                  <a:lnTo>
                    <a:pt x="46612" y="928707"/>
                  </a:lnTo>
                  <a:lnTo>
                    <a:pt x="22383" y="912336"/>
                  </a:lnTo>
                  <a:lnTo>
                    <a:pt x="6012" y="888107"/>
                  </a:lnTo>
                  <a:lnTo>
                    <a:pt x="0" y="8585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858520"/>
                  </a:lnTo>
                  <a:lnTo>
                    <a:pt x="4561862" y="888107"/>
                  </a:lnTo>
                  <a:lnTo>
                    <a:pt x="4545491" y="912336"/>
                  </a:lnTo>
                  <a:lnTo>
                    <a:pt x="4521262" y="928707"/>
                  </a:lnTo>
                  <a:lnTo>
                    <a:pt x="4491675" y="93472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412675" y="1619449"/>
              <a:ext cx="4568190" cy="934719"/>
            </a:xfrm>
            <a:custGeom>
              <a:avLst/>
              <a:gdLst/>
              <a:ahLst/>
              <a:cxnLst/>
              <a:rect l="l" t="t" r="r" b="b"/>
              <a:pathLst>
                <a:path w="4568190" h="934719">
                  <a:moveTo>
                    <a:pt x="4491675" y="934720"/>
                  </a:moveTo>
                  <a:lnTo>
                    <a:pt x="76200" y="934720"/>
                  </a:lnTo>
                  <a:lnTo>
                    <a:pt x="46612" y="928707"/>
                  </a:lnTo>
                  <a:lnTo>
                    <a:pt x="22383" y="912336"/>
                  </a:lnTo>
                  <a:lnTo>
                    <a:pt x="6012" y="888107"/>
                  </a:lnTo>
                  <a:lnTo>
                    <a:pt x="0" y="8585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858520"/>
                  </a:lnTo>
                  <a:lnTo>
                    <a:pt x="14786" y="884408"/>
                  </a:lnTo>
                  <a:lnTo>
                    <a:pt x="29110" y="905609"/>
                  </a:lnTo>
                  <a:lnTo>
                    <a:pt x="50311" y="919933"/>
                  </a:lnTo>
                  <a:lnTo>
                    <a:pt x="76200" y="925195"/>
                  </a:lnTo>
                  <a:lnTo>
                    <a:pt x="4526460" y="925195"/>
                  </a:lnTo>
                  <a:lnTo>
                    <a:pt x="4521262" y="928707"/>
                  </a:lnTo>
                  <a:lnTo>
                    <a:pt x="4491675" y="934720"/>
                  </a:lnTo>
                  <a:close/>
                </a:path>
                <a:path w="4568190" h="934719">
                  <a:moveTo>
                    <a:pt x="4526460" y="925195"/>
                  </a:moveTo>
                  <a:lnTo>
                    <a:pt x="4491675" y="925195"/>
                  </a:lnTo>
                  <a:lnTo>
                    <a:pt x="4517563" y="919933"/>
                  </a:lnTo>
                  <a:lnTo>
                    <a:pt x="4538764" y="905609"/>
                  </a:lnTo>
                  <a:lnTo>
                    <a:pt x="4553089" y="884408"/>
                  </a:lnTo>
                  <a:lnTo>
                    <a:pt x="4558350" y="85852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858520"/>
                  </a:lnTo>
                  <a:lnTo>
                    <a:pt x="4561862" y="888107"/>
                  </a:lnTo>
                  <a:lnTo>
                    <a:pt x="4545491" y="912336"/>
                  </a:lnTo>
                  <a:lnTo>
                    <a:pt x="4526460" y="92519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5412675" y="2649419"/>
            <a:ext cx="4568190" cy="934719"/>
            <a:chOff x="5412675" y="2649419"/>
            <a:chExt cx="4568190" cy="934719"/>
          </a:xfrm>
        </p:grpSpPr>
        <p:sp>
          <p:nvSpPr>
            <p:cNvPr id="6" name="object 6"/>
            <p:cNvSpPr/>
            <p:nvPr/>
          </p:nvSpPr>
          <p:spPr>
            <a:xfrm>
              <a:off x="5412675" y="2649419"/>
              <a:ext cx="4568190" cy="934719"/>
            </a:xfrm>
            <a:custGeom>
              <a:avLst/>
              <a:gdLst/>
              <a:ahLst/>
              <a:cxnLst/>
              <a:rect l="l" t="t" r="r" b="b"/>
              <a:pathLst>
                <a:path w="4568190" h="934720">
                  <a:moveTo>
                    <a:pt x="4491675" y="934720"/>
                  </a:moveTo>
                  <a:lnTo>
                    <a:pt x="76200" y="934720"/>
                  </a:lnTo>
                  <a:lnTo>
                    <a:pt x="46612" y="928707"/>
                  </a:lnTo>
                  <a:lnTo>
                    <a:pt x="22383" y="912336"/>
                  </a:lnTo>
                  <a:lnTo>
                    <a:pt x="6012" y="888107"/>
                  </a:lnTo>
                  <a:lnTo>
                    <a:pt x="0" y="8585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858520"/>
                  </a:lnTo>
                  <a:lnTo>
                    <a:pt x="4561862" y="888107"/>
                  </a:lnTo>
                  <a:lnTo>
                    <a:pt x="4545491" y="912336"/>
                  </a:lnTo>
                  <a:lnTo>
                    <a:pt x="4521262" y="928707"/>
                  </a:lnTo>
                  <a:lnTo>
                    <a:pt x="4491675" y="93472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12675" y="2649419"/>
              <a:ext cx="4568190" cy="934719"/>
            </a:xfrm>
            <a:custGeom>
              <a:avLst/>
              <a:gdLst/>
              <a:ahLst/>
              <a:cxnLst/>
              <a:rect l="l" t="t" r="r" b="b"/>
              <a:pathLst>
                <a:path w="4568190" h="934720">
                  <a:moveTo>
                    <a:pt x="4491675" y="934720"/>
                  </a:moveTo>
                  <a:lnTo>
                    <a:pt x="76200" y="934720"/>
                  </a:lnTo>
                  <a:lnTo>
                    <a:pt x="46612" y="928707"/>
                  </a:lnTo>
                  <a:lnTo>
                    <a:pt x="22383" y="912336"/>
                  </a:lnTo>
                  <a:lnTo>
                    <a:pt x="6012" y="888107"/>
                  </a:lnTo>
                  <a:lnTo>
                    <a:pt x="0" y="8585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858520"/>
                  </a:lnTo>
                  <a:lnTo>
                    <a:pt x="14786" y="884408"/>
                  </a:lnTo>
                  <a:lnTo>
                    <a:pt x="29110" y="905609"/>
                  </a:lnTo>
                  <a:lnTo>
                    <a:pt x="50311" y="919933"/>
                  </a:lnTo>
                  <a:lnTo>
                    <a:pt x="76200" y="925195"/>
                  </a:lnTo>
                  <a:lnTo>
                    <a:pt x="4526460" y="925195"/>
                  </a:lnTo>
                  <a:lnTo>
                    <a:pt x="4521262" y="928707"/>
                  </a:lnTo>
                  <a:lnTo>
                    <a:pt x="4491675" y="934720"/>
                  </a:lnTo>
                  <a:close/>
                </a:path>
                <a:path w="4568190" h="934720">
                  <a:moveTo>
                    <a:pt x="4526460" y="925195"/>
                  </a:moveTo>
                  <a:lnTo>
                    <a:pt x="4491675" y="925195"/>
                  </a:lnTo>
                  <a:lnTo>
                    <a:pt x="4517563" y="919933"/>
                  </a:lnTo>
                  <a:lnTo>
                    <a:pt x="4538764" y="905609"/>
                  </a:lnTo>
                  <a:lnTo>
                    <a:pt x="4553089" y="884408"/>
                  </a:lnTo>
                  <a:lnTo>
                    <a:pt x="4558350" y="85852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858520"/>
                  </a:lnTo>
                  <a:lnTo>
                    <a:pt x="4561862" y="888107"/>
                  </a:lnTo>
                  <a:lnTo>
                    <a:pt x="4545491" y="912336"/>
                  </a:lnTo>
                  <a:lnTo>
                    <a:pt x="4526460" y="92519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625" y="4496634"/>
            <a:ext cx="9516750" cy="42418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98749" y="1268636"/>
            <a:ext cx="26365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Chunking</a:t>
            </a:r>
            <a:r>
              <a:rPr dirty="0" sz="1300" spc="-8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Configuration</a:t>
            </a:r>
            <a:r>
              <a:rPr dirty="0" sz="1300" spc="-8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Analysis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11449" y="1619449"/>
          <a:ext cx="4644390" cy="2504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0485"/>
                <a:gridCol w="1132205"/>
                <a:gridCol w="608330"/>
                <a:gridCol w="603250"/>
                <a:gridCol w="873760"/>
              </a:tblGrid>
              <a:tr h="499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950" spc="-10" b="1">
                          <a:solidFill>
                            <a:srgbClr val="EFF6FB"/>
                          </a:solidFill>
                          <a:latin typeface="Arial"/>
                          <a:cs typeface="Arial"/>
                        </a:rPr>
                        <a:t>Config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950" spc="-20" b="1">
                          <a:solidFill>
                            <a:srgbClr val="EFF6FB"/>
                          </a:solidFill>
                          <a:latin typeface="Arial"/>
                          <a:cs typeface="Arial"/>
                        </a:rPr>
                        <a:t>Size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950" spc="-10" b="1">
                          <a:solidFill>
                            <a:srgbClr val="EFF6FB"/>
                          </a:solidFill>
                          <a:latin typeface="Arial"/>
                          <a:cs typeface="Arial"/>
                        </a:rPr>
                        <a:t>Overlap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950" spc="-10" b="1">
                          <a:solidFill>
                            <a:srgbClr val="EFF6FB"/>
                          </a:solidFill>
                          <a:latin typeface="Arial"/>
                          <a:cs typeface="Arial"/>
                        </a:rPr>
                        <a:t>Chunks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73025">
                        <a:lnSpc>
                          <a:spcPct val="116700"/>
                        </a:lnSpc>
                        <a:spcBef>
                          <a:spcPts val="380"/>
                        </a:spcBef>
                      </a:pPr>
                      <a:r>
                        <a:rPr dirty="0" sz="950" spc="-10" b="1">
                          <a:solidFill>
                            <a:srgbClr val="EFF6FB"/>
                          </a:solidFill>
                          <a:latin typeface="Arial"/>
                          <a:cs typeface="Arial"/>
                        </a:rPr>
                        <a:t>Utility Assessment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4826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21262D"/>
                    </a:solidFill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10" b="1">
                          <a:solidFill>
                            <a:srgbClr val="C8D1D8"/>
                          </a:solidFill>
                          <a:latin typeface="Arial"/>
                          <a:cs typeface="Arial"/>
                        </a:rPr>
                        <a:t>SMALL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25">
                          <a:solidFill>
                            <a:srgbClr val="C8D1D8"/>
                          </a:solidFill>
                          <a:latin typeface="Arial MT"/>
                          <a:cs typeface="Arial MT"/>
                        </a:rPr>
                        <a:t>500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25">
                          <a:solidFill>
                            <a:srgbClr val="C8D1D8"/>
                          </a:solidFill>
                          <a:latin typeface="Arial MT"/>
                          <a:cs typeface="Arial MT"/>
                        </a:rPr>
                        <a:t>75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10">
                          <a:solidFill>
                            <a:srgbClr val="C8D1D8"/>
                          </a:solidFill>
                          <a:latin typeface="Arial MT"/>
                          <a:cs typeface="Arial MT"/>
                        </a:rPr>
                        <a:t>1,128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144145">
                        <a:lnSpc>
                          <a:spcPct val="116700"/>
                        </a:lnSpc>
                        <a:spcBef>
                          <a:spcPts val="380"/>
                        </a:spcBef>
                      </a:pPr>
                      <a:r>
                        <a:rPr dirty="0" sz="950">
                          <a:solidFill>
                            <a:srgbClr val="F75049"/>
                          </a:solidFill>
                          <a:latin typeface="Arial MT"/>
                          <a:cs typeface="Arial MT"/>
                        </a:rPr>
                        <a:t>Over-</a:t>
                      </a:r>
                      <a:r>
                        <a:rPr dirty="0" sz="950" spc="-10">
                          <a:solidFill>
                            <a:srgbClr val="F75049"/>
                          </a:solidFill>
                          <a:latin typeface="Arial MT"/>
                          <a:cs typeface="Arial MT"/>
                        </a:rPr>
                        <a:t>fragmented; </a:t>
                      </a:r>
                      <a:r>
                        <a:rPr dirty="0" sz="950">
                          <a:solidFill>
                            <a:srgbClr val="F75049"/>
                          </a:solidFill>
                          <a:latin typeface="Arial MT"/>
                          <a:cs typeface="Arial MT"/>
                        </a:rPr>
                        <a:t>splits </a:t>
                      </a:r>
                      <a:r>
                        <a:rPr dirty="0" sz="950" spc="-10">
                          <a:solidFill>
                            <a:srgbClr val="F75049"/>
                          </a:solidFill>
                          <a:latin typeface="Arial MT"/>
                          <a:cs typeface="Arial MT"/>
                        </a:rPr>
                        <a:t>tables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826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10" b="1">
                          <a:solidFill>
                            <a:srgbClr val="7EE687"/>
                          </a:solidFill>
                          <a:latin typeface="Arial"/>
                          <a:cs typeface="Arial"/>
                        </a:rPr>
                        <a:t>BASELINE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25">
                          <a:solidFill>
                            <a:srgbClr val="C8D1D8"/>
                          </a:solidFill>
                          <a:latin typeface="Arial MT"/>
                          <a:cs typeface="Arial MT"/>
                        </a:rPr>
                        <a:t>850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25">
                          <a:solidFill>
                            <a:srgbClr val="C8D1D8"/>
                          </a:solidFill>
                          <a:latin typeface="Arial MT"/>
                          <a:cs typeface="Arial MT"/>
                        </a:rPr>
                        <a:t>150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25">
                          <a:solidFill>
                            <a:srgbClr val="C8D1D8"/>
                          </a:solidFill>
                          <a:latin typeface="Arial MT"/>
                          <a:cs typeface="Arial MT"/>
                        </a:rPr>
                        <a:t>693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247650">
                        <a:lnSpc>
                          <a:spcPct val="116700"/>
                        </a:lnSpc>
                        <a:spcBef>
                          <a:spcPts val="380"/>
                        </a:spcBef>
                      </a:pPr>
                      <a:r>
                        <a:rPr dirty="0" sz="950" spc="-10">
                          <a:solidFill>
                            <a:srgbClr val="7EE687"/>
                          </a:solidFill>
                          <a:latin typeface="Arial MT"/>
                          <a:cs typeface="Arial MT"/>
                        </a:rPr>
                        <a:t>Optimal </a:t>
                      </a:r>
                      <a:r>
                        <a:rPr dirty="0" sz="950">
                          <a:solidFill>
                            <a:srgbClr val="7EE687"/>
                          </a:solidFill>
                          <a:latin typeface="Arial MT"/>
                          <a:cs typeface="Arial MT"/>
                        </a:rPr>
                        <a:t>balance </a:t>
                      </a:r>
                      <a:r>
                        <a:rPr dirty="0" sz="950" spc="-50">
                          <a:solidFill>
                            <a:srgbClr val="7EE687"/>
                          </a:solidFill>
                          <a:latin typeface="Arial MT"/>
                          <a:cs typeface="Arial MT"/>
                        </a:rPr>
                        <a:t>&amp; </a:t>
                      </a:r>
                      <a:r>
                        <a:rPr dirty="0" sz="950" spc="-10">
                          <a:solidFill>
                            <a:srgbClr val="7EE687"/>
                          </a:solidFill>
                          <a:latin typeface="Arial MT"/>
                          <a:cs typeface="Arial MT"/>
                        </a:rPr>
                        <a:t>clarity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826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10" b="1">
                          <a:solidFill>
                            <a:srgbClr val="C8D1D8"/>
                          </a:solidFill>
                          <a:latin typeface="Arial"/>
                          <a:cs typeface="Arial"/>
                        </a:rPr>
                        <a:t>LARGE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20">
                          <a:solidFill>
                            <a:srgbClr val="C8D1D8"/>
                          </a:solidFill>
                          <a:latin typeface="Arial MT"/>
                          <a:cs typeface="Arial MT"/>
                        </a:rPr>
                        <a:t>1100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25">
                          <a:solidFill>
                            <a:srgbClr val="C8D1D8"/>
                          </a:solidFill>
                          <a:latin typeface="Arial MT"/>
                          <a:cs typeface="Arial MT"/>
                        </a:rPr>
                        <a:t>180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950" spc="-25">
                          <a:solidFill>
                            <a:srgbClr val="C8D1D8"/>
                          </a:solidFill>
                          <a:latin typeface="Arial MT"/>
                          <a:cs typeface="Arial MT"/>
                        </a:rPr>
                        <a:t>530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239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80645" marR="382270">
                        <a:lnSpc>
                          <a:spcPct val="116700"/>
                        </a:lnSpc>
                        <a:spcBef>
                          <a:spcPts val="380"/>
                        </a:spcBef>
                      </a:pPr>
                      <a:r>
                        <a:rPr dirty="0" sz="950" spc="-10">
                          <a:solidFill>
                            <a:srgbClr val="D19921"/>
                          </a:solidFill>
                          <a:latin typeface="Arial MT"/>
                          <a:cs typeface="Arial MT"/>
                        </a:rPr>
                        <a:t>Dilutes specific context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48260">
                    <a:lnL w="9525">
                      <a:solidFill>
                        <a:srgbClr val="2F363D"/>
                      </a:solidFill>
                      <a:prstDash val="solid"/>
                    </a:lnL>
                    <a:lnR w="9525">
                      <a:solidFill>
                        <a:srgbClr val="2F363D"/>
                      </a:solidFill>
                      <a:prstDash val="solid"/>
                    </a:lnR>
                    <a:lnT w="9525">
                      <a:solidFill>
                        <a:srgbClr val="2F363D"/>
                      </a:solidFill>
                      <a:prstDash val="solid"/>
                    </a:lnT>
                    <a:lnB w="9525">
                      <a:solidFill>
                        <a:srgbClr val="2F363D"/>
                      </a:solidFill>
                      <a:prstDash val="solid"/>
                    </a:lnB>
                    <a:solidFill>
                      <a:srgbClr val="161A21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5399975" y="1268636"/>
            <a:ext cx="19062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40" b="1">
                <a:solidFill>
                  <a:srgbClr val="57A5FF"/>
                </a:solidFill>
                <a:latin typeface="Arial"/>
                <a:cs typeface="Arial"/>
              </a:rPr>
              <a:t>Top-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K</a:t>
            </a:r>
            <a:r>
              <a:rPr dirty="0" sz="1300" spc="-2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Tradeoff</a:t>
            </a:r>
            <a:r>
              <a:rPr dirty="0" sz="1300" spc="-1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Analysis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42850" y="1656790"/>
            <a:ext cx="3952240" cy="64135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Small</a:t>
            </a:r>
            <a:r>
              <a:rPr dirty="0" sz="1100" spc="-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K</a:t>
            </a:r>
            <a:r>
              <a:rPr dirty="0" sz="1100" spc="-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(K</a:t>
            </a:r>
            <a:r>
              <a:rPr dirty="0" sz="1100" spc="-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=</a:t>
            </a:r>
            <a:r>
              <a:rPr dirty="0" sz="1100" spc="-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57A5FF"/>
                </a:solidFill>
                <a:latin typeface="Arial"/>
                <a:cs typeface="Arial"/>
              </a:rPr>
              <a:t>3)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355"/>
              </a:spcBef>
            </a:pP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Highly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focused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context;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 minimizes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prompt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token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cost;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risks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missing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 secondary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clinical</a:t>
            </a:r>
            <a:r>
              <a:rPr dirty="0" sz="900" spc="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nuances.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2850" y="2686760"/>
            <a:ext cx="4208145" cy="64135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Large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K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(K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=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57A5FF"/>
                </a:solidFill>
                <a:latin typeface="Arial"/>
                <a:cs typeface="Arial"/>
              </a:rPr>
              <a:t>10)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355"/>
              </a:spcBef>
            </a:pP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Broader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coverage;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higher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recall;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introduces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noise,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repetition,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or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irrelevant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reference lists.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3163" y="4588317"/>
            <a:ext cx="86474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LESSON: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retrieved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evidence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always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better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evidence.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Similarity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score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alone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dirty="0" sz="11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guarantee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clinical</a:t>
            </a:r>
            <a:r>
              <a:rPr dirty="0" sz="11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relevance.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7625" y="1121609"/>
            <a:ext cx="9516745" cy="19050"/>
          </a:xfrm>
          <a:custGeom>
            <a:avLst/>
            <a:gdLst/>
            <a:ahLst/>
            <a:cxnLst/>
            <a:rect l="l" t="t" r="r" b="b"/>
            <a:pathLst>
              <a:path w="9516745" h="19050">
                <a:moveTo>
                  <a:pt x="9516750" y="19050"/>
                </a:moveTo>
                <a:lnTo>
                  <a:pt x="0" y="19050"/>
                </a:lnTo>
                <a:lnTo>
                  <a:pt x="0" y="0"/>
                </a:lnTo>
                <a:lnTo>
                  <a:pt x="9516750" y="0"/>
                </a:lnTo>
                <a:lnTo>
                  <a:pt x="9516750" y="19050"/>
                </a:lnTo>
                <a:close/>
              </a:path>
            </a:pathLst>
          </a:custGeom>
          <a:solidFill>
            <a:srgbClr val="2F3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74924" y="506434"/>
            <a:ext cx="1744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S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L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70" b="1">
                <a:solidFill>
                  <a:srgbClr val="57A5FF"/>
                </a:solidFill>
                <a:latin typeface="Arial"/>
                <a:cs typeface="Arial"/>
              </a:rPr>
              <a:t>IDE</a:t>
            </a:r>
            <a:r>
              <a:rPr dirty="0" sz="900" spc="25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6</a:t>
            </a:r>
            <a:r>
              <a:rPr dirty="0" sz="900" spc="25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—</a:t>
            </a:r>
            <a:r>
              <a:rPr dirty="0" sz="900" spc="25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55" b="1">
                <a:solidFill>
                  <a:srgbClr val="57A5FF"/>
                </a:solidFill>
                <a:latin typeface="Arial"/>
                <a:cs typeface="Arial"/>
              </a:rPr>
              <a:t>OP</a:t>
            </a:r>
            <a:r>
              <a:rPr dirty="0" sz="900" spc="-1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T</a:t>
            </a:r>
            <a:r>
              <a:rPr dirty="0" sz="900" spc="-1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50" b="1">
                <a:solidFill>
                  <a:srgbClr val="57A5FF"/>
                </a:solidFill>
                <a:latin typeface="Arial"/>
                <a:cs typeface="Arial"/>
              </a:rPr>
              <a:t>IM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IZ</a:t>
            </a:r>
            <a:r>
              <a:rPr dirty="0" sz="900" spc="-1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AT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45" b="1">
                <a:solidFill>
                  <a:srgbClr val="57A5FF"/>
                </a:solidFill>
                <a:latin typeface="Arial"/>
                <a:cs typeface="Arial"/>
              </a:rPr>
              <a:t>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Optimizing</a:t>
            </a:r>
            <a:r>
              <a:rPr dirty="0" spc="-50"/>
              <a:t> </a:t>
            </a:r>
            <a:r>
              <a:rPr dirty="0"/>
              <a:t>Chunking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/>
              <a:t>Context</a:t>
            </a:r>
            <a:r>
              <a:rPr dirty="0" spc="-50"/>
              <a:t> </a:t>
            </a:r>
            <a:r>
              <a:rPr dirty="0" spc="-10"/>
              <a:t>Window</a:t>
            </a:r>
          </a:p>
        </p:txBody>
      </p:sp>
      <p:sp>
        <p:nvSpPr>
          <p:cNvPr id="18" name="object 18"/>
          <p:cNvSpPr/>
          <p:nvPr/>
        </p:nvSpPr>
        <p:spPr>
          <a:xfrm>
            <a:off x="540000" y="6703084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2126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7625" y="1283534"/>
            <a:ext cx="9516745" cy="2314575"/>
            <a:chOff x="587625" y="1283534"/>
            <a:chExt cx="9516745" cy="2314575"/>
          </a:xfrm>
        </p:grpSpPr>
        <p:sp>
          <p:nvSpPr>
            <p:cNvPr id="3" name="object 3"/>
            <p:cNvSpPr/>
            <p:nvPr/>
          </p:nvSpPr>
          <p:spPr>
            <a:xfrm>
              <a:off x="587625" y="1283534"/>
              <a:ext cx="9516745" cy="2314575"/>
            </a:xfrm>
            <a:custGeom>
              <a:avLst/>
              <a:gdLst/>
              <a:ahLst/>
              <a:cxnLst/>
              <a:rect l="l" t="t" r="r" b="b"/>
              <a:pathLst>
                <a:path w="9516745" h="2314575">
                  <a:moveTo>
                    <a:pt x="9459600" y="2314575"/>
                  </a:moveTo>
                  <a:lnTo>
                    <a:pt x="57150" y="2314575"/>
                  </a:lnTo>
                  <a:lnTo>
                    <a:pt x="34959" y="2310065"/>
                  </a:lnTo>
                  <a:lnTo>
                    <a:pt x="16787" y="2297787"/>
                  </a:lnTo>
                  <a:lnTo>
                    <a:pt x="4509" y="2279615"/>
                  </a:lnTo>
                  <a:lnTo>
                    <a:pt x="0" y="225742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9459600" y="0"/>
                  </a:lnTo>
                  <a:lnTo>
                    <a:pt x="9481790" y="4509"/>
                  </a:lnTo>
                  <a:lnTo>
                    <a:pt x="9499962" y="16787"/>
                  </a:lnTo>
                  <a:lnTo>
                    <a:pt x="9512240" y="34959"/>
                  </a:lnTo>
                  <a:lnTo>
                    <a:pt x="9516750" y="57150"/>
                  </a:lnTo>
                  <a:lnTo>
                    <a:pt x="9516750" y="2257425"/>
                  </a:lnTo>
                  <a:lnTo>
                    <a:pt x="9512240" y="2279615"/>
                  </a:lnTo>
                  <a:lnTo>
                    <a:pt x="9499962" y="2297787"/>
                  </a:lnTo>
                  <a:lnTo>
                    <a:pt x="9481790" y="2310065"/>
                  </a:lnTo>
                  <a:lnTo>
                    <a:pt x="9459600" y="2314575"/>
                  </a:lnTo>
                  <a:close/>
                </a:path>
              </a:pathLst>
            </a:custGeom>
            <a:solidFill>
              <a:srgbClr val="0103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87625" y="1283534"/>
              <a:ext cx="9516745" cy="2314575"/>
            </a:xfrm>
            <a:custGeom>
              <a:avLst/>
              <a:gdLst/>
              <a:ahLst/>
              <a:cxnLst/>
              <a:rect l="l" t="t" r="r" b="b"/>
              <a:pathLst>
                <a:path w="9516745" h="2314575">
                  <a:moveTo>
                    <a:pt x="9459600" y="2314575"/>
                  </a:moveTo>
                  <a:lnTo>
                    <a:pt x="57150" y="2314575"/>
                  </a:lnTo>
                  <a:lnTo>
                    <a:pt x="34959" y="2310065"/>
                  </a:lnTo>
                  <a:lnTo>
                    <a:pt x="16787" y="2297787"/>
                  </a:lnTo>
                  <a:lnTo>
                    <a:pt x="4509" y="2279615"/>
                  </a:lnTo>
                  <a:lnTo>
                    <a:pt x="0" y="225742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9459600" y="0"/>
                  </a:lnTo>
                  <a:lnTo>
                    <a:pt x="9481790" y="4509"/>
                  </a:lnTo>
                  <a:lnTo>
                    <a:pt x="9489213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2257425"/>
                  </a:lnTo>
                  <a:lnTo>
                    <a:pt x="13282" y="2275916"/>
                  </a:lnTo>
                  <a:lnTo>
                    <a:pt x="23514" y="2291060"/>
                  </a:lnTo>
                  <a:lnTo>
                    <a:pt x="38658" y="2301292"/>
                  </a:lnTo>
                  <a:lnTo>
                    <a:pt x="57150" y="2305050"/>
                  </a:lnTo>
                  <a:lnTo>
                    <a:pt x="9489213" y="2305050"/>
                  </a:lnTo>
                  <a:lnTo>
                    <a:pt x="9481790" y="2310065"/>
                  </a:lnTo>
                  <a:lnTo>
                    <a:pt x="9459600" y="2314575"/>
                  </a:lnTo>
                  <a:close/>
                </a:path>
                <a:path w="9516745" h="2314575">
                  <a:moveTo>
                    <a:pt x="9489213" y="2305050"/>
                  </a:moveTo>
                  <a:lnTo>
                    <a:pt x="9459600" y="2305050"/>
                  </a:lnTo>
                  <a:lnTo>
                    <a:pt x="9478092" y="2301292"/>
                  </a:lnTo>
                  <a:lnTo>
                    <a:pt x="9493235" y="2291060"/>
                  </a:lnTo>
                  <a:lnTo>
                    <a:pt x="9503467" y="2275916"/>
                  </a:lnTo>
                  <a:lnTo>
                    <a:pt x="9507225" y="2257425"/>
                  </a:lnTo>
                  <a:lnTo>
                    <a:pt x="9507225" y="57150"/>
                  </a:lnTo>
                  <a:lnTo>
                    <a:pt x="9503467" y="38658"/>
                  </a:lnTo>
                  <a:lnTo>
                    <a:pt x="9493235" y="23514"/>
                  </a:lnTo>
                  <a:lnTo>
                    <a:pt x="9478092" y="13282"/>
                  </a:lnTo>
                  <a:lnTo>
                    <a:pt x="9459600" y="9525"/>
                  </a:lnTo>
                  <a:lnTo>
                    <a:pt x="9489213" y="9525"/>
                  </a:lnTo>
                  <a:lnTo>
                    <a:pt x="9499962" y="16787"/>
                  </a:lnTo>
                  <a:lnTo>
                    <a:pt x="9512240" y="34959"/>
                  </a:lnTo>
                  <a:lnTo>
                    <a:pt x="9516750" y="57150"/>
                  </a:lnTo>
                  <a:lnTo>
                    <a:pt x="9516750" y="2257425"/>
                  </a:lnTo>
                  <a:lnTo>
                    <a:pt x="9512240" y="2279615"/>
                  </a:lnTo>
                  <a:lnTo>
                    <a:pt x="9499962" y="2297787"/>
                  </a:lnTo>
                  <a:lnTo>
                    <a:pt x="9489213" y="2305050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692400" y="3798134"/>
            <a:ext cx="3026410" cy="892810"/>
            <a:chOff x="692400" y="3798134"/>
            <a:chExt cx="3026410" cy="892810"/>
          </a:xfrm>
        </p:grpSpPr>
        <p:sp>
          <p:nvSpPr>
            <p:cNvPr id="6" name="object 6"/>
            <p:cNvSpPr/>
            <p:nvPr/>
          </p:nvSpPr>
          <p:spPr>
            <a:xfrm>
              <a:off x="692400" y="3798134"/>
              <a:ext cx="3026410" cy="892810"/>
            </a:xfrm>
            <a:custGeom>
              <a:avLst/>
              <a:gdLst/>
              <a:ahLst/>
              <a:cxnLst/>
              <a:rect l="l" t="t" r="r" b="b"/>
              <a:pathLst>
                <a:path w="3026410" h="892810">
                  <a:moveTo>
                    <a:pt x="2950000" y="892722"/>
                  </a:moveTo>
                  <a:lnTo>
                    <a:pt x="76200" y="892722"/>
                  </a:lnTo>
                  <a:lnTo>
                    <a:pt x="46612" y="886710"/>
                  </a:lnTo>
                  <a:lnTo>
                    <a:pt x="22383" y="870339"/>
                  </a:lnTo>
                  <a:lnTo>
                    <a:pt x="6012" y="846109"/>
                  </a:lnTo>
                  <a:lnTo>
                    <a:pt x="0" y="816522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816522"/>
                  </a:lnTo>
                  <a:lnTo>
                    <a:pt x="3020187" y="846109"/>
                  </a:lnTo>
                  <a:lnTo>
                    <a:pt x="3003816" y="870339"/>
                  </a:lnTo>
                  <a:lnTo>
                    <a:pt x="2979587" y="886710"/>
                  </a:lnTo>
                  <a:lnTo>
                    <a:pt x="2950000" y="892722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92400" y="3798134"/>
              <a:ext cx="3026410" cy="892810"/>
            </a:xfrm>
            <a:custGeom>
              <a:avLst/>
              <a:gdLst/>
              <a:ahLst/>
              <a:cxnLst/>
              <a:rect l="l" t="t" r="r" b="b"/>
              <a:pathLst>
                <a:path w="3026410" h="892810">
                  <a:moveTo>
                    <a:pt x="2950000" y="892722"/>
                  </a:moveTo>
                  <a:lnTo>
                    <a:pt x="76200" y="892722"/>
                  </a:lnTo>
                  <a:lnTo>
                    <a:pt x="46612" y="886710"/>
                  </a:lnTo>
                  <a:lnTo>
                    <a:pt x="22383" y="870339"/>
                  </a:lnTo>
                  <a:lnTo>
                    <a:pt x="6012" y="846109"/>
                  </a:lnTo>
                  <a:lnTo>
                    <a:pt x="0" y="816522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29847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816522"/>
                  </a:lnTo>
                  <a:lnTo>
                    <a:pt x="14786" y="842411"/>
                  </a:lnTo>
                  <a:lnTo>
                    <a:pt x="29110" y="863612"/>
                  </a:lnTo>
                  <a:lnTo>
                    <a:pt x="50311" y="877936"/>
                  </a:lnTo>
                  <a:lnTo>
                    <a:pt x="76200" y="883197"/>
                  </a:lnTo>
                  <a:lnTo>
                    <a:pt x="2984785" y="883197"/>
                  </a:lnTo>
                  <a:lnTo>
                    <a:pt x="2979587" y="886710"/>
                  </a:lnTo>
                  <a:lnTo>
                    <a:pt x="2950000" y="892722"/>
                  </a:lnTo>
                  <a:close/>
                </a:path>
                <a:path w="3026410" h="892810">
                  <a:moveTo>
                    <a:pt x="2984785" y="883197"/>
                  </a:moveTo>
                  <a:lnTo>
                    <a:pt x="2950000" y="883197"/>
                  </a:lnTo>
                  <a:lnTo>
                    <a:pt x="2975888" y="877936"/>
                  </a:lnTo>
                  <a:lnTo>
                    <a:pt x="2997089" y="863612"/>
                  </a:lnTo>
                  <a:lnTo>
                    <a:pt x="3011414" y="842411"/>
                  </a:lnTo>
                  <a:lnTo>
                    <a:pt x="3016675" y="816522"/>
                  </a:lnTo>
                  <a:lnTo>
                    <a:pt x="3016675" y="76200"/>
                  </a:lnTo>
                  <a:lnTo>
                    <a:pt x="3011414" y="50311"/>
                  </a:lnTo>
                  <a:lnTo>
                    <a:pt x="2997089" y="29110"/>
                  </a:lnTo>
                  <a:lnTo>
                    <a:pt x="2975888" y="14786"/>
                  </a:lnTo>
                  <a:lnTo>
                    <a:pt x="2950000" y="9525"/>
                  </a:lnTo>
                  <a:lnTo>
                    <a:pt x="2984785" y="9525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816522"/>
                  </a:lnTo>
                  <a:lnTo>
                    <a:pt x="3020187" y="846109"/>
                  </a:lnTo>
                  <a:lnTo>
                    <a:pt x="3003816" y="870339"/>
                  </a:lnTo>
                  <a:lnTo>
                    <a:pt x="2984785" y="883197"/>
                  </a:lnTo>
                  <a:close/>
                </a:path>
              </a:pathLst>
            </a:custGeom>
            <a:solidFill>
              <a:srgbClr val="F7504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832900" y="3798134"/>
            <a:ext cx="3026410" cy="892810"/>
            <a:chOff x="3832900" y="3798134"/>
            <a:chExt cx="3026410" cy="892810"/>
          </a:xfrm>
        </p:grpSpPr>
        <p:sp>
          <p:nvSpPr>
            <p:cNvPr id="9" name="object 9"/>
            <p:cNvSpPr/>
            <p:nvPr/>
          </p:nvSpPr>
          <p:spPr>
            <a:xfrm>
              <a:off x="3832900" y="3798134"/>
              <a:ext cx="3026410" cy="892810"/>
            </a:xfrm>
            <a:custGeom>
              <a:avLst/>
              <a:gdLst/>
              <a:ahLst/>
              <a:cxnLst/>
              <a:rect l="l" t="t" r="r" b="b"/>
              <a:pathLst>
                <a:path w="3026409" h="892810">
                  <a:moveTo>
                    <a:pt x="2950000" y="892722"/>
                  </a:moveTo>
                  <a:lnTo>
                    <a:pt x="76200" y="892722"/>
                  </a:lnTo>
                  <a:lnTo>
                    <a:pt x="46612" y="886710"/>
                  </a:lnTo>
                  <a:lnTo>
                    <a:pt x="22383" y="870339"/>
                  </a:lnTo>
                  <a:lnTo>
                    <a:pt x="6012" y="846109"/>
                  </a:lnTo>
                  <a:lnTo>
                    <a:pt x="0" y="816522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816522"/>
                  </a:lnTo>
                  <a:lnTo>
                    <a:pt x="3020187" y="846109"/>
                  </a:lnTo>
                  <a:lnTo>
                    <a:pt x="3003816" y="870339"/>
                  </a:lnTo>
                  <a:lnTo>
                    <a:pt x="2979587" y="886710"/>
                  </a:lnTo>
                  <a:lnTo>
                    <a:pt x="2950000" y="892722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32900" y="3798134"/>
              <a:ext cx="3026410" cy="892810"/>
            </a:xfrm>
            <a:custGeom>
              <a:avLst/>
              <a:gdLst/>
              <a:ahLst/>
              <a:cxnLst/>
              <a:rect l="l" t="t" r="r" b="b"/>
              <a:pathLst>
                <a:path w="3026409" h="892810">
                  <a:moveTo>
                    <a:pt x="2950000" y="892722"/>
                  </a:moveTo>
                  <a:lnTo>
                    <a:pt x="76200" y="892722"/>
                  </a:lnTo>
                  <a:lnTo>
                    <a:pt x="46612" y="886710"/>
                  </a:lnTo>
                  <a:lnTo>
                    <a:pt x="22383" y="870339"/>
                  </a:lnTo>
                  <a:lnTo>
                    <a:pt x="6012" y="846109"/>
                  </a:lnTo>
                  <a:lnTo>
                    <a:pt x="0" y="816522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29847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816522"/>
                  </a:lnTo>
                  <a:lnTo>
                    <a:pt x="14786" y="842411"/>
                  </a:lnTo>
                  <a:lnTo>
                    <a:pt x="29110" y="863612"/>
                  </a:lnTo>
                  <a:lnTo>
                    <a:pt x="50311" y="877936"/>
                  </a:lnTo>
                  <a:lnTo>
                    <a:pt x="76200" y="883197"/>
                  </a:lnTo>
                  <a:lnTo>
                    <a:pt x="2984785" y="883197"/>
                  </a:lnTo>
                  <a:lnTo>
                    <a:pt x="2979587" y="886710"/>
                  </a:lnTo>
                  <a:lnTo>
                    <a:pt x="2950000" y="892722"/>
                  </a:lnTo>
                  <a:close/>
                </a:path>
                <a:path w="3026409" h="892810">
                  <a:moveTo>
                    <a:pt x="2984785" y="883197"/>
                  </a:moveTo>
                  <a:lnTo>
                    <a:pt x="2950000" y="883197"/>
                  </a:lnTo>
                  <a:lnTo>
                    <a:pt x="2975888" y="877936"/>
                  </a:lnTo>
                  <a:lnTo>
                    <a:pt x="2997089" y="863612"/>
                  </a:lnTo>
                  <a:lnTo>
                    <a:pt x="3011414" y="842411"/>
                  </a:lnTo>
                  <a:lnTo>
                    <a:pt x="3016675" y="816522"/>
                  </a:lnTo>
                  <a:lnTo>
                    <a:pt x="3016675" y="76200"/>
                  </a:lnTo>
                  <a:lnTo>
                    <a:pt x="3011414" y="50311"/>
                  </a:lnTo>
                  <a:lnTo>
                    <a:pt x="2997089" y="29110"/>
                  </a:lnTo>
                  <a:lnTo>
                    <a:pt x="2975888" y="14786"/>
                  </a:lnTo>
                  <a:lnTo>
                    <a:pt x="2950000" y="9525"/>
                  </a:lnTo>
                  <a:lnTo>
                    <a:pt x="2984785" y="9525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816522"/>
                  </a:lnTo>
                  <a:lnTo>
                    <a:pt x="3020187" y="846109"/>
                  </a:lnTo>
                  <a:lnTo>
                    <a:pt x="3003816" y="870339"/>
                  </a:lnTo>
                  <a:lnTo>
                    <a:pt x="2984785" y="883197"/>
                  </a:lnTo>
                  <a:close/>
                </a:path>
              </a:pathLst>
            </a:custGeom>
            <a:solidFill>
              <a:srgbClr val="D1992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6973399" y="3798134"/>
            <a:ext cx="3026410" cy="892810"/>
            <a:chOff x="6973399" y="3798134"/>
            <a:chExt cx="3026410" cy="892810"/>
          </a:xfrm>
        </p:grpSpPr>
        <p:sp>
          <p:nvSpPr>
            <p:cNvPr id="12" name="object 12"/>
            <p:cNvSpPr/>
            <p:nvPr/>
          </p:nvSpPr>
          <p:spPr>
            <a:xfrm>
              <a:off x="6973399" y="3798134"/>
              <a:ext cx="3026410" cy="892810"/>
            </a:xfrm>
            <a:custGeom>
              <a:avLst/>
              <a:gdLst/>
              <a:ahLst/>
              <a:cxnLst/>
              <a:rect l="l" t="t" r="r" b="b"/>
              <a:pathLst>
                <a:path w="3026409" h="892810">
                  <a:moveTo>
                    <a:pt x="2950000" y="892722"/>
                  </a:moveTo>
                  <a:lnTo>
                    <a:pt x="76200" y="892722"/>
                  </a:lnTo>
                  <a:lnTo>
                    <a:pt x="46612" y="886710"/>
                  </a:lnTo>
                  <a:lnTo>
                    <a:pt x="22383" y="870339"/>
                  </a:lnTo>
                  <a:lnTo>
                    <a:pt x="6012" y="846109"/>
                  </a:lnTo>
                  <a:lnTo>
                    <a:pt x="0" y="816522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816522"/>
                  </a:lnTo>
                  <a:lnTo>
                    <a:pt x="3020187" y="846109"/>
                  </a:lnTo>
                  <a:lnTo>
                    <a:pt x="3003816" y="870339"/>
                  </a:lnTo>
                  <a:lnTo>
                    <a:pt x="2979587" y="886710"/>
                  </a:lnTo>
                  <a:lnTo>
                    <a:pt x="2950000" y="892722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973399" y="3798134"/>
              <a:ext cx="3026410" cy="892810"/>
            </a:xfrm>
            <a:custGeom>
              <a:avLst/>
              <a:gdLst/>
              <a:ahLst/>
              <a:cxnLst/>
              <a:rect l="l" t="t" r="r" b="b"/>
              <a:pathLst>
                <a:path w="3026409" h="892810">
                  <a:moveTo>
                    <a:pt x="2950000" y="892722"/>
                  </a:moveTo>
                  <a:lnTo>
                    <a:pt x="76200" y="892722"/>
                  </a:lnTo>
                  <a:lnTo>
                    <a:pt x="46612" y="886710"/>
                  </a:lnTo>
                  <a:lnTo>
                    <a:pt x="22383" y="870339"/>
                  </a:lnTo>
                  <a:lnTo>
                    <a:pt x="6012" y="846109"/>
                  </a:lnTo>
                  <a:lnTo>
                    <a:pt x="0" y="816522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29847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816522"/>
                  </a:lnTo>
                  <a:lnTo>
                    <a:pt x="14786" y="842411"/>
                  </a:lnTo>
                  <a:lnTo>
                    <a:pt x="29110" y="863612"/>
                  </a:lnTo>
                  <a:lnTo>
                    <a:pt x="50311" y="877936"/>
                  </a:lnTo>
                  <a:lnTo>
                    <a:pt x="76200" y="883197"/>
                  </a:lnTo>
                  <a:lnTo>
                    <a:pt x="2984785" y="883197"/>
                  </a:lnTo>
                  <a:lnTo>
                    <a:pt x="2979587" y="886710"/>
                  </a:lnTo>
                  <a:lnTo>
                    <a:pt x="2950000" y="892722"/>
                  </a:lnTo>
                  <a:close/>
                </a:path>
                <a:path w="3026409" h="892810">
                  <a:moveTo>
                    <a:pt x="2984785" y="883197"/>
                  </a:moveTo>
                  <a:lnTo>
                    <a:pt x="2950000" y="883197"/>
                  </a:lnTo>
                  <a:lnTo>
                    <a:pt x="2975888" y="877936"/>
                  </a:lnTo>
                  <a:lnTo>
                    <a:pt x="2997089" y="863612"/>
                  </a:lnTo>
                  <a:lnTo>
                    <a:pt x="3011414" y="842411"/>
                  </a:lnTo>
                  <a:lnTo>
                    <a:pt x="3016675" y="816522"/>
                  </a:lnTo>
                  <a:lnTo>
                    <a:pt x="3016675" y="76200"/>
                  </a:lnTo>
                  <a:lnTo>
                    <a:pt x="3011414" y="50311"/>
                  </a:lnTo>
                  <a:lnTo>
                    <a:pt x="2997089" y="29110"/>
                  </a:lnTo>
                  <a:lnTo>
                    <a:pt x="2975888" y="14786"/>
                  </a:lnTo>
                  <a:lnTo>
                    <a:pt x="2950000" y="9525"/>
                  </a:lnTo>
                  <a:lnTo>
                    <a:pt x="2984785" y="9525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816522"/>
                  </a:lnTo>
                  <a:lnTo>
                    <a:pt x="3020187" y="846109"/>
                  </a:lnTo>
                  <a:lnTo>
                    <a:pt x="3003816" y="870339"/>
                  </a:lnTo>
                  <a:lnTo>
                    <a:pt x="2984785" y="883197"/>
                  </a:lnTo>
                  <a:close/>
                </a:path>
              </a:pathLst>
            </a:custGeom>
            <a:solidFill>
              <a:srgbClr val="2DA04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587625" y="4890882"/>
            <a:ext cx="9516745" cy="679450"/>
            <a:chOff x="587625" y="4890882"/>
            <a:chExt cx="9516745" cy="679450"/>
          </a:xfrm>
        </p:grpSpPr>
        <p:sp>
          <p:nvSpPr>
            <p:cNvPr id="15" name="object 15"/>
            <p:cNvSpPr/>
            <p:nvPr/>
          </p:nvSpPr>
          <p:spPr>
            <a:xfrm>
              <a:off x="587625" y="4890882"/>
              <a:ext cx="9516745" cy="679450"/>
            </a:xfrm>
            <a:custGeom>
              <a:avLst/>
              <a:gdLst/>
              <a:ahLst/>
              <a:cxnLst/>
              <a:rect l="l" t="t" r="r" b="b"/>
              <a:pathLst>
                <a:path w="9516745" h="679450">
                  <a:moveTo>
                    <a:pt x="9440550" y="679450"/>
                  </a:moveTo>
                  <a:lnTo>
                    <a:pt x="76200" y="679450"/>
                  </a:lnTo>
                  <a:lnTo>
                    <a:pt x="46612" y="673437"/>
                  </a:lnTo>
                  <a:lnTo>
                    <a:pt x="22383" y="657066"/>
                  </a:lnTo>
                  <a:lnTo>
                    <a:pt x="6012" y="632837"/>
                  </a:lnTo>
                  <a:lnTo>
                    <a:pt x="0" y="6032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440550" y="0"/>
                  </a:lnTo>
                  <a:lnTo>
                    <a:pt x="9470137" y="6012"/>
                  </a:lnTo>
                  <a:lnTo>
                    <a:pt x="9494366" y="22383"/>
                  </a:lnTo>
                  <a:lnTo>
                    <a:pt x="9510737" y="46612"/>
                  </a:lnTo>
                  <a:lnTo>
                    <a:pt x="9516750" y="76200"/>
                  </a:lnTo>
                  <a:lnTo>
                    <a:pt x="9516750" y="603250"/>
                  </a:lnTo>
                  <a:lnTo>
                    <a:pt x="9510737" y="632837"/>
                  </a:lnTo>
                  <a:lnTo>
                    <a:pt x="9494366" y="657066"/>
                  </a:lnTo>
                  <a:lnTo>
                    <a:pt x="9470137" y="673437"/>
                  </a:lnTo>
                  <a:lnTo>
                    <a:pt x="9440550" y="67945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87625" y="4890882"/>
              <a:ext cx="9516745" cy="679450"/>
            </a:xfrm>
            <a:custGeom>
              <a:avLst/>
              <a:gdLst/>
              <a:ahLst/>
              <a:cxnLst/>
              <a:rect l="l" t="t" r="r" b="b"/>
              <a:pathLst>
                <a:path w="9516745" h="679450">
                  <a:moveTo>
                    <a:pt x="9440550" y="679450"/>
                  </a:moveTo>
                  <a:lnTo>
                    <a:pt x="76200" y="679450"/>
                  </a:lnTo>
                  <a:lnTo>
                    <a:pt x="46612" y="673437"/>
                  </a:lnTo>
                  <a:lnTo>
                    <a:pt x="22383" y="657066"/>
                  </a:lnTo>
                  <a:lnTo>
                    <a:pt x="6012" y="632837"/>
                  </a:lnTo>
                  <a:lnTo>
                    <a:pt x="0" y="6032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440550" y="0"/>
                  </a:lnTo>
                  <a:lnTo>
                    <a:pt x="9470137" y="6012"/>
                  </a:lnTo>
                  <a:lnTo>
                    <a:pt x="947533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603250"/>
                  </a:lnTo>
                  <a:lnTo>
                    <a:pt x="14786" y="629138"/>
                  </a:lnTo>
                  <a:lnTo>
                    <a:pt x="29110" y="650339"/>
                  </a:lnTo>
                  <a:lnTo>
                    <a:pt x="50311" y="664663"/>
                  </a:lnTo>
                  <a:lnTo>
                    <a:pt x="76200" y="669925"/>
                  </a:lnTo>
                  <a:lnTo>
                    <a:pt x="9475335" y="669925"/>
                  </a:lnTo>
                  <a:lnTo>
                    <a:pt x="9470137" y="673437"/>
                  </a:lnTo>
                  <a:lnTo>
                    <a:pt x="9440550" y="679450"/>
                  </a:lnTo>
                  <a:close/>
                </a:path>
                <a:path w="9516745" h="679450">
                  <a:moveTo>
                    <a:pt x="9475335" y="669925"/>
                  </a:moveTo>
                  <a:lnTo>
                    <a:pt x="9440550" y="669925"/>
                  </a:lnTo>
                  <a:lnTo>
                    <a:pt x="9466438" y="664663"/>
                  </a:lnTo>
                  <a:lnTo>
                    <a:pt x="9487639" y="650339"/>
                  </a:lnTo>
                  <a:lnTo>
                    <a:pt x="9501964" y="629138"/>
                  </a:lnTo>
                  <a:lnTo>
                    <a:pt x="9507225" y="603250"/>
                  </a:lnTo>
                  <a:lnTo>
                    <a:pt x="9507225" y="76200"/>
                  </a:lnTo>
                  <a:lnTo>
                    <a:pt x="9501964" y="50311"/>
                  </a:lnTo>
                  <a:lnTo>
                    <a:pt x="9487639" y="29110"/>
                  </a:lnTo>
                  <a:lnTo>
                    <a:pt x="9466438" y="14786"/>
                  </a:lnTo>
                  <a:lnTo>
                    <a:pt x="9440550" y="9525"/>
                  </a:lnTo>
                  <a:lnTo>
                    <a:pt x="9475335" y="9525"/>
                  </a:lnTo>
                  <a:lnTo>
                    <a:pt x="9494366" y="22383"/>
                  </a:lnTo>
                  <a:lnTo>
                    <a:pt x="9510737" y="46612"/>
                  </a:lnTo>
                  <a:lnTo>
                    <a:pt x="9516750" y="76200"/>
                  </a:lnTo>
                  <a:lnTo>
                    <a:pt x="9516750" y="603250"/>
                  </a:lnTo>
                  <a:lnTo>
                    <a:pt x="9510737" y="632837"/>
                  </a:lnTo>
                  <a:lnTo>
                    <a:pt x="9494366" y="657066"/>
                  </a:lnTo>
                  <a:lnTo>
                    <a:pt x="9475335" y="66992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940473" y="1496090"/>
            <a:ext cx="3782695" cy="11480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┌────────────────────────────────────────────────────────┐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1113155" algn="l"/>
                <a:tab pos="3703954" algn="l"/>
              </a:tabLst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	Incoming</a:t>
            </a:r>
            <a:r>
              <a:rPr dirty="0" sz="850" spc="-6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User</a:t>
            </a:r>
            <a:r>
              <a:rPr dirty="0" sz="850" spc="-6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Question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	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└───────────────────────────┬────────────────────────────┘</a:t>
            </a:r>
            <a:endParaRPr sz="850">
              <a:latin typeface="Courier New"/>
              <a:cs typeface="Courier New"/>
            </a:endParaRPr>
          </a:p>
          <a:p>
            <a:pPr marL="2765425">
              <a:lnSpc>
                <a:spcPct val="100000"/>
              </a:lnSpc>
              <a:spcBef>
                <a:spcPts val="85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2765425">
              <a:lnSpc>
                <a:spcPct val="100000"/>
              </a:lnSpc>
              <a:spcBef>
                <a:spcPts val="85"/>
              </a:spcBef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▼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┌────────────────────────────────────────────────────────┐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1048385" algn="l"/>
                <a:tab pos="3703954" algn="l"/>
              </a:tabLst>
            </a:pP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	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Pattern-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Based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Safety</a:t>
            </a:r>
            <a:r>
              <a:rPr dirty="0" sz="850" spc="-1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7EE687"/>
                </a:solidFill>
                <a:latin typeface="Courier New"/>
                <a:cs typeface="Courier New"/>
              </a:rPr>
              <a:t>Gate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	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│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└───────────┬───────────────────┬────────────────────────┘</a:t>
            </a:r>
            <a:endParaRPr sz="850">
              <a:latin typeface="Courier New"/>
              <a:cs typeface="Courier New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3338448" y="2660345"/>
          <a:ext cx="4942205" cy="821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2380"/>
                <a:gridCol w="398144"/>
                <a:gridCol w="97155"/>
                <a:gridCol w="712469"/>
                <a:gridCol w="518160"/>
                <a:gridCol w="307975"/>
                <a:gridCol w="340360"/>
                <a:gridCol w="454025"/>
                <a:gridCol w="583564"/>
                <a:gridCol w="194310"/>
              </a:tblGrid>
              <a:tr h="13081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3390">
                        <a:lnSpc>
                          <a:spcPts val="88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88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0335">
                <a:tc>
                  <a:txBody>
                    <a:bodyPr/>
                    <a:lstStyle/>
                    <a:p>
                      <a:pPr marL="31750">
                        <a:lnSpc>
                          <a:spcPts val="950"/>
                        </a:lnSpc>
                      </a:pP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CRISIS</a:t>
                      </a:r>
                      <a:r>
                        <a:rPr dirty="0" sz="850" spc="-4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PATTERN</a:t>
                      </a: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]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50"/>
                        </a:lnSpc>
                      </a:pP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MEDICATION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950"/>
                        </a:lnSpc>
                      </a:pP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PATTERN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95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400">
                        <a:lnSpc>
                          <a:spcPts val="95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50"/>
                        </a:lnSpc>
                      </a:pP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NORMAL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50"/>
                        </a:lnSpc>
                      </a:pP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CLINICAL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95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139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4769" marR="3175">
                        <a:lnSpc>
                          <a:spcPts val="95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95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4769">
                        <a:lnSpc>
                          <a:spcPts val="950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3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4769" marR="3175">
                        <a:lnSpc>
                          <a:spcPts val="93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▼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93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▼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4769">
                        <a:lnSpc>
                          <a:spcPts val="935"/>
                        </a:lnSpc>
                      </a:pPr>
                      <a:r>
                        <a:rPr dirty="0" sz="850" spc="-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▼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49225">
                <a:tc gridSpan="2">
                  <a:txBody>
                    <a:bodyPr/>
                    <a:lstStyle/>
                    <a:p>
                      <a:pPr marL="354965" marR="3175">
                        <a:lnSpc>
                          <a:spcPct val="100000"/>
                        </a:lnSpc>
                      </a:pP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Immediate</a:t>
                      </a:r>
                      <a:r>
                        <a:rPr dirty="0" sz="850" spc="-7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Risk</a:t>
                      </a:r>
                      <a:r>
                        <a:rPr dirty="0" sz="850" spc="-6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 spc="-2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Msg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</a:pP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Educational</a:t>
                      </a:r>
                      <a:r>
                        <a:rPr dirty="0" sz="850" spc="-114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Advice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</a:pP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RAG</a:t>
                      </a:r>
                      <a:r>
                        <a:rPr dirty="0" sz="850" spc="-6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Retrieval</a:t>
                      </a:r>
                      <a:r>
                        <a:rPr dirty="0" sz="850" spc="-6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Pipeline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0810">
                <a:tc gridSpan="2">
                  <a:txBody>
                    <a:bodyPr/>
                    <a:lstStyle/>
                    <a:p>
                      <a:pPr marL="485140">
                        <a:lnSpc>
                          <a:spcPts val="935"/>
                        </a:lnSpc>
                      </a:pP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(No</a:t>
                      </a:r>
                      <a:r>
                        <a:rPr dirty="0" sz="850" spc="-3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RAG</a:t>
                      </a:r>
                      <a:r>
                        <a:rPr dirty="0" sz="850" spc="-3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execution)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323850">
                        <a:lnSpc>
                          <a:spcPts val="935"/>
                        </a:lnSpc>
                      </a:pP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(No</a:t>
                      </a:r>
                      <a:r>
                        <a:rPr dirty="0" sz="850" spc="-3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prescription)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307340">
                        <a:lnSpc>
                          <a:spcPts val="935"/>
                        </a:lnSpc>
                      </a:pPr>
                      <a:r>
                        <a:rPr dirty="0" sz="85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(Full</a:t>
                      </a:r>
                      <a:r>
                        <a:rPr dirty="0" sz="850" spc="-55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850" spc="-10">
                          <a:solidFill>
                            <a:srgbClr val="7EE687"/>
                          </a:solidFill>
                          <a:latin typeface="Courier New"/>
                          <a:cs typeface="Courier New"/>
                        </a:rPr>
                        <a:t>Generation)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224" y="3923600"/>
            <a:ext cx="184796" cy="17392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03524" y="3824848"/>
            <a:ext cx="2763520" cy="63055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225425">
              <a:lnSpc>
                <a:spcPct val="100000"/>
              </a:lnSpc>
              <a:spcBef>
                <a:spcPts val="795"/>
              </a:spcBef>
            </a:pPr>
            <a:r>
              <a:rPr dirty="0" sz="1100" b="1">
                <a:solidFill>
                  <a:srgbClr val="F75049"/>
                </a:solidFill>
                <a:latin typeface="Arial"/>
                <a:cs typeface="Arial"/>
              </a:rPr>
              <a:t>Crisis</a:t>
            </a:r>
            <a:r>
              <a:rPr dirty="0" sz="1100" spc="-25" b="1">
                <a:solidFill>
                  <a:srgbClr val="F7504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75049"/>
                </a:solidFill>
                <a:latin typeface="Arial"/>
                <a:cs typeface="Arial"/>
              </a:rPr>
              <a:t>Intercept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365"/>
              </a:spcBef>
            </a:pP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Directs</a:t>
            </a:r>
            <a:r>
              <a:rPr dirty="0" sz="85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user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C8D1D8"/>
                </a:solidFill>
                <a:latin typeface="Arial MT"/>
                <a:cs typeface="Arial MT"/>
              </a:rPr>
              <a:t>immediately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to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national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crisis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lifelines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C8D1D8"/>
                </a:solidFill>
                <a:latin typeface="Arial MT"/>
                <a:cs typeface="Arial MT"/>
              </a:rPr>
              <a:t>without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running</a:t>
            </a:r>
            <a:r>
              <a:rPr dirty="0" sz="850" spc="-3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RAG</a:t>
            </a:r>
            <a:r>
              <a:rPr dirty="0" sz="850" spc="-3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C8D1D8"/>
                </a:solidFill>
                <a:latin typeface="Arial MT"/>
                <a:cs typeface="Arial MT"/>
              </a:rPr>
              <a:t>generation.</a:t>
            </a:r>
            <a:endParaRPr sz="85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6725" y="3923600"/>
            <a:ext cx="184796" cy="17392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944025" y="3824848"/>
            <a:ext cx="2560320" cy="63055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225425">
              <a:lnSpc>
                <a:spcPct val="100000"/>
              </a:lnSpc>
              <a:spcBef>
                <a:spcPts val="795"/>
              </a:spcBef>
            </a:pPr>
            <a:r>
              <a:rPr dirty="0" sz="1100" b="1">
                <a:solidFill>
                  <a:srgbClr val="D19921"/>
                </a:solidFill>
                <a:latin typeface="Arial"/>
                <a:cs typeface="Arial"/>
              </a:rPr>
              <a:t>Medication</a:t>
            </a:r>
            <a:r>
              <a:rPr dirty="0" sz="1100" spc="-10" b="1">
                <a:solidFill>
                  <a:srgbClr val="D19921"/>
                </a:solidFill>
                <a:latin typeface="Arial"/>
                <a:cs typeface="Arial"/>
              </a:rPr>
              <a:t> Guardrail</a:t>
            </a:r>
            <a:endParaRPr sz="1100">
              <a:latin typeface="Arial"/>
              <a:cs typeface="Arial"/>
            </a:endParaRPr>
          </a:p>
          <a:p>
            <a:pPr marL="12700" marR="5715">
              <a:lnSpc>
                <a:spcPct val="116700"/>
              </a:lnSpc>
              <a:spcBef>
                <a:spcPts val="365"/>
              </a:spcBef>
            </a:pP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Redirects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drug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dosing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or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C8D1D8"/>
                </a:solidFill>
                <a:latin typeface="Arial MT"/>
                <a:cs typeface="Arial MT"/>
              </a:rPr>
              <a:t>alteration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requests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to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C8D1D8"/>
                </a:solidFill>
                <a:latin typeface="Arial MT"/>
                <a:cs typeface="Arial MT"/>
              </a:rPr>
              <a:t>formal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clinical</a:t>
            </a:r>
            <a:r>
              <a:rPr dirty="0" sz="85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C8D1D8"/>
                </a:solidFill>
                <a:latin typeface="Arial MT"/>
                <a:cs typeface="Arial MT"/>
              </a:rPr>
              <a:t>consultation.</a:t>
            </a:r>
            <a:endParaRPr sz="85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7224" y="3923600"/>
            <a:ext cx="184796" cy="17392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084524" y="3824848"/>
            <a:ext cx="2503805" cy="63055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225425">
              <a:lnSpc>
                <a:spcPct val="100000"/>
              </a:lnSpc>
              <a:spcBef>
                <a:spcPts val="795"/>
              </a:spcBef>
            </a:pPr>
            <a:r>
              <a:rPr dirty="0" sz="1100" b="1">
                <a:solidFill>
                  <a:srgbClr val="2DA042"/>
                </a:solidFill>
                <a:latin typeface="Arial"/>
                <a:cs typeface="Arial"/>
              </a:rPr>
              <a:t>Grounded</a:t>
            </a:r>
            <a:r>
              <a:rPr dirty="0" sz="1100" spc="-55" b="1">
                <a:solidFill>
                  <a:srgbClr val="2DA042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DA042"/>
                </a:solidFill>
                <a:latin typeface="Arial"/>
                <a:cs typeface="Arial"/>
              </a:rPr>
              <a:t>RAG</a:t>
            </a:r>
            <a:r>
              <a:rPr dirty="0" sz="1100" spc="-55" b="1">
                <a:solidFill>
                  <a:srgbClr val="2DA042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2DA042"/>
                </a:solidFill>
                <a:latin typeface="Arial"/>
                <a:cs typeface="Arial"/>
              </a:rPr>
              <a:t>Route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365"/>
              </a:spcBef>
            </a:pPr>
            <a:r>
              <a:rPr dirty="0" sz="850" spc="-10">
                <a:solidFill>
                  <a:srgbClr val="C8D1D8"/>
                </a:solidFill>
                <a:latin typeface="Arial MT"/>
                <a:cs typeface="Arial MT"/>
              </a:rPr>
              <a:t>Generates evidence-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backed</a:t>
            </a:r>
            <a:r>
              <a:rPr dirty="0" sz="85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clinical</a:t>
            </a:r>
            <a:r>
              <a:rPr dirty="0" sz="85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summaries</a:t>
            </a:r>
            <a:r>
              <a:rPr dirty="0" sz="85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C8D1D8"/>
                </a:solidFill>
                <a:latin typeface="Arial MT"/>
                <a:cs typeface="Arial MT"/>
              </a:rPr>
              <a:t>with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explicit</a:t>
            </a:r>
            <a:r>
              <a:rPr dirty="0" sz="85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C8D1D8"/>
                </a:solidFill>
                <a:latin typeface="Arial MT"/>
                <a:cs typeface="Arial MT"/>
              </a:rPr>
              <a:t>inline</a:t>
            </a:r>
            <a:r>
              <a:rPr dirty="0" sz="85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C8D1D8"/>
                </a:solidFill>
                <a:latin typeface="Arial MT"/>
                <a:cs typeface="Arial MT"/>
              </a:rPr>
              <a:t>citations.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7799" y="4928223"/>
            <a:ext cx="5612130" cy="48133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100" b="1">
                <a:solidFill>
                  <a:srgbClr val="EFF6FB"/>
                </a:solidFill>
                <a:latin typeface="Arial"/>
                <a:cs typeface="Arial"/>
              </a:rPr>
              <a:t>Clinical</a:t>
            </a:r>
            <a:r>
              <a:rPr dirty="0" sz="1100" spc="-25" b="1">
                <a:solidFill>
                  <a:srgbClr val="EFF6F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EFF6FB"/>
                </a:solidFill>
                <a:latin typeface="Arial"/>
                <a:cs typeface="Arial"/>
              </a:rPr>
              <a:t>Triage</a:t>
            </a:r>
            <a:r>
              <a:rPr dirty="0" sz="1100" spc="-20" b="1">
                <a:solidFill>
                  <a:srgbClr val="EFF6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FF6FB"/>
                </a:solidFill>
                <a:latin typeface="Arial"/>
                <a:cs typeface="Arial"/>
              </a:rPr>
              <a:t>Distinction</a:t>
            </a:r>
            <a:r>
              <a:rPr dirty="0" sz="1100" spc="-20" b="1">
                <a:solidFill>
                  <a:srgbClr val="EFF6F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EFF6FB"/>
                </a:solidFill>
                <a:latin typeface="Arial"/>
                <a:cs typeface="Arial"/>
              </a:rPr>
              <a:t>Enforced: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Screening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tools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 (PHQ-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2,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GAD-2,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Whooley)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identify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symptom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levels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and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 b="1">
                <a:solidFill>
                  <a:srgbClr val="C8D1D8"/>
                </a:solidFill>
                <a:latin typeface="Arial"/>
                <a:cs typeface="Arial"/>
              </a:rPr>
              <a:t>do</a:t>
            </a:r>
            <a:r>
              <a:rPr dirty="0" sz="900" spc="-10" b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C8D1D8"/>
                </a:solidFill>
                <a:latin typeface="Arial"/>
                <a:cs typeface="Arial"/>
              </a:rPr>
              <a:t>NOT</a:t>
            </a:r>
            <a:r>
              <a:rPr dirty="0" sz="900" spc="-15" b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C8D1D8"/>
                </a:solidFill>
                <a:latin typeface="Arial"/>
                <a:cs typeface="Arial"/>
              </a:rPr>
              <a:t>provide</a:t>
            </a:r>
            <a:r>
              <a:rPr dirty="0" sz="900" spc="-10" b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C8D1D8"/>
                </a:solidFill>
                <a:latin typeface="Arial"/>
                <a:cs typeface="Arial"/>
              </a:rPr>
              <a:t>a</a:t>
            </a:r>
            <a:r>
              <a:rPr dirty="0" sz="900" spc="-10" b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C8D1D8"/>
                </a:solidFill>
                <a:latin typeface="Arial"/>
                <a:cs typeface="Arial"/>
              </a:rPr>
              <a:t>clinical</a:t>
            </a:r>
            <a:r>
              <a:rPr dirty="0" sz="900" spc="-15" b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C8D1D8"/>
                </a:solidFill>
                <a:latin typeface="Arial"/>
                <a:cs typeface="Arial"/>
              </a:rPr>
              <a:t>diagnosis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7625" y="1121609"/>
            <a:ext cx="9516745" cy="19050"/>
          </a:xfrm>
          <a:custGeom>
            <a:avLst/>
            <a:gdLst/>
            <a:ahLst/>
            <a:cxnLst/>
            <a:rect l="l" t="t" r="r" b="b"/>
            <a:pathLst>
              <a:path w="9516745" h="19050">
                <a:moveTo>
                  <a:pt x="9516750" y="19050"/>
                </a:moveTo>
                <a:lnTo>
                  <a:pt x="0" y="19050"/>
                </a:lnTo>
                <a:lnTo>
                  <a:pt x="0" y="0"/>
                </a:lnTo>
                <a:lnTo>
                  <a:pt x="9516750" y="0"/>
                </a:lnTo>
                <a:lnTo>
                  <a:pt x="9516750" y="19050"/>
                </a:lnTo>
                <a:close/>
              </a:path>
            </a:pathLst>
          </a:custGeom>
          <a:solidFill>
            <a:srgbClr val="2F3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74924" y="506434"/>
            <a:ext cx="16992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S</a:t>
            </a:r>
            <a:r>
              <a:rPr dirty="0" sz="900" spc="-1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L</a:t>
            </a:r>
            <a:r>
              <a:rPr dirty="0" sz="900" spc="-1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70" b="1">
                <a:solidFill>
                  <a:srgbClr val="57A5FF"/>
                </a:solidFill>
                <a:latin typeface="Arial"/>
                <a:cs typeface="Arial"/>
              </a:rPr>
              <a:t>IDE</a:t>
            </a:r>
            <a:r>
              <a:rPr dirty="0" sz="900" spc="26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7</a:t>
            </a:r>
            <a:r>
              <a:rPr dirty="0" sz="900" spc="26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—</a:t>
            </a:r>
            <a:r>
              <a:rPr dirty="0" sz="900" spc="26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SA</a:t>
            </a:r>
            <a:r>
              <a:rPr dirty="0" sz="900" spc="-1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F</a:t>
            </a:r>
            <a:r>
              <a:rPr dirty="0" sz="900" spc="-1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70" b="1">
                <a:solidFill>
                  <a:srgbClr val="57A5FF"/>
                </a:solidFill>
                <a:latin typeface="Arial"/>
                <a:cs typeface="Arial"/>
              </a:rPr>
              <a:t>EGUA</a:t>
            </a:r>
            <a:r>
              <a:rPr dirty="0" sz="900" spc="-1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RD</a:t>
            </a:r>
            <a:r>
              <a:rPr dirty="0" sz="900" spc="-1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50" b="1">
                <a:solidFill>
                  <a:srgbClr val="57A5FF"/>
                </a:solidFill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Safety</a:t>
            </a:r>
            <a:r>
              <a:rPr dirty="0" spc="-40"/>
              <a:t> </a:t>
            </a:r>
            <a:r>
              <a:rPr dirty="0"/>
              <a:t>by</a:t>
            </a:r>
            <a:r>
              <a:rPr dirty="0" spc="-40"/>
              <a:t> </a:t>
            </a:r>
            <a:r>
              <a:rPr dirty="0"/>
              <a:t>Design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 spc="-10"/>
              <a:t>Triage</a:t>
            </a:r>
            <a:r>
              <a:rPr dirty="0" spc="-40"/>
              <a:t> </a:t>
            </a:r>
            <a:r>
              <a:rPr dirty="0" spc="-10"/>
              <a:t>Pipeline</a:t>
            </a:r>
          </a:p>
        </p:txBody>
      </p:sp>
      <p:sp>
        <p:nvSpPr>
          <p:cNvPr id="29" name="object 29"/>
          <p:cNvSpPr/>
          <p:nvPr/>
        </p:nvSpPr>
        <p:spPr>
          <a:xfrm>
            <a:off x="540000" y="6703084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2126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1450" y="1619449"/>
            <a:ext cx="4568190" cy="934719"/>
            <a:chOff x="711450" y="1619449"/>
            <a:chExt cx="4568190" cy="934719"/>
          </a:xfrm>
        </p:grpSpPr>
        <p:sp>
          <p:nvSpPr>
            <p:cNvPr id="3" name="object 3"/>
            <p:cNvSpPr/>
            <p:nvPr/>
          </p:nvSpPr>
          <p:spPr>
            <a:xfrm>
              <a:off x="711450" y="1619449"/>
              <a:ext cx="4568190" cy="934719"/>
            </a:xfrm>
            <a:custGeom>
              <a:avLst/>
              <a:gdLst/>
              <a:ahLst/>
              <a:cxnLst/>
              <a:rect l="l" t="t" r="r" b="b"/>
              <a:pathLst>
                <a:path w="4568190" h="934719">
                  <a:moveTo>
                    <a:pt x="4491675" y="934720"/>
                  </a:moveTo>
                  <a:lnTo>
                    <a:pt x="76200" y="934720"/>
                  </a:lnTo>
                  <a:lnTo>
                    <a:pt x="46612" y="928707"/>
                  </a:lnTo>
                  <a:lnTo>
                    <a:pt x="22383" y="912336"/>
                  </a:lnTo>
                  <a:lnTo>
                    <a:pt x="6012" y="888107"/>
                  </a:lnTo>
                  <a:lnTo>
                    <a:pt x="0" y="8585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858520"/>
                  </a:lnTo>
                  <a:lnTo>
                    <a:pt x="4561862" y="888107"/>
                  </a:lnTo>
                  <a:lnTo>
                    <a:pt x="4545491" y="912336"/>
                  </a:lnTo>
                  <a:lnTo>
                    <a:pt x="4521262" y="928707"/>
                  </a:lnTo>
                  <a:lnTo>
                    <a:pt x="4491675" y="93472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11450" y="1619449"/>
              <a:ext cx="4568190" cy="934719"/>
            </a:xfrm>
            <a:custGeom>
              <a:avLst/>
              <a:gdLst/>
              <a:ahLst/>
              <a:cxnLst/>
              <a:rect l="l" t="t" r="r" b="b"/>
              <a:pathLst>
                <a:path w="4568190" h="934719">
                  <a:moveTo>
                    <a:pt x="4491675" y="934720"/>
                  </a:moveTo>
                  <a:lnTo>
                    <a:pt x="76200" y="934720"/>
                  </a:lnTo>
                  <a:lnTo>
                    <a:pt x="46612" y="928707"/>
                  </a:lnTo>
                  <a:lnTo>
                    <a:pt x="22383" y="912336"/>
                  </a:lnTo>
                  <a:lnTo>
                    <a:pt x="6012" y="888107"/>
                  </a:lnTo>
                  <a:lnTo>
                    <a:pt x="0" y="8585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858520"/>
                  </a:lnTo>
                  <a:lnTo>
                    <a:pt x="14786" y="884408"/>
                  </a:lnTo>
                  <a:lnTo>
                    <a:pt x="29110" y="905609"/>
                  </a:lnTo>
                  <a:lnTo>
                    <a:pt x="50311" y="919933"/>
                  </a:lnTo>
                  <a:lnTo>
                    <a:pt x="76200" y="925195"/>
                  </a:lnTo>
                  <a:lnTo>
                    <a:pt x="4526460" y="925195"/>
                  </a:lnTo>
                  <a:lnTo>
                    <a:pt x="4521262" y="928707"/>
                  </a:lnTo>
                  <a:lnTo>
                    <a:pt x="4491675" y="934720"/>
                  </a:lnTo>
                  <a:close/>
                </a:path>
                <a:path w="4568190" h="934719">
                  <a:moveTo>
                    <a:pt x="4526460" y="925195"/>
                  </a:moveTo>
                  <a:lnTo>
                    <a:pt x="4491675" y="925195"/>
                  </a:lnTo>
                  <a:lnTo>
                    <a:pt x="4517563" y="919933"/>
                  </a:lnTo>
                  <a:lnTo>
                    <a:pt x="4538764" y="905609"/>
                  </a:lnTo>
                  <a:lnTo>
                    <a:pt x="4553089" y="884408"/>
                  </a:lnTo>
                  <a:lnTo>
                    <a:pt x="4558350" y="85852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858520"/>
                  </a:lnTo>
                  <a:lnTo>
                    <a:pt x="4561862" y="888107"/>
                  </a:lnTo>
                  <a:lnTo>
                    <a:pt x="4545491" y="912336"/>
                  </a:lnTo>
                  <a:lnTo>
                    <a:pt x="4526460" y="92519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711450" y="2649419"/>
            <a:ext cx="4568190" cy="934719"/>
            <a:chOff x="711450" y="2649419"/>
            <a:chExt cx="4568190" cy="934719"/>
          </a:xfrm>
        </p:grpSpPr>
        <p:sp>
          <p:nvSpPr>
            <p:cNvPr id="6" name="object 6"/>
            <p:cNvSpPr/>
            <p:nvPr/>
          </p:nvSpPr>
          <p:spPr>
            <a:xfrm>
              <a:off x="711450" y="2649419"/>
              <a:ext cx="4568190" cy="934719"/>
            </a:xfrm>
            <a:custGeom>
              <a:avLst/>
              <a:gdLst/>
              <a:ahLst/>
              <a:cxnLst/>
              <a:rect l="l" t="t" r="r" b="b"/>
              <a:pathLst>
                <a:path w="4568190" h="934720">
                  <a:moveTo>
                    <a:pt x="4491675" y="934720"/>
                  </a:moveTo>
                  <a:lnTo>
                    <a:pt x="76200" y="934720"/>
                  </a:lnTo>
                  <a:lnTo>
                    <a:pt x="46612" y="928707"/>
                  </a:lnTo>
                  <a:lnTo>
                    <a:pt x="22383" y="912336"/>
                  </a:lnTo>
                  <a:lnTo>
                    <a:pt x="6012" y="888107"/>
                  </a:lnTo>
                  <a:lnTo>
                    <a:pt x="0" y="8585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858520"/>
                  </a:lnTo>
                  <a:lnTo>
                    <a:pt x="4561862" y="888107"/>
                  </a:lnTo>
                  <a:lnTo>
                    <a:pt x="4545491" y="912336"/>
                  </a:lnTo>
                  <a:lnTo>
                    <a:pt x="4521262" y="928707"/>
                  </a:lnTo>
                  <a:lnTo>
                    <a:pt x="4491675" y="93472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11450" y="2649419"/>
              <a:ext cx="4568190" cy="934719"/>
            </a:xfrm>
            <a:custGeom>
              <a:avLst/>
              <a:gdLst/>
              <a:ahLst/>
              <a:cxnLst/>
              <a:rect l="l" t="t" r="r" b="b"/>
              <a:pathLst>
                <a:path w="4568190" h="934720">
                  <a:moveTo>
                    <a:pt x="4491675" y="934720"/>
                  </a:moveTo>
                  <a:lnTo>
                    <a:pt x="76200" y="934720"/>
                  </a:lnTo>
                  <a:lnTo>
                    <a:pt x="46612" y="928707"/>
                  </a:lnTo>
                  <a:lnTo>
                    <a:pt x="22383" y="912336"/>
                  </a:lnTo>
                  <a:lnTo>
                    <a:pt x="6012" y="888107"/>
                  </a:lnTo>
                  <a:lnTo>
                    <a:pt x="0" y="8585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858520"/>
                  </a:lnTo>
                  <a:lnTo>
                    <a:pt x="14786" y="884408"/>
                  </a:lnTo>
                  <a:lnTo>
                    <a:pt x="29110" y="905609"/>
                  </a:lnTo>
                  <a:lnTo>
                    <a:pt x="50311" y="919933"/>
                  </a:lnTo>
                  <a:lnTo>
                    <a:pt x="76200" y="925195"/>
                  </a:lnTo>
                  <a:lnTo>
                    <a:pt x="4526460" y="925195"/>
                  </a:lnTo>
                  <a:lnTo>
                    <a:pt x="4521262" y="928707"/>
                  </a:lnTo>
                  <a:lnTo>
                    <a:pt x="4491675" y="934720"/>
                  </a:lnTo>
                  <a:close/>
                </a:path>
                <a:path w="4568190" h="934720">
                  <a:moveTo>
                    <a:pt x="4526460" y="925195"/>
                  </a:moveTo>
                  <a:lnTo>
                    <a:pt x="4491675" y="925195"/>
                  </a:lnTo>
                  <a:lnTo>
                    <a:pt x="4517563" y="919933"/>
                  </a:lnTo>
                  <a:lnTo>
                    <a:pt x="4538764" y="905609"/>
                  </a:lnTo>
                  <a:lnTo>
                    <a:pt x="4553089" y="884408"/>
                  </a:lnTo>
                  <a:lnTo>
                    <a:pt x="4558350" y="85852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858520"/>
                  </a:lnTo>
                  <a:lnTo>
                    <a:pt x="4561862" y="888107"/>
                  </a:lnTo>
                  <a:lnTo>
                    <a:pt x="4545491" y="912336"/>
                  </a:lnTo>
                  <a:lnTo>
                    <a:pt x="4526460" y="92519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711450" y="3679389"/>
            <a:ext cx="4568190" cy="787400"/>
            <a:chOff x="711450" y="3679389"/>
            <a:chExt cx="4568190" cy="787400"/>
          </a:xfrm>
        </p:grpSpPr>
        <p:sp>
          <p:nvSpPr>
            <p:cNvPr id="9" name="object 9"/>
            <p:cNvSpPr/>
            <p:nvPr/>
          </p:nvSpPr>
          <p:spPr>
            <a:xfrm>
              <a:off x="711450" y="3679389"/>
              <a:ext cx="4568190" cy="787400"/>
            </a:xfrm>
            <a:custGeom>
              <a:avLst/>
              <a:gdLst/>
              <a:ahLst/>
              <a:cxnLst/>
              <a:rect l="l" t="t" r="r" b="b"/>
              <a:pathLst>
                <a:path w="4568190" h="787400">
                  <a:moveTo>
                    <a:pt x="4491675" y="787089"/>
                  </a:moveTo>
                  <a:lnTo>
                    <a:pt x="76200" y="787089"/>
                  </a:lnTo>
                  <a:lnTo>
                    <a:pt x="46612" y="781077"/>
                  </a:lnTo>
                  <a:lnTo>
                    <a:pt x="22383" y="764706"/>
                  </a:lnTo>
                  <a:lnTo>
                    <a:pt x="6012" y="740476"/>
                  </a:lnTo>
                  <a:lnTo>
                    <a:pt x="0" y="710889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10889"/>
                  </a:lnTo>
                  <a:lnTo>
                    <a:pt x="4561862" y="740476"/>
                  </a:lnTo>
                  <a:lnTo>
                    <a:pt x="4545491" y="764706"/>
                  </a:lnTo>
                  <a:lnTo>
                    <a:pt x="4521262" y="781077"/>
                  </a:lnTo>
                  <a:lnTo>
                    <a:pt x="4491675" y="787089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1450" y="3679390"/>
              <a:ext cx="4568190" cy="787400"/>
            </a:xfrm>
            <a:custGeom>
              <a:avLst/>
              <a:gdLst/>
              <a:ahLst/>
              <a:cxnLst/>
              <a:rect l="l" t="t" r="r" b="b"/>
              <a:pathLst>
                <a:path w="4568190" h="787400">
                  <a:moveTo>
                    <a:pt x="4491675" y="787089"/>
                  </a:moveTo>
                  <a:lnTo>
                    <a:pt x="76200" y="787089"/>
                  </a:lnTo>
                  <a:lnTo>
                    <a:pt x="46612" y="781077"/>
                  </a:lnTo>
                  <a:lnTo>
                    <a:pt x="22383" y="764706"/>
                  </a:lnTo>
                  <a:lnTo>
                    <a:pt x="6012" y="740476"/>
                  </a:lnTo>
                  <a:lnTo>
                    <a:pt x="0" y="710889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10889"/>
                  </a:lnTo>
                  <a:lnTo>
                    <a:pt x="14786" y="736778"/>
                  </a:lnTo>
                  <a:lnTo>
                    <a:pt x="29110" y="757979"/>
                  </a:lnTo>
                  <a:lnTo>
                    <a:pt x="50311" y="772303"/>
                  </a:lnTo>
                  <a:lnTo>
                    <a:pt x="76200" y="777564"/>
                  </a:lnTo>
                  <a:lnTo>
                    <a:pt x="4526460" y="777564"/>
                  </a:lnTo>
                  <a:lnTo>
                    <a:pt x="4521262" y="781077"/>
                  </a:lnTo>
                  <a:lnTo>
                    <a:pt x="4491675" y="787089"/>
                  </a:lnTo>
                  <a:close/>
                </a:path>
                <a:path w="4568190" h="787400">
                  <a:moveTo>
                    <a:pt x="4526460" y="777564"/>
                  </a:moveTo>
                  <a:lnTo>
                    <a:pt x="4491675" y="777564"/>
                  </a:lnTo>
                  <a:lnTo>
                    <a:pt x="4517563" y="772303"/>
                  </a:lnTo>
                  <a:lnTo>
                    <a:pt x="4538764" y="757979"/>
                  </a:lnTo>
                  <a:lnTo>
                    <a:pt x="4553089" y="736778"/>
                  </a:lnTo>
                  <a:lnTo>
                    <a:pt x="4558350" y="710889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10889"/>
                  </a:lnTo>
                  <a:lnTo>
                    <a:pt x="4561862" y="740476"/>
                  </a:lnTo>
                  <a:lnTo>
                    <a:pt x="4545491" y="764706"/>
                  </a:lnTo>
                  <a:lnTo>
                    <a:pt x="4526460" y="777564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5412675" y="1619449"/>
            <a:ext cx="4568190" cy="993775"/>
            <a:chOff x="5412675" y="1619449"/>
            <a:chExt cx="4568190" cy="993775"/>
          </a:xfrm>
        </p:grpSpPr>
        <p:sp>
          <p:nvSpPr>
            <p:cNvPr id="12" name="object 12"/>
            <p:cNvSpPr/>
            <p:nvPr/>
          </p:nvSpPr>
          <p:spPr>
            <a:xfrm>
              <a:off x="5412675" y="1619449"/>
              <a:ext cx="4568190" cy="993775"/>
            </a:xfrm>
            <a:custGeom>
              <a:avLst/>
              <a:gdLst/>
              <a:ahLst/>
              <a:cxnLst/>
              <a:rect l="l" t="t" r="r" b="b"/>
              <a:pathLst>
                <a:path w="4568190" h="993775">
                  <a:moveTo>
                    <a:pt x="4491675" y="993373"/>
                  </a:moveTo>
                  <a:lnTo>
                    <a:pt x="76200" y="993373"/>
                  </a:lnTo>
                  <a:lnTo>
                    <a:pt x="46612" y="987360"/>
                  </a:lnTo>
                  <a:lnTo>
                    <a:pt x="22383" y="970989"/>
                  </a:lnTo>
                  <a:lnTo>
                    <a:pt x="6012" y="946760"/>
                  </a:lnTo>
                  <a:lnTo>
                    <a:pt x="0" y="91717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917173"/>
                  </a:lnTo>
                  <a:lnTo>
                    <a:pt x="4561862" y="946760"/>
                  </a:lnTo>
                  <a:lnTo>
                    <a:pt x="4545491" y="970989"/>
                  </a:lnTo>
                  <a:lnTo>
                    <a:pt x="4521262" y="987360"/>
                  </a:lnTo>
                  <a:lnTo>
                    <a:pt x="4491675" y="993373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412675" y="1619449"/>
              <a:ext cx="4568190" cy="993775"/>
            </a:xfrm>
            <a:custGeom>
              <a:avLst/>
              <a:gdLst/>
              <a:ahLst/>
              <a:cxnLst/>
              <a:rect l="l" t="t" r="r" b="b"/>
              <a:pathLst>
                <a:path w="4568190" h="993775">
                  <a:moveTo>
                    <a:pt x="4491675" y="993373"/>
                  </a:moveTo>
                  <a:lnTo>
                    <a:pt x="76200" y="993373"/>
                  </a:lnTo>
                  <a:lnTo>
                    <a:pt x="46612" y="987360"/>
                  </a:lnTo>
                  <a:lnTo>
                    <a:pt x="22383" y="970989"/>
                  </a:lnTo>
                  <a:lnTo>
                    <a:pt x="6012" y="946760"/>
                  </a:lnTo>
                  <a:lnTo>
                    <a:pt x="0" y="91717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917173"/>
                  </a:lnTo>
                  <a:lnTo>
                    <a:pt x="14786" y="943061"/>
                  </a:lnTo>
                  <a:lnTo>
                    <a:pt x="29110" y="964262"/>
                  </a:lnTo>
                  <a:lnTo>
                    <a:pt x="50311" y="978587"/>
                  </a:lnTo>
                  <a:lnTo>
                    <a:pt x="76200" y="983848"/>
                  </a:lnTo>
                  <a:lnTo>
                    <a:pt x="4526460" y="983848"/>
                  </a:lnTo>
                  <a:lnTo>
                    <a:pt x="4521262" y="987360"/>
                  </a:lnTo>
                  <a:lnTo>
                    <a:pt x="4491675" y="993373"/>
                  </a:lnTo>
                  <a:close/>
                </a:path>
                <a:path w="4568190" h="993775">
                  <a:moveTo>
                    <a:pt x="4526460" y="983848"/>
                  </a:moveTo>
                  <a:lnTo>
                    <a:pt x="4491675" y="983848"/>
                  </a:lnTo>
                  <a:lnTo>
                    <a:pt x="4517563" y="978587"/>
                  </a:lnTo>
                  <a:lnTo>
                    <a:pt x="4538764" y="964262"/>
                  </a:lnTo>
                  <a:lnTo>
                    <a:pt x="4553089" y="943061"/>
                  </a:lnTo>
                  <a:lnTo>
                    <a:pt x="4558350" y="917173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917173"/>
                  </a:lnTo>
                  <a:lnTo>
                    <a:pt x="4561862" y="946760"/>
                  </a:lnTo>
                  <a:lnTo>
                    <a:pt x="4545491" y="970989"/>
                  </a:lnTo>
                  <a:lnTo>
                    <a:pt x="4526460" y="983848"/>
                  </a:lnTo>
                  <a:close/>
                </a:path>
              </a:pathLst>
            </a:custGeom>
            <a:solidFill>
              <a:srgbClr val="1F6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254797" y="2054540"/>
              <a:ext cx="1904364" cy="9525"/>
            </a:xfrm>
            <a:custGeom>
              <a:avLst/>
              <a:gdLst/>
              <a:ahLst/>
              <a:cxnLst/>
              <a:rect l="l" t="t" r="r" b="b"/>
              <a:pathLst>
                <a:path w="1904365" h="9525">
                  <a:moveTo>
                    <a:pt x="1903846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1903846" y="0"/>
                  </a:lnTo>
                  <a:lnTo>
                    <a:pt x="1903846" y="9525"/>
                  </a:lnTo>
                  <a:close/>
                </a:path>
              </a:pathLst>
            </a:custGeom>
            <a:solidFill>
              <a:srgbClr val="79B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98749" y="1268636"/>
            <a:ext cx="4185920" cy="1029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Evaluation</a:t>
            </a:r>
            <a:r>
              <a:rPr dirty="0" sz="1300" spc="-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Protocol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300">
              <a:latin typeface="Arial"/>
              <a:cs typeface="Arial"/>
            </a:endParaRPr>
          </a:p>
          <a:p>
            <a:pPr marL="155575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1.</a:t>
            </a:r>
            <a:r>
              <a:rPr dirty="0" sz="1100" spc="-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Benchmark</a:t>
            </a:r>
            <a:r>
              <a:rPr dirty="0" sz="1100" spc="-2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Dataset</a:t>
            </a:r>
            <a:endParaRPr sz="1100">
              <a:latin typeface="Arial"/>
              <a:cs typeface="Arial"/>
            </a:endParaRPr>
          </a:p>
          <a:p>
            <a:pPr marL="155575" marR="5080">
              <a:lnSpc>
                <a:spcPct val="116700"/>
              </a:lnSpc>
              <a:spcBef>
                <a:spcPts val="350"/>
              </a:spcBef>
            </a:pP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10</a:t>
            </a:r>
            <a:r>
              <a:rPr dirty="0" sz="9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curated</a:t>
            </a:r>
            <a:r>
              <a:rPr dirty="0" sz="9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clinical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questions</a:t>
            </a:r>
            <a:r>
              <a:rPr dirty="0" sz="9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covering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screening</a:t>
            </a:r>
            <a:r>
              <a:rPr dirty="0" sz="9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tools,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timing,</a:t>
            </a:r>
            <a:r>
              <a:rPr dirty="0" sz="9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hospital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care,</a:t>
            </a:r>
            <a:r>
              <a:rPr dirty="0" sz="9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and 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interventions.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1624" y="2686760"/>
            <a:ext cx="4307205" cy="64135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2.</a:t>
            </a:r>
            <a:r>
              <a:rPr dirty="0" sz="1100" spc="-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Ground</a:t>
            </a:r>
            <a:r>
              <a:rPr dirty="0" sz="1100" spc="-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Truth</a:t>
            </a:r>
            <a:r>
              <a:rPr dirty="0" sz="1100" spc="-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Annotation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355"/>
              </a:spcBef>
            </a:pP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Retrieved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chunks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manually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annotated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for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true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clinical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relevance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against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each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specific query.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1624" y="3701587"/>
            <a:ext cx="3105150" cy="508634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3.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Precision</a:t>
            </a:r>
            <a:r>
              <a:rPr dirty="0" sz="1100" spc="-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Metrics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Evaluated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using</a:t>
            </a:r>
            <a:r>
              <a:rPr dirty="0" sz="90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Precision@3</a:t>
            </a:r>
            <a:r>
              <a:rPr dirty="0" sz="90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(</a:t>
            </a:r>
            <a:r>
              <a:rPr dirty="0" sz="900" b="1" i="1">
                <a:solidFill>
                  <a:srgbClr val="79BFFF"/>
                </a:solidFill>
                <a:latin typeface="Times New Roman"/>
                <a:cs typeface="Times New Roman"/>
              </a:rPr>
              <a:t>P@3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)</a:t>
            </a:r>
            <a:r>
              <a:rPr dirty="0" sz="90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and</a:t>
            </a:r>
            <a:r>
              <a:rPr dirty="0" sz="90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Precision@5</a:t>
            </a:r>
            <a:r>
              <a:rPr dirty="0" sz="90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(</a:t>
            </a:r>
            <a:r>
              <a:rPr dirty="0" sz="900" spc="-10" b="1" i="1">
                <a:solidFill>
                  <a:srgbClr val="79BFFF"/>
                </a:solidFill>
                <a:latin typeface="Times New Roman"/>
                <a:cs typeface="Times New Roman"/>
              </a:rPr>
              <a:t>P@5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).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99975" y="1268636"/>
            <a:ext cx="13188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Metric</a:t>
            </a:r>
            <a:r>
              <a:rPr dirty="0" sz="1300" spc="-5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Definition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7625" y="1121609"/>
            <a:ext cx="9516745" cy="19050"/>
          </a:xfrm>
          <a:custGeom>
            <a:avLst/>
            <a:gdLst/>
            <a:ahLst/>
            <a:cxnLst/>
            <a:rect l="l" t="t" r="r" b="b"/>
            <a:pathLst>
              <a:path w="9516745" h="19050">
                <a:moveTo>
                  <a:pt x="9516750" y="19050"/>
                </a:moveTo>
                <a:lnTo>
                  <a:pt x="0" y="19050"/>
                </a:lnTo>
                <a:lnTo>
                  <a:pt x="0" y="0"/>
                </a:lnTo>
                <a:lnTo>
                  <a:pt x="9516750" y="0"/>
                </a:lnTo>
                <a:lnTo>
                  <a:pt x="9516750" y="19050"/>
                </a:lnTo>
                <a:close/>
              </a:path>
            </a:pathLst>
          </a:custGeom>
          <a:solidFill>
            <a:srgbClr val="2F3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74924" y="506434"/>
            <a:ext cx="16230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S</a:t>
            </a:r>
            <a:r>
              <a:rPr dirty="0" sz="900" spc="-1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L</a:t>
            </a:r>
            <a:r>
              <a:rPr dirty="0" sz="900" spc="-12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70" b="1">
                <a:solidFill>
                  <a:srgbClr val="57A5FF"/>
                </a:solidFill>
                <a:latin typeface="Arial"/>
                <a:cs typeface="Arial"/>
              </a:rPr>
              <a:t>IDE</a:t>
            </a:r>
            <a:r>
              <a:rPr dirty="0" sz="900" spc="30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8</a:t>
            </a:r>
            <a:r>
              <a:rPr dirty="0" sz="900" spc="30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—</a:t>
            </a:r>
            <a:r>
              <a:rPr dirty="0" sz="900" spc="30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EVA</a:t>
            </a:r>
            <a:r>
              <a:rPr dirty="0" sz="900" spc="-12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LUAT</a:t>
            </a:r>
            <a:r>
              <a:rPr dirty="0" sz="900" spc="-12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45" b="1">
                <a:solidFill>
                  <a:srgbClr val="57A5FF"/>
                </a:solidFill>
                <a:latin typeface="Arial"/>
                <a:cs typeface="Arial"/>
              </a:rPr>
              <a:t>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Evaluating</a:t>
            </a:r>
            <a:r>
              <a:rPr dirty="0" spc="-75"/>
              <a:t> </a:t>
            </a:r>
            <a:r>
              <a:rPr dirty="0"/>
              <a:t>Retrieval</a:t>
            </a:r>
            <a:r>
              <a:rPr dirty="0" spc="-60"/>
              <a:t> </a:t>
            </a:r>
            <a:r>
              <a:rPr dirty="0" spc="-10"/>
              <a:t>Performance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399975" y="1762031"/>
            <a:ext cx="3803015" cy="242570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ctr" marL="744855">
              <a:lnSpc>
                <a:spcPct val="100000"/>
              </a:lnSpc>
              <a:spcBef>
                <a:spcPts val="500"/>
              </a:spcBef>
            </a:pPr>
            <a:r>
              <a:rPr dirty="0" sz="1300" b="1" i="1">
                <a:solidFill>
                  <a:srgbClr val="79BFFF"/>
                </a:solidFill>
                <a:latin typeface="Times New Roman"/>
                <a:cs typeface="Times New Roman"/>
              </a:rPr>
              <a:t>Precision@K</a:t>
            </a:r>
            <a:r>
              <a:rPr dirty="0" sz="1300" spc="-10" b="1" i="1">
                <a:solidFill>
                  <a:srgbClr val="79BFFF"/>
                </a:solidFill>
                <a:latin typeface="Times New Roman"/>
                <a:cs typeface="Times New Roman"/>
              </a:rPr>
              <a:t> </a:t>
            </a:r>
            <a:r>
              <a:rPr dirty="0" sz="1300" b="1" i="1">
                <a:solidFill>
                  <a:srgbClr val="79BFFF"/>
                </a:solidFill>
                <a:latin typeface="Times New Roman"/>
                <a:cs typeface="Times New Roman"/>
              </a:rPr>
              <a:t>=</a:t>
            </a:r>
            <a:r>
              <a:rPr dirty="0" sz="1300" spc="-15" b="1" i="1">
                <a:solidFill>
                  <a:srgbClr val="79BFFF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C8D1D8"/>
                </a:solidFill>
                <a:latin typeface="Arial MT"/>
                <a:cs typeface="Arial MT"/>
              </a:rPr>
              <a:t>Relevant </a:t>
            </a:r>
            <a:r>
              <a:rPr dirty="0" sz="1300">
                <a:solidFill>
                  <a:srgbClr val="C8D1D8"/>
                </a:solidFill>
                <a:latin typeface="Arial MT"/>
                <a:cs typeface="Arial MT"/>
              </a:rPr>
              <a:t>Chunks</a:t>
            </a:r>
            <a:r>
              <a:rPr dirty="0" sz="13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C8D1D8"/>
                </a:solidFill>
                <a:latin typeface="Arial MT"/>
                <a:cs typeface="Arial MT"/>
              </a:rPr>
              <a:t>in</a:t>
            </a:r>
            <a:r>
              <a:rPr dirty="0" sz="13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300" spc="-45">
                <a:solidFill>
                  <a:srgbClr val="C8D1D8"/>
                </a:solidFill>
                <a:latin typeface="Arial MT"/>
                <a:cs typeface="Arial MT"/>
              </a:rPr>
              <a:t>Top-</a:t>
            </a:r>
            <a:r>
              <a:rPr dirty="0" sz="1300" spc="-50">
                <a:solidFill>
                  <a:srgbClr val="C8D1D8"/>
                </a:solidFill>
                <a:latin typeface="Arial MT"/>
                <a:cs typeface="Arial MT"/>
              </a:rPr>
              <a:t>K</a:t>
            </a:r>
            <a:endParaRPr sz="1300">
              <a:latin typeface="Arial MT"/>
              <a:cs typeface="Arial MT"/>
            </a:endParaRPr>
          </a:p>
          <a:p>
            <a:pPr algn="ctr" marL="790575">
              <a:lnSpc>
                <a:spcPct val="100000"/>
              </a:lnSpc>
              <a:spcBef>
                <a:spcPts val="400"/>
              </a:spcBef>
            </a:pPr>
            <a:r>
              <a:rPr dirty="0" sz="1300" spc="-50" b="1" i="1">
                <a:solidFill>
                  <a:srgbClr val="79BFFF"/>
                </a:solidFill>
                <a:latin typeface="Times New Roman"/>
                <a:cs typeface="Times New Roman"/>
              </a:rPr>
              <a:t>K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Evaluated</a:t>
            </a:r>
            <a:r>
              <a:rPr dirty="0" sz="1300" spc="-4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Clinical</a:t>
            </a:r>
            <a:r>
              <a:rPr dirty="0" sz="1300" spc="-4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Domains</a:t>
            </a:r>
            <a:endParaRPr sz="1300">
              <a:latin typeface="Arial"/>
              <a:cs typeface="Arial"/>
            </a:endParaRPr>
          </a:p>
          <a:p>
            <a:pPr marL="182880" indent="-86995">
              <a:lnSpc>
                <a:spcPct val="100000"/>
              </a:lnSpc>
              <a:spcBef>
                <a:spcPts val="1025"/>
              </a:spcBef>
              <a:buChar char="•"/>
              <a:tabLst>
                <a:tab pos="182880" algn="l"/>
              </a:tabLst>
            </a:pP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Recommended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screening</a:t>
            </a:r>
            <a:r>
              <a:rPr dirty="0" sz="110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tools</a:t>
            </a:r>
            <a:r>
              <a:rPr dirty="0" sz="110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(PHQ-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2,</a:t>
            </a:r>
            <a:r>
              <a:rPr dirty="0" sz="110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GAD-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2,</a:t>
            </a:r>
            <a:r>
              <a:rPr dirty="0" sz="1100" spc="-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Whooley)</a:t>
            </a:r>
            <a:endParaRPr sz="1100">
              <a:latin typeface="Arial MT"/>
              <a:cs typeface="Arial MT"/>
            </a:endParaRPr>
          </a:p>
          <a:p>
            <a:pPr marL="182880" indent="-86995">
              <a:lnSpc>
                <a:spcPct val="100000"/>
              </a:lnSpc>
              <a:spcBef>
                <a:spcPts val="520"/>
              </a:spcBef>
              <a:buChar char="•"/>
              <a:tabLst>
                <a:tab pos="182880" algn="l"/>
              </a:tabLst>
            </a:pP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Timing</a:t>
            </a:r>
            <a:r>
              <a:rPr dirty="0" sz="1100" spc="-3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&amp;</a:t>
            </a:r>
            <a:r>
              <a:rPr dirty="0" sz="1100" spc="-3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frequency</a:t>
            </a:r>
            <a:r>
              <a:rPr dirty="0" sz="1100" spc="-3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of</a:t>
            </a:r>
            <a:r>
              <a:rPr dirty="0" sz="1100" spc="-3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screening</a:t>
            </a:r>
            <a:r>
              <a:rPr dirty="0" sz="1100" spc="-3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in</a:t>
            </a:r>
            <a:r>
              <a:rPr dirty="0" sz="1100" spc="-3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CVD</a:t>
            </a:r>
            <a:r>
              <a:rPr dirty="0" sz="1100" spc="-3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patients</a:t>
            </a:r>
            <a:endParaRPr sz="1100">
              <a:latin typeface="Arial MT"/>
              <a:cs typeface="Arial MT"/>
            </a:endParaRPr>
          </a:p>
          <a:p>
            <a:pPr marL="182880" indent="-86995">
              <a:lnSpc>
                <a:spcPct val="100000"/>
              </a:lnSpc>
              <a:spcBef>
                <a:spcPts val="520"/>
              </a:spcBef>
              <a:buChar char="•"/>
              <a:tabLst>
                <a:tab pos="182880" algn="l"/>
              </a:tabLst>
            </a:pP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Inpatient</a:t>
            </a:r>
            <a:r>
              <a:rPr dirty="0" sz="1100" spc="-4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screening</a:t>
            </a:r>
            <a:r>
              <a:rPr dirty="0" sz="1100" spc="-4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vs.</a:t>
            </a:r>
            <a:r>
              <a:rPr dirty="0" sz="1100" spc="-4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outpatient</a:t>
            </a:r>
            <a:r>
              <a:rPr dirty="0" sz="1100" spc="-4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care</a:t>
            </a:r>
            <a:endParaRPr sz="1100">
              <a:latin typeface="Arial MT"/>
              <a:cs typeface="Arial MT"/>
            </a:endParaRPr>
          </a:p>
          <a:p>
            <a:pPr marL="182880" indent="-86995">
              <a:lnSpc>
                <a:spcPct val="100000"/>
              </a:lnSpc>
              <a:spcBef>
                <a:spcPts val="520"/>
              </a:spcBef>
              <a:buChar char="•"/>
              <a:tabLst>
                <a:tab pos="182880" algn="l"/>
              </a:tabLst>
            </a:pP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Distinction</a:t>
            </a:r>
            <a:r>
              <a:rPr dirty="0" sz="1100" spc="-4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between</a:t>
            </a:r>
            <a:r>
              <a:rPr dirty="0" sz="1100" spc="-4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screening</a:t>
            </a:r>
            <a:r>
              <a:rPr dirty="0" sz="1100" spc="-4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and</a:t>
            </a:r>
            <a:r>
              <a:rPr dirty="0" sz="1100" spc="-4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diagnosis</a:t>
            </a:r>
            <a:endParaRPr sz="1100">
              <a:latin typeface="Arial MT"/>
              <a:cs typeface="Arial MT"/>
            </a:endParaRPr>
          </a:p>
          <a:p>
            <a:pPr marL="182880" indent="-86995">
              <a:lnSpc>
                <a:spcPct val="100000"/>
              </a:lnSpc>
              <a:spcBef>
                <a:spcPts val="520"/>
              </a:spcBef>
              <a:buChar char="•"/>
              <a:tabLst>
                <a:tab pos="182880" algn="l"/>
              </a:tabLst>
            </a:pP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Psychological</a:t>
            </a:r>
            <a:r>
              <a:rPr dirty="0" sz="1100" spc="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and</a:t>
            </a:r>
            <a:r>
              <a:rPr dirty="0" sz="1100" spc="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behavioral</a:t>
            </a:r>
            <a:r>
              <a:rPr dirty="0" sz="1100" spc="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interventions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40000" y="6703084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2126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1450" y="1619449"/>
            <a:ext cx="4568190" cy="859790"/>
            <a:chOff x="711450" y="1619449"/>
            <a:chExt cx="4568190" cy="859790"/>
          </a:xfrm>
        </p:grpSpPr>
        <p:sp>
          <p:nvSpPr>
            <p:cNvPr id="3" name="object 3"/>
            <p:cNvSpPr/>
            <p:nvPr/>
          </p:nvSpPr>
          <p:spPr>
            <a:xfrm>
              <a:off x="711450" y="1619449"/>
              <a:ext cx="4568190" cy="859790"/>
            </a:xfrm>
            <a:custGeom>
              <a:avLst/>
              <a:gdLst/>
              <a:ahLst/>
              <a:cxnLst/>
              <a:rect l="l" t="t" r="r" b="b"/>
              <a:pathLst>
                <a:path w="4568190" h="859789">
                  <a:moveTo>
                    <a:pt x="4491675" y="859790"/>
                  </a:moveTo>
                  <a:lnTo>
                    <a:pt x="76200" y="859790"/>
                  </a:lnTo>
                  <a:lnTo>
                    <a:pt x="46612" y="853777"/>
                  </a:lnTo>
                  <a:lnTo>
                    <a:pt x="22383" y="837406"/>
                  </a:lnTo>
                  <a:lnTo>
                    <a:pt x="6012" y="813177"/>
                  </a:lnTo>
                  <a:lnTo>
                    <a:pt x="0" y="78359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83590"/>
                  </a:lnTo>
                  <a:lnTo>
                    <a:pt x="4561862" y="813177"/>
                  </a:lnTo>
                  <a:lnTo>
                    <a:pt x="4545491" y="837406"/>
                  </a:lnTo>
                  <a:lnTo>
                    <a:pt x="4521262" y="853777"/>
                  </a:lnTo>
                  <a:lnTo>
                    <a:pt x="4491675" y="85979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11450" y="1619449"/>
              <a:ext cx="4568190" cy="859790"/>
            </a:xfrm>
            <a:custGeom>
              <a:avLst/>
              <a:gdLst/>
              <a:ahLst/>
              <a:cxnLst/>
              <a:rect l="l" t="t" r="r" b="b"/>
              <a:pathLst>
                <a:path w="4568190" h="859789">
                  <a:moveTo>
                    <a:pt x="4491675" y="859790"/>
                  </a:moveTo>
                  <a:lnTo>
                    <a:pt x="76200" y="859790"/>
                  </a:lnTo>
                  <a:lnTo>
                    <a:pt x="46612" y="853777"/>
                  </a:lnTo>
                  <a:lnTo>
                    <a:pt x="22383" y="837406"/>
                  </a:lnTo>
                  <a:lnTo>
                    <a:pt x="6012" y="813177"/>
                  </a:lnTo>
                  <a:lnTo>
                    <a:pt x="0" y="78359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83590"/>
                  </a:lnTo>
                  <a:lnTo>
                    <a:pt x="14786" y="809478"/>
                  </a:lnTo>
                  <a:lnTo>
                    <a:pt x="29110" y="830679"/>
                  </a:lnTo>
                  <a:lnTo>
                    <a:pt x="50311" y="845003"/>
                  </a:lnTo>
                  <a:lnTo>
                    <a:pt x="76200" y="850265"/>
                  </a:lnTo>
                  <a:lnTo>
                    <a:pt x="4526460" y="850265"/>
                  </a:lnTo>
                  <a:lnTo>
                    <a:pt x="4521262" y="853777"/>
                  </a:lnTo>
                  <a:lnTo>
                    <a:pt x="4491675" y="859790"/>
                  </a:lnTo>
                  <a:close/>
                </a:path>
                <a:path w="4568190" h="859789">
                  <a:moveTo>
                    <a:pt x="4526460" y="850265"/>
                  </a:moveTo>
                  <a:lnTo>
                    <a:pt x="4491675" y="850265"/>
                  </a:lnTo>
                  <a:lnTo>
                    <a:pt x="4517563" y="845003"/>
                  </a:lnTo>
                  <a:lnTo>
                    <a:pt x="4538764" y="830679"/>
                  </a:lnTo>
                  <a:lnTo>
                    <a:pt x="4553089" y="809478"/>
                  </a:lnTo>
                  <a:lnTo>
                    <a:pt x="4558350" y="78359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83590"/>
                  </a:lnTo>
                  <a:lnTo>
                    <a:pt x="4561862" y="813177"/>
                  </a:lnTo>
                  <a:lnTo>
                    <a:pt x="4545491" y="837406"/>
                  </a:lnTo>
                  <a:lnTo>
                    <a:pt x="4526460" y="85026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711450" y="2574489"/>
            <a:ext cx="4568190" cy="859790"/>
            <a:chOff x="711450" y="2574489"/>
            <a:chExt cx="4568190" cy="859790"/>
          </a:xfrm>
        </p:grpSpPr>
        <p:sp>
          <p:nvSpPr>
            <p:cNvPr id="6" name="object 6"/>
            <p:cNvSpPr/>
            <p:nvPr/>
          </p:nvSpPr>
          <p:spPr>
            <a:xfrm>
              <a:off x="711450" y="2574489"/>
              <a:ext cx="4568190" cy="859790"/>
            </a:xfrm>
            <a:custGeom>
              <a:avLst/>
              <a:gdLst/>
              <a:ahLst/>
              <a:cxnLst/>
              <a:rect l="l" t="t" r="r" b="b"/>
              <a:pathLst>
                <a:path w="4568190" h="859789">
                  <a:moveTo>
                    <a:pt x="4491675" y="859790"/>
                  </a:moveTo>
                  <a:lnTo>
                    <a:pt x="76200" y="859790"/>
                  </a:lnTo>
                  <a:lnTo>
                    <a:pt x="46612" y="853777"/>
                  </a:lnTo>
                  <a:lnTo>
                    <a:pt x="22383" y="837406"/>
                  </a:lnTo>
                  <a:lnTo>
                    <a:pt x="6012" y="813177"/>
                  </a:lnTo>
                  <a:lnTo>
                    <a:pt x="0" y="78359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83590"/>
                  </a:lnTo>
                  <a:lnTo>
                    <a:pt x="4561862" y="813177"/>
                  </a:lnTo>
                  <a:lnTo>
                    <a:pt x="4545491" y="837406"/>
                  </a:lnTo>
                  <a:lnTo>
                    <a:pt x="4521262" y="853777"/>
                  </a:lnTo>
                  <a:lnTo>
                    <a:pt x="4491675" y="85979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11450" y="2574489"/>
              <a:ext cx="4568190" cy="859790"/>
            </a:xfrm>
            <a:custGeom>
              <a:avLst/>
              <a:gdLst/>
              <a:ahLst/>
              <a:cxnLst/>
              <a:rect l="l" t="t" r="r" b="b"/>
              <a:pathLst>
                <a:path w="4568190" h="859789">
                  <a:moveTo>
                    <a:pt x="4491675" y="859790"/>
                  </a:moveTo>
                  <a:lnTo>
                    <a:pt x="76200" y="859790"/>
                  </a:lnTo>
                  <a:lnTo>
                    <a:pt x="46612" y="853777"/>
                  </a:lnTo>
                  <a:lnTo>
                    <a:pt x="22383" y="837406"/>
                  </a:lnTo>
                  <a:lnTo>
                    <a:pt x="6012" y="813177"/>
                  </a:lnTo>
                  <a:lnTo>
                    <a:pt x="0" y="78359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783590"/>
                  </a:lnTo>
                  <a:lnTo>
                    <a:pt x="14786" y="809478"/>
                  </a:lnTo>
                  <a:lnTo>
                    <a:pt x="29110" y="830679"/>
                  </a:lnTo>
                  <a:lnTo>
                    <a:pt x="50311" y="845003"/>
                  </a:lnTo>
                  <a:lnTo>
                    <a:pt x="76200" y="850265"/>
                  </a:lnTo>
                  <a:lnTo>
                    <a:pt x="4526460" y="850265"/>
                  </a:lnTo>
                  <a:lnTo>
                    <a:pt x="4521262" y="853777"/>
                  </a:lnTo>
                  <a:lnTo>
                    <a:pt x="4491675" y="859790"/>
                  </a:lnTo>
                  <a:close/>
                </a:path>
                <a:path w="4568190" h="859789">
                  <a:moveTo>
                    <a:pt x="4526460" y="850265"/>
                  </a:moveTo>
                  <a:lnTo>
                    <a:pt x="4491675" y="850265"/>
                  </a:lnTo>
                  <a:lnTo>
                    <a:pt x="4517563" y="845003"/>
                  </a:lnTo>
                  <a:lnTo>
                    <a:pt x="4538764" y="830679"/>
                  </a:lnTo>
                  <a:lnTo>
                    <a:pt x="4553089" y="809478"/>
                  </a:lnTo>
                  <a:lnTo>
                    <a:pt x="4558350" y="78359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783590"/>
                  </a:lnTo>
                  <a:lnTo>
                    <a:pt x="4561862" y="813177"/>
                  </a:lnTo>
                  <a:lnTo>
                    <a:pt x="4545491" y="837406"/>
                  </a:lnTo>
                  <a:lnTo>
                    <a:pt x="4526460" y="85026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412675" y="1619449"/>
            <a:ext cx="4568190" cy="896619"/>
            <a:chOff x="5412675" y="1619449"/>
            <a:chExt cx="4568190" cy="896619"/>
          </a:xfrm>
        </p:grpSpPr>
        <p:sp>
          <p:nvSpPr>
            <p:cNvPr id="9" name="object 9"/>
            <p:cNvSpPr/>
            <p:nvPr/>
          </p:nvSpPr>
          <p:spPr>
            <a:xfrm>
              <a:off x="5412675" y="1619449"/>
              <a:ext cx="4568190" cy="896619"/>
            </a:xfrm>
            <a:custGeom>
              <a:avLst/>
              <a:gdLst/>
              <a:ahLst/>
              <a:cxnLst/>
              <a:rect l="l" t="t" r="r" b="b"/>
              <a:pathLst>
                <a:path w="4568190" h="896619">
                  <a:moveTo>
                    <a:pt x="4491675" y="896620"/>
                  </a:moveTo>
                  <a:lnTo>
                    <a:pt x="76200" y="896620"/>
                  </a:lnTo>
                  <a:lnTo>
                    <a:pt x="46612" y="890607"/>
                  </a:lnTo>
                  <a:lnTo>
                    <a:pt x="22383" y="874236"/>
                  </a:lnTo>
                  <a:lnTo>
                    <a:pt x="6012" y="850007"/>
                  </a:lnTo>
                  <a:lnTo>
                    <a:pt x="0" y="8204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820420"/>
                  </a:lnTo>
                  <a:lnTo>
                    <a:pt x="4561862" y="850007"/>
                  </a:lnTo>
                  <a:lnTo>
                    <a:pt x="4545491" y="874236"/>
                  </a:lnTo>
                  <a:lnTo>
                    <a:pt x="4521262" y="890607"/>
                  </a:lnTo>
                  <a:lnTo>
                    <a:pt x="4491675" y="89662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12675" y="1619449"/>
              <a:ext cx="4568190" cy="896619"/>
            </a:xfrm>
            <a:custGeom>
              <a:avLst/>
              <a:gdLst/>
              <a:ahLst/>
              <a:cxnLst/>
              <a:rect l="l" t="t" r="r" b="b"/>
              <a:pathLst>
                <a:path w="4568190" h="896619">
                  <a:moveTo>
                    <a:pt x="4491675" y="896620"/>
                  </a:moveTo>
                  <a:lnTo>
                    <a:pt x="76200" y="896620"/>
                  </a:lnTo>
                  <a:lnTo>
                    <a:pt x="46612" y="890607"/>
                  </a:lnTo>
                  <a:lnTo>
                    <a:pt x="22383" y="874236"/>
                  </a:lnTo>
                  <a:lnTo>
                    <a:pt x="6012" y="850007"/>
                  </a:lnTo>
                  <a:lnTo>
                    <a:pt x="0" y="8204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820420"/>
                  </a:lnTo>
                  <a:lnTo>
                    <a:pt x="14786" y="846308"/>
                  </a:lnTo>
                  <a:lnTo>
                    <a:pt x="29110" y="867509"/>
                  </a:lnTo>
                  <a:lnTo>
                    <a:pt x="50311" y="881833"/>
                  </a:lnTo>
                  <a:lnTo>
                    <a:pt x="76200" y="887095"/>
                  </a:lnTo>
                  <a:lnTo>
                    <a:pt x="4526460" y="887095"/>
                  </a:lnTo>
                  <a:lnTo>
                    <a:pt x="4521262" y="890607"/>
                  </a:lnTo>
                  <a:lnTo>
                    <a:pt x="4491675" y="896620"/>
                  </a:lnTo>
                  <a:close/>
                </a:path>
                <a:path w="4568190" h="896619">
                  <a:moveTo>
                    <a:pt x="4526460" y="887095"/>
                  </a:moveTo>
                  <a:lnTo>
                    <a:pt x="4491675" y="887095"/>
                  </a:lnTo>
                  <a:lnTo>
                    <a:pt x="4517563" y="881833"/>
                  </a:lnTo>
                  <a:lnTo>
                    <a:pt x="4538764" y="867509"/>
                  </a:lnTo>
                  <a:lnTo>
                    <a:pt x="4553089" y="846308"/>
                  </a:lnTo>
                  <a:lnTo>
                    <a:pt x="4558350" y="82042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820420"/>
                  </a:lnTo>
                  <a:lnTo>
                    <a:pt x="4561862" y="850007"/>
                  </a:lnTo>
                  <a:lnTo>
                    <a:pt x="4545491" y="874236"/>
                  </a:lnTo>
                  <a:lnTo>
                    <a:pt x="4526460" y="887095"/>
                  </a:lnTo>
                  <a:close/>
                </a:path>
              </a:pathLst>
            </a:custGeom>
            <a:solidFill>
              <a:srgbClr val="F7504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5412675" y="2611319"/>
            <a:ext cx="4568190" cy="1239520"/>
            <a:chOff x="5412675" y="2611319"/>
            <a:chExt cx="4568190" cy="1239520"/>
          </a:xfrm>
        </p:grpSpPr>
        <p:sp>
          <p:nvSpPr>
            <p:cNvPr id="12" name="object 12"/>
            <p:cNvSpPr/>
            <p:nvPr/>
          </p:nvSpPr>
          <p:spPr>
            <a:xfrm>
              <a:off x="5412675" y="2611319"/>
              <a:ext cx="4568190" cy="1239520"/>
            </a:xfrm>
            <a:custGeom>
              <a:avLst/>
              <a:gdLst/>
              <a:ahLst/>
              <a:cxnLst/>
              <a:rect l="l" t="t" r="r" b="b"/>
              <a:pathLst>
                <a:path w="4568190" h="1239520">
                  <a:moveTo>
                    <a:pt x="4491675" y="1239520"/>
                  </a:moveTo>
                  <a:lnTo>
                    <a:pt x="76200" y="1239520"/>
                  </a:lnTo>
                  <a:lnTo>
                    <a:pt x="46612" y="1233507"/>
                  </a:lnTo>
                  <a:lnTo>
                    <a:pt x="22383" y="1217136"/>
                  </a:lnTo>
                  <a:lnTo>
                    <a:pt x="6012" y="1192907"/>
                  </a:lnTo>
                  <a:lnTo>
                    <a:pt x="0" y="11633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1163320"/>
                  </a:lnTo>
                  <a:lnTo>
                    <a:pt x="4561862" y="1192907"/>
                  </a:lnTo>
                  <a:lnTo>
                    <a:pt x="4545491" y="1217136"/>
                  </a:lnTo>
                  <a:lnTo>
                    <a:pt x="4521262" y="1233507"/>
                  </a:lnTo>
                  <a:lnTo>
                    <a:pt x="4491675" y="123952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412675" y="2611319"/>
              <a:ext cx="4568190" cy="1239520"/>
            </a:xfrm>
            <a:custGeom>
              <a:avLst/>
              <a:gdLst/>
              <a:ahLst/>
              <a:cxnLst/>
              <a:rect l="l" t="t" r="r" b="b"/>
              <a:pathLst>
                <a:path w="4568190" h="1239520">
                  <a:moveTo>
                    <a:pt x="4491675" y="1239520"/>
                  </a:moveTo>
                  <a:lnTo>
                    <a:pt x="76200" y="1239520"/>
                  </a:lnTo>
                  <a:lnTo>
                    <a:pt x="46612" y="1233507"/>
                  </a:lnTo>
                  <a:lnTo>
                    <a:pt x="22383" y="1217136"/>
                  </a:lnTo>
                  <a:lnTo>
                    <a:pt x="6012" y="1192907"/>
                  </a:lnTo>
                  <a:lnTo>
                    <a:pt x="0" y="11633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491675" y="0"/>
                  </a:lnTo>
                  <a:lnTo>
                    <a:pt x="4521262" y="6012"/>
                  </a:lnTo>
                  <a:lnTo>
                    <a:pt x="4526460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163320"/>
                  </a:lnTo>
                  <a:lnTo>
                    <a:pt x="14786" y="1189208"/>
                  </a:lnTo>
                  <a:lnTo>
                    <a:pt x="29110" y="1210409"/>
                  </a:lnTo>
                  <a:lnTo>
                    <a:pt x="50311" y="1224733"/>
                  </a:lnTo>
                  <a:lnTo>
                    <a:pt x="76200" y="1229995"/>
                  </a:lnTo>
                  <a:lnTo>
                    <a:pt x="4526460" y="1229995"/>
                  </a:lnTo>
                  <a:lnTo>
                    <a:pt x="4521262" y="1233507"/>
                  </a:lnTo>
                  <a:lnTo>
                    <a:pt x="4491675" y="1239520"/>
                  </a:lnTo>
                  <a:close/>
                </a:path>
                <a:path w="4568190" h="1239520">
                  <a:moveTo>
                    <a:pt x="4526460" y="1229995"/>
                  </a:moveTo>
                  <a:lnTo>
                    <a:pt x="4491675" y="1229995"/>
                  </a:lnTo>
                  <a:lnTo>
                    <a:pt x="4517563" y="1224733"/>
                  </a:lnTo>
                  <a:lnTo>
                    <a:pt x="4538764" y="1210409"/>
                  </a:lnTo>
                  <a:lnTo>
                    <a:pt x="4553089" y="1189208"/>
                  </a:lnTo>
                  <a:lnTo>
                    <a:pt x="4558350" y="1163320"/>
                  </a:lnTo>
                  <a:lnTo>
                    <a:pt x="4558350" y="76200"/>
                  </a:lnTo>
                  <a:lnTo>
                    <a:pt x="4553089" y="50311"/>
                  </a:lnTo>
                  <a:lnTo>
                    <a:pt x="4538764" y="29110"/>
                  </a:lnTo>
                  <a:lnTo>
                    <a:pt x="4517563" y="14786"/>
                  </a:lnTo>
                  <a:lnTo>
                    <a:pt x="4491675" y="9525"/>
                  </a:lnTo>
                  <a:lnTo>
                    <a:pt x="4526460" y="9525"/>
                  </a:lnTo>
                  <a:lnTo>
                    <a:pt x="4545491" y="22383"/>
                  </a:lnTo>
                  <a:lnTo>
                    <a:pt x="4561862" y="46612"/>
                  </a:lnTo>
                  <a:lnTo>
                    <a:pt x="4567875" y="76200"/>
                  </a:lnTo>
                  <a:lnTo>
                    <a:pt x="4567875" y="1163320"/>
                  </a:lnTo>
                  <a:lnTo>
                    <a:pt x="4561862" y="1192907"/>
                  </a:lnTo>
                  <a:lnTo>
                    <a:pt x="4545491" y="1217136"/>
                  </a:lnTo>
                  <a:lnTo>
                    <a:pt x="4526460" y="1229995"/>
                  </a:lnTo>
                  <a:close/>
                </a:path>
              </a:pathLst>
            </a:custGeom>
            <a:solidFill>
              <a:srgbClr val="2F363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98749" y="1268636"/>
            <a:ext cx="2727960" cy="1030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Sample</a:t>
            </a:r>
            <a:r>
              <a:rPr dirty="0" sz="1300" spc="-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Precision</a:t>
            </a:r>
            <a:r>
              <a:rPr dirty="0" sz="1300" spc="-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Results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300">
              <a:latin typeface="Arial"/>
              <a:cs typeface="Arial"/>
            </a:endParaRPr>
          </a:p>
          <a:p>
            <a:pPr marL="155575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solidFill>
                  <a:srgbClr val="EFF6FB"/>
                </a:solidFill>
                <a:latin typeface="Arial"/>
                <a:cs typeface="Arial"/>
              </a:rPr>
              <a:t>Q1:</a:t>
            </a:r>
            <a:r>
              <a:rPr dirty="0" sz="1100" spc="-25" b="1">
                <a:solidFill>
                  <a:srgbClr val="EFF6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FF6FB"/>
                </a:solidFill>
                <a:latin typeface="Arial"/>
                <a:cs typeface="Arial"/>
              </a:rPr>
              <a:t>Screening</a:t>
            </a:r>
            <a:r>
              <a:rPr dirty="0" sz="1100" spc="-20" b="1">
                <a:solidFill>
                  <a:srgbClr val="EFF6FB"/>
                </a:solidFill>
                <a:latin typeface="Arial"/>
                <a:cs typeface="Arial"/>
              </a:rPr>
              <a:t> Tools </a:t>
            </a:r>
            <a:r>
              <a:rPr dirty="0" sz="1100" spc="-10" b="1">
                <a:solidFill>
                  <a:srgbClr val="EFF6FB"/>
                </a:solidFill>
                <a:latin typeface="Arial"/>
                <a:cs typeface="Arial"/>
              </a:rPr>
              <a:t>Recommendation</a:t>
            </a:r>
            <a:endParaRPr sz="1100">
              <a:latin typeface="Arial"/>
              <a:cs typeface="Arial"/>
            </a:endParaRPr>
          </a:p>
          <a:p>
            <a:pPr marL="155575" marR="232410">
              <a:lnSpc>
                <a:spcPct val="116700"/>
              </a:lnSpc>
              <a:spcBef>
                <a:spcPts val="500"/>
              </a:spcBef>
            </a:pP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P@3:</a:t>
            </a:r>
            <a:r>
              <a:rPr dirty="0" sz="850" spc="-5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0.67</a:t>
            </a:r>
            <a:r>
              <a:rPr dirty="0" sz="850" spc="-5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[████████████████░░]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(2/3)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P@5:</a:t>
            </a:r>
            <a:r>
              <a:rPr dirty="0" sz="850" spc="-5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0.40</a:t>
            </a:r>
            <a:r>
              <a:rPr dirty="0" sz="850" spc="-55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7EE687"/>
                </a:solidFill>
                <a:latin typeface="Courier New"/>
                <a:cs typeface="Courier New"/>
              </a:rPr>
              <a:t>[█████████░░░░░░░░░]</a:t>
            </a:r>
            <a:r>
              <a:rPr dirty="0" sz="850" spc="-50">
                <a:solidFill>
                  <a:srgbClr val="7EE687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7EE687"/>
                </a:solidFill>
                <a:latin typeface="Courier New"/>
                <a:cs typeface="Courier New"/>
              </a:rPr>
              <a:t>(2/5)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1624" y="2694748"/>
            <a:ext cx="2357120" cy="559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EFF6FB"/>
                </a:solidFill>
                <a:latin typeface="Arial"/>
                <a:cs typeface="Arial"/>
              </a:rPr>
              <a:t>Q2:</a:t>
            </a:r>
            <a:r>
              <a:rPr dirty="0" sz="1100" spc="-15" b="1">
                <a:solidFill>
                  <a:srgbClr val="EFF6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FF6FB"/>
                </a:solidFill>
                <a:latin typeface="Arial"/>
                <a:cs typeface="Arial"/>
              </a:rPr>
              <a:t>PHQ-2</a:t>
            </a:r>
            <a:r>
              <a:rPr dirty="0" sz="1100" spc="-10" b="1">
                <a:solidFill>
                  <a:srgbClr val="EFF6FB"/>
                </a:solidFill>
                <a:latin typeface="Arial"/>
                <a:cs typeface="Arial"/>
              </a:rPr>
              <a:t> Tool</a:t>
            </a:r>
            <a:r>
              <a:rPr dirty="0" sz="1100" spc="-15" b="1">
                <a:solidFill>
                  <a:srgbClr val="EFF6FB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EFF6FB"/>
                </a:solidFill>
                <a:latin typeface="Arial"/>
                <a:cs typeface="Arial"/>
              </a:rPr>
              <a:t>&amp;</a:t>
            </a:r>
            <a:r>
              <a:rPr dirty="0" sz="1100" spc="-10" b="1">
                <a:solidFill>
                  <a:srgbClr val="EFF6FB"/>
                </a:solidFill>
                <a:latin typeface="Arial"/>
                <a:cs typeface="Arial"/>
              </a:rPr>
              <a:t> Timing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500"/>
              </a:spcBef>
            </a:pPr>
            <a:r>
              <a:rPr dirty="0" sz="850">
                <a:solidFill>
                  <a:srgbClr val="D19921"/>
                </a:solidFill>
                <a:latin typeface="Courier New"/>
                <a:cs typeface="Courier New"/>
              </a:rPr>
              <a:t>P@3:</a:t>
            </a:r>
            <a:r>
              <a:rPr dirty="0" sz="850" spc="-55">
                <a:solidFill>
                  <a:srgbClr val="D19921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D19921"/>
                </a:solidFill>
                <a:latin typeface="Courier New"/>
                <a:cs typeface="Courier New"/>
              </a:rPr>
              <a:t>0.33</a:t>
            </a:r>
            <a:r>
              <a:rPr dirty="0" sz="850" spc="-55">
                <a:solidFill>
                  <a:srgbClr val="D19921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D19921"/>
                </a:solidFill>
                <a:latin typeface="Courier New"/>
                <a:cs typeface="Courier New"/>
              </a:rPr>
              <a:t>[████████░░░░░░░░░░]</a:t>
            </a:r>
            <a:r>
              <a:rPr dirty="0" sz="850" spc="-50">
                <a:solidFill>
                  <a:srgbClr val="D19921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D19921"/>
                </a:solidFill>
                <a:latin typeface="Courier New"/>
                <a:cs typeface="Courier New"/>
              </a:rPr>
              <a:t>(1/3) </a:t>
            </a:r>
            <a:r>
              <a:rPr dirty="0" sz="850">
                <a:solidFill>
                  <a:srgbClr val="D19921"/>
                </a:solidFill>
                <a:latin typeface="Courier New"/>
                <a:cs typeface="Courier New"/>
              </a:rPr>
              <a:t>P@5:</a:t>
            </a:r>
            <a:r>
              <a:rPr dirty="0" sz="850" spc="-55">
                <a:solidFill>
                  <a:srgbClr val="D19921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D19921"/>
                </a:solidFill>
                <a:latin typeface="Courier New"/>
                <a:cs typeface="Courier New"/>
              </a:rPr>
              <a:t>0.20</a:t>
            </a:r>
            <a:r>
              <a:rPr dirty="0" sz="850" spc="-55">
                <a:solidFill>
                  <a:srgbClr val="D19921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D19921"/>
                </a:solidFill>
                <a:latin typeface="Courier New"/>
                <a:cs typeface="Courier New"/>
              </a:rPr>
              <a:t>[█████░░░░░░░░░░░░░]</a:t>
            </a:r>
            <a:r>
              <a:rPr dirty="0" sz="850" spc="-50">
                <a:solidFill>
                  <a:srgbClr val="D19921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D19921"/>
                </a:solidFill>
                <a:latin typeface="Courier New"/>
                <a:cs typeface="Courier New"/>
              </a:rPr>
              <a:t>(1/5)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99975" y="1268636"/>
            <a:ext cx="4307840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Key</a:t>
            </a:r>
            <a:r>
              <a:rPr dirty="0" sz="1300" spc="-4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Lessons</a:t>
            </a:r>
            <a:r>
              <a:rPr dirty="0" sz="1300" spc="-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&amp;</a:t>
            </a:r>
            <a:r>
              <a:rPr dirty="0" sz="1300" spc="-4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Retrieval</a:t>
            </a:r>
            <a:r>
              <a:rPr dirty="0" sz="1300" spc="-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Failure</a:t>
            </a:r>
            <a:r>
              <a:rPr dirty="0" sz="1300" spc="-4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Modes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300">
              <a:latin typeface="Arial"/>
              <a:cs typeface="Arial"/>
            </a:endParaRPr>
          </a:p>
          <a:p>
            <a:pPr marL="136525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solidFill>
                  <a:srgbClr val="F75049"/>
                </a:solidFill>
                <a:latin typeface="Arial"/>
                <a:cs typeface="Arial"/>
              </a:rPr>
              <a:t>High</a:t>
            </a:r>
            <a:r>
              <a:rPr dirty="0" sz="1100" spc="-10" b="1">
                <a:solidFill>
                  <a:srgbClr val="F750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75049"/>
                </a:solidFill>
                <a:latin typeface="Arial"/>
                <a:cs typeface="Arial"/>
              </a:rPr>
              <a:t>Similarity</a:t>
            </a:r>
            <a:r>
              <a:rPr dirty="0" sz="1100" spc="-10" b="1">
                <a:solidFill>
                  <a:srgbClr val="F750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75049"/>
                </a:solidFill>
                <a:latin typeface="Arial"/>
                <a:cs typeface="Arial"/>
              </a:rPr>
              <a:t>≠</a:t>
            </a:r>
            <a:r>
              <a:rPr dirty="0" sz="1100" spc="-5" b="1">
                <a:solidFill>
                  <a:srgbClr val="F750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75049"/>
                </a:solidFill>
                <a:latin typeface="Arial"/>
                <a:cs typeface="Arial"/>
              </a:rPr>
              <a:t>Clinical</a:t>
            </a:r>
            <a:r>
              <a:rPr dirty="0" sz="1100" spc="-10" b="1">
                <a:solidFill>
                  <a:srgbClr val="F75049"/>
                </a:solidFill>
                <a:latin typeface="Arial"/>
                <a:cs typeface="Arial"/>
              </a:rPr>
              <a:t> Relevance</a:t>
            </a:r>
            <a:endParaRPr sz="1100">
              <a:latin typeface="Arial"/>
              <a:cs typeface="Arial"/>
            </a:endParaRPr>
          </a:p>
          <a:p>
            <a:pPr marL="136525" marR="5080">
              <a:lnSpc>
                <a:spcPct val="116700"/>
              </a:lnSpc>
              <a:spcBef>
                <a:spcPts val="350"/>
              </a:spcBef>
            </a:pP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Vector</a:t>
            </a:r>
            <a:r>
              <a:rPr dirty="0" sz="9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search</a:t>
            </a:r>
            <a:r>
              <a:rPr dirty="0" sz="9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frequently</a:t>
            </a:r>
            <a:r>
              <a:rPr dirty="0" sz="9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ranks</a:t>
            </a:r>
            <a:r>
              <a:rPr dirty="0" sz="9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 spc="-10" b="1">
                <a:solidFill>
                  <a:srgbClr val="C8D1D8"/>
                </a:solidFill>
                <a:latin typeface="Arial"/>
                <a:cs typeface="Arial"/>
              </a:rPr>
              <a:t>Table</a:t>
            </a:r>
            <a:r>
              <a:rPr dirty="0" sz="900" spc="-20" b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C8D1D8"/>
                </a:solidFill>
                <a:latin typeface="Arial"/>
                <a:cs typeface="Arial"/>
              </a:rPr>
              <a:t>of</a:t>
            </a:r>
            <a:r>
              <a:rPr dirty="0" sz="900" spc="-20" b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C8D1D8"/>
                </a:solidFill>
                <a:latin typeface="Arial"/>
                <a:cs typeface="Arial"/>
              </a:rPr>
              <a:t>Contents</a:t>
            </a:r>
            <a:r>
              <a:rPr dirty="0" sz="900" spc="-20" b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or</a:t>
            </a:r>
            <a:r>
              <a:rPr dirty="0" sz="90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 b="1">
                <a:solidFill>
                  <a:srgbClr val="C8D1D8"/>
                </a:solidFill>
                <a:latin typeface="Arial"/>
                <a:cs typeface="Arial"/>
              </a:rPr>
              <a:t>Reference</a:t>
            </a:r>
            <a:r>
              <a:rPr dirty="0" sz="900" spc="-20" b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C8D1D8"/>
                </a:solidFill>
                <a:latin typeface="Arial"/>
                <a:cs typeface="Arial"/>
              </a:rPr>
              <a:t>listings</a:t>
            </a:r>
            <a:r>
              <a:rPr dirty="0" sz="900" spc="-20" b="1">
                <a:solidFill>
                  <a:srgbClr val="C8D1D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with</a:t>
            </a:r>
            <a:r>
              <a:rPr dirty="0" sz="900" spc="-20">
                <a:solidFill>
                  <a:srgbClr val="C8D1D8"/>
                </a:solidFill>
                <a:latin typeface="Arial MT"/>
                <a:cs typeface="Arial MT"/>
              </a:rPr>
              <a:t> high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similarity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scores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(&gt;0.60)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due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to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dense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C8D1D8"/>
                </a:solidFill>
                <a:latin typeface="Arial MT"/>
                <a:cs typeface="Arial MT"/>
              </a:rPr>
              <a:t>keyword</a:t>
            </a:r>
            <a:r>
              <a:rPr dirty="0" sz="9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C8D1D8"/>
                </a:solidFill>
                <a:latin typeface="Arial MT"/>
                <a:cs typeface="Arial MT"/>
              </a:rPr>
              <a:t>matches.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7625" y="1121609"/>
            <a:ext cx="9516745" cy="19050"/>
          </a:xfrm>
          <a:custGeom>
            <a:avLst/>
            <a:gdLst/>
            <a:ahLst/>
            <a:cxnLst/>
            <a:rect l="l" t="t" r="r" b="b"/>
            <a:pathLst>
              <a:path w="9516745" h="19050">
                <a:moveTo>
                  <a:pt x="9516750" y="19050"/>
                </a:moveTo>
                <a:lnTo>
                  <a:pt x="0" y="19050"/>
                </a:lnTo>
                <a:lnTo>
                  <a:pt x="0" y="0"/>
                </a:lnTo>
                <a:lnTo>
                  <a:pt x="9516750" y="0"/>
                </a:lnTo>
                <a:lnTo>
                  <a:pt x="9516750" y="19050"/>
                </a:lnTo>
                <a:close/>
              </a:path>
            </a:pathLst>
          </a:custGeom>
          <a:solidFill>
            <a:srgbClr val="2F3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74924" y="506434"/>
            <a:ext cx="13843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S</a:t>
            </a:r>
            <a:r>
              <a:rPr dirty="0" sz="900" spc="-1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L</a:t>
            </a:r>
            <a:r>
              <a:rPr dirty="0" sz="900" spc="-1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70" b="1">
                <a:solidFill>
                  <a:srgbClr val="57A5FF"/>
                </a:solidFill>
                <a:latin typeface="Arial"/>
                <a:cs typeface="Arial"/>
              </a:rPr>
              <a:t>IDE</a:t>
            </a:r>
            <a:r>
              <a:rPr dirty="0" sz="900" spc="2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9</a:t>
            </a:r>
            <a:r>
              <a:rPr dirty="0" sz="900" spc="229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—</a:t>
            </a:r>
            <a:r>
              <a:rPr dirty="0" sz="900" spc="22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75" b="1">
                <a:solidFill>
                  <a:srgbClr val="57A5FF"/>
                </a:solidFill>
                <a:latin typeface="Arial"/>
                <a:cs typeface="Arial"/>
              </a:rPr>
              <a:t>RESU</a:t>
            </a:r>
            <a:r>
              <a:rPr dirty="0" sz="900" spc="-1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LT</a:t>
            </a:r>
            <a:r>
              <a:rPr dirty="0" sz="900" spc="-14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50" b="1">
                <a:solidFill>
                  <a:srgbClr val="57A5FF"/>
                </a:solidFill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Retrieval</a:t>
            </a:r>
            <a:r>
              <a:rPr dirty="0" spc="-65"/>
              <a:t> </a:t>
            </a:r>
            <a:r>
              <a:rPr dirty="0"/>
              <a:t>Performance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Key</a:t>
            </a:r>
            <a:r>
              <a:rPr dirty="0" spc="-50"/>
              <a:t> </a:t>
            </a:r>
            <a:r>
              <a:rPr dirty="0" spc="-10"/>
              <a:t>Findings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42850" y="2703638"/>
            <a:ext cx="3485515" cy="883919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100" b="1">
                <a:solidFill>
                  <a:srgbClr val="57A5FF"/>
                </a:solidFill>
                <a:latin typeface="Arial"/>
                <a:cs typeface="Arial"/>
              </a:rPr>
              <a:t>Required</a:t>
            </a:r>
            <a:r>
              <a:rPr dirty="0" sz="1100" spc="-5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7A5FF"/>
                </a:solidFill>
                <a:latin typeface="Arial"/>
                <a:cs typeface="Arial"/>
              </a:rPr>
              <a:t>Enhancements</a:t>
            </a:r>
            <a:endParaRPr sz="1100">
              <a:latin typeface="Arial"/>
              <a:cs typeface="Arial"/>
            </a:endParaRPr>
          </a:p>
          <a:p>
            <a:pPr marL="182880" indent="-86995">
              <a:lnSpc>
                <a:spcPct val="100000"/>
              </a:lnSpc>
              <a:spcBef>
                <a:spcPts val="219"/>
              </a:spcBef>
              <a:buChar char="•"/>
              <a:tabLst>
                <a:tab pos="182880" algn="l"/>
              </a:tabLst>
            </a:pP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Filtering</a:t>
            </a:r>
            <a:r>
              <a:rPr dirty="0" sz="1100" spc="-3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structural</a:t>
            </a:r>
            <a:r>
              <a:rPr dirty="0" sz="1100" spc="-3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non-content</a:t>
            </a:r>
            <a:r>
              <a:rPr dirty="0" sz="1100" spc="-3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chunks</a:t>
            </a:r>
            <a:r>
              <a:rPr dirty="0" sz="1100" spc="-3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(TOC,</a:t>
            </a:r>
            <a:r>
              <a:rPr dirty="0" sz="1100" spc="-3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index).</a:t>
            </a:r>
            <a:endParaRPr sz="1100">
              <a:latin typeface="Arial MT"/>
              <a:cs typeface="Arial MT"/>
            </a:endParaRPr>
          </a:p>
          <a:p>
            <a:pPr marL="182880" indent="-86995">
              <a:lnSpc>
                <a:spcPct val="100000"/>
              </a:lnSpc>
              <a:spcBef>
                <a:spcPts val="520"/>
              </a:spcBef>
              <a:buChar char="•"/>
              <a:tabLst>
                <a:tab pos="182880" algn="l"/>
              </a:tabLst>
            </a:pP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Implementing</a:t>
            </a:r>
            <a:r>
              <a:rPr dirty="0" sz="11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Hybrid</a:t>
            </a:r>
            <a:r>
              <a:rPr dirty="0" sz="11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Search</a:t>
            </a:r>
            <a:r>
              <a:rPr dirty="0" sz="11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(BM25</a:t>
            </a:r>
            <a:r>
              <a:rPr dirty="0" sz="11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+</a:t>
            </a:r>
            <a:r>
              <a:rPr dirty="0" sz="1100" spc="-20">
                <a:solidFill>
                  <a:srgbClr val="C8D1D8"/>
                </a:solidFill>
                <a:latin typeface="Arial MT"/>
                <a:cs typeface="Arial MT"/>
              </a:rPr>
              <a:t> FAISS</a:t>
            </a:r>
            <a:r>
              <a:rPr dirty="0" sz="110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Dense).</a:t>
            </a:r>
            <a:endParaRPr sz="1100">
              <a:latin typeface="Arial MT"/>
              <a:cs typeface="Arial MT"/>
            </a:endParaRPr>
          </a:p>
          <a:p>
            <a:pPr marL="182880" indent="-86995">
              <a:lnSpc>
                <a:spcPct val="100000"/>
              </a:lnSpc>
              <a:spcBef>
                <a:spcPts val="520"/>
              </a:spcBef>
              <a:buChar char="•"/>
              <a:tabLst>
                <a:tab pos="182880" algn="l"/>
              </a:tabLst>
            </a:pP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Re-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ranking</a:t>
            </a:r>
            <a:r>
              <a:rPr dirty="0" sz="11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top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chunks</a:t>
            </a:r>
            <a:r>
              <a:rPr dirty="0" sz="11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using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a</a:t>
            </a:r>
            <a:r>
              <a:rPr dirty="0" sz="110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cross-</a:t>
            </a:r>
            <a:r>
              <a:rPr dirty="0" sz="1100">
                <a:solidFill>
                  <a:srgbClr val="C8D1D8"/>
                </a:solidFill>
                <a:latin typeface="Arial MT"/>
                <a:cs typeface="Arial MT"/>
              </a:rPr>
              <a:t>encoder</a:t>
            </a:r>
            <a:r>
              <a:rPr dirty="0" sz="1100" spc="-10">
                <a:solidFill>
                  <a:srgbClr val="C8D1D8"/>
                </a:solidFill>
                <a:latin typeface="Arial MT"/>
                <a:cs typeface="Arial MT"/>
              </a:rPr>
              <a:t> model.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40000" y="6703084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2126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2400" y="1388309"/>
            <a:ext cx="3026410" cy="1214120"/>
            <a:chOff x="692400" y="1388309"/>
            <a:chExt cx="3026410" cy="1214120"/>
          </a:xfrm>
        </p:grpSpPr>
        <p:sp>
          <p:nvSpPr>
            <p:cNvPr id="3" name="object 3"/>
            <p:cNvSpPr/>
            <p:nvPr/>
          </p:nvSpPr>
          <p:spPr>
            <a:xfrm>
              <a:off x="692400" y="1388309"/>
              <a:ext cx="3026410" cy="1214120"/>
            </a:xfrm>
            <a:custGeom>
              <a:avLst/>
              <a:gdLst/>
              <a:ahLst/>
              <a:cxnLst/>
              <a:rect l="l" t="t" r="r" b="b"/>
              <a:pathLst>
                <a:path w="3026410" h="1214120">
                  <a:moveTo>
                    <a:pt x="2950000" y="1214120"/>
                  </a:moveTo>
                  <a:lnTo>
                    <a:pt x="76200" y="1214120"/>
                  </a:lnTo>
                  <a:lnTo>
                    <a:pt x="46612" y="1208107"/>
                  </a:lnTo>
                  <a:lnTo>
                    <a:pt x="22383" y="1191736"/>
                  </a:lnTo>
                  <a:lnTo>
                    <a:pt x="6012" y="1167507"/>
                  </a:lnTo>
                  <a:lnTo>
                    <a:pt x="0" y="11379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1137920"/>
                  </a:lnTo>
                  <a:lnTo>
                    <a:pt x="3020187" y="1167507"/>
                  </a:lnTo>
                  <a:lnTo>
                    <a:pt x="3003816" y="1191736"/>
                  </a:lnTo>
                  <a:lnTo>
                    <a:pt x="2979587" y="1208107"/>
                  </a:lnTo>
                  <a:lnTo>
                    <a:pt x="2950000" y="121412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92400" y="1388309"/>
              <a:ext cx="3026410" cy="1214120"/>
            </a:xfrm>
            <a:custGeom>
              <a:avLst/>
              <a:gdLst/>
              <a:ahLst/>
              <a:cxnLst/>
              <a:rect l="l" t="t" r="r" b="b"/>
              <a:pathLst>
                <a:path w="3026410" h="1214120">
                  <a:moveTo>
                    <a:pt x="2950000" y="1214120"/>
                  </a:moveTo>
                  <a:lnTo>
                    <a:pt x="76200" y="1214120"/>
                  </a:lnTo>
                  <a:lnTo>
                    <a:pt x="46612" y="1208107"/>
                  </a:lnTo>
                  <a:lnTo>
                    <a:pt x="22383" y="1191736"/>
                  </a:lnTo>
                  <a:lnTo>
                    <a:pt x="6012" y="1167507"/>
                  </a:lnTo>
                  <a:lnTo>
                    <a:pt x="0" y="11379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29847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137920"/>
                  </a:lnTo>
                  <a:lnTo>
                    <a:pt x="14786" y="1163808"/>
                  </a:lnTo>
                  <a:lnTo>
                    <a:pt x="29110" y="1185009"/>
                  </a:lnTo>
                  <a:lnTo>
                    <a:pt x="50311" y="1199333"/>
                  </a:lnTo>
                  <a:lnTo>
                    <a:pt x="76200" y="1204595"/>
                  </a:lnTo>
                  <a:lnTo>
                    <a:pt x="2984785" y="1204595"/>
                  </a:lnTo>
                  <a:lnTo>
                    <a:pt x="2979587" y="1208107"/>
                  </a:lnTo>
                  <a:lnTo>
                    <a:pt x="2950000" y="1214120"/>
                  </a:lnTo>
                  <a:close/>
                </a:path>
                <a:path w="3026410" h="1214120">
                  <a:moveTo>
                    <a:pt x="2984785" y="1204595"/>
                  </a:moveTo>
                  <a:lnTo>
                    <a:pt x="2950000" y="1204595"/>
                  </a:lnTo>
                  <a:lnTo>
                    <a:pt x="2975888" y="1199333"/>
                  </a:lnTo>
                  <a:lnTo>
                    <a:pt x="2997089" y="1185009"/>
                  </a:lnTo>
                  <a:lnTo>
                    <a:pt x="3011414" y="1163808"/>
                  </a:lnTo>
                  <a:lnTo>
                    <a:pt x="3016675" y="1137920"/>
                  </a:lnTo>
                  <a:lnTo>
                    <a:pt x="3016675" y="76200"/>
                  </a:lnTo>
                  <a:lnTo>
                    <a:pt x="3011414" y="50311"/>
                  </a:lnTo>
                  <a:lnTo>
                    <a:pt x="2997089" y="29110"/>
                  </a:lnTo>
                  <a:lnTo>
                    <a:pt x="2975888" y="14786"/>
                  </a:lnTo>
                  <a:lnTo>
                    <a:pt x="2950000" y="9525"/>
                  </a:lnTo>
                  <a:lnTo>
                    <a:pt x="2984785" y="9525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1137920"/>
                  </a:lnTo>
                  <a:lnTo>
                    <a:pt x="3020187" y="1167507"/>
                  </a:lnTo>
                  <a:lnTo>
                    <a:pt x="3003816" y="1191736"/>
                  </a:lnTo>
                  <a:lnTo>
                    <a:pt x="2984785" y="1204595"/>
                  </a:lnTo>
                  <a:close/>
                </a:path>
              </a:pathLst>
            </a:custGeom>
            <a:solidFill>
              <a:srgbClr val="1F6BE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3832900" y="1388309"/>
            <a:ext cx="3026410" cy="1214120"/>
            <a:chOff x="3832900" y="1388309"/>
            <a:chExt cx="3026410" cy="1214120"/>
          </a:xfrm>
        </p:grpSpPr>
        <p:sp>
          <p:nvSpPr>
            <p:cNvPr id="6" name="object 6"/>
            <p:cNvSpPr/>
            <p:nvPr/>
          </p:nvSpPr>
          <p:spPr>
            <a:xfrm>
              <a:off x="3832900" y="1388309"/>
              <a:ext cx="3026410" cy="1214120"/>
            </a:xfrm>
            <a:custGeom>
              <a:avLst/>
              <a:gdLst/>
              <a:ahLst/>
              <a:cxnLst/>
              <a:rect l="l" t="t" r="r" b="b"/>
              <a:pathLst>
                <a:path w="3026409" h="1214120">
                  <a:moveTo>
                    <a:pt x="2950000" y="1214120"/>
                  </a:moveTo>
                  <a:lnTo>
                    <a:pt x="76200" y="1214120"/>
                  </a:lnTo>
                  <a:lnTo>
                    <a:pt x="46612" y="1208107"/>
                  </a:lnTo>
                  <a:lnTo>
                    <a:pt x="22383" y="1191736"/>
                  </a:lnTo>
                  <a:lnTo>
                    <a:pt x="6012" y="1167507"/>
                  </a:lnTo>
                  <a:lnTo>
                    <a:pt x="0" y="11379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1137920"/>
                  </a:lnTo>
                  <a:lnTo>
                    <a:pt x="3020187" y="1167507"/>
                  </a:lnTo>
                  <a:lnTo>
                    <a:pt x="3003816" y="1191736"/>
                  </a:lnTo>
                  <a:lnTo>
                    <a:pt x="2979587" y="1208107"/>
                  </a:lnTo>
                  <a:lnTo>
                    <a:pt x="2950000" y="121412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832900" y="1388309"/>
              <a:ext cx="3026410" cy="1214120"/>
            </a:xfrm>
            <a:custGeom>
              <a:avLst/>
              <a:gdLst/>
              <a:ahLst/>
              <a:cxnLst/>
              <a:rect l="l" t="t" r="r" b="b"/>
              <a:pathLst>
                <a:path w="3026409" h="1214120">
                  <a:moveTo>
                    <a:pt x="2950000" y="1214120"/>
                  </a:moveTo>
                  <a:lnTo>
                    <a:pt x="76200" y="1214120"/>
                  </a:lnTo>
                  <a:lnTo>
                    <a:pt x="46612" y="1208107"/>
                  </a:lnTo>
                  <a:lnTo>
                    <a:pt x="22383" y="1191736"/>
                  </a:lnTo>
                  <a:lnTo>
                    <a:pt x="6012" y="1167507"/>
                  </a:lnTo>
                  <a:lnTo>
                    <a:pt x="0" y="11379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29847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137920"/>
                  </a:lnTo>
                  <a:lnTo>
                    <a:pt x="14786" y="1163808"/>
                  </a:lnTo>
                  <a:lnTo>
                    <a:pt x="29110" y="1185009"/>
                  </a:lnTo>
                  <a:lnTo>
                    <a:pt x="50311" y="1199333"/>
                  </a:lnTo>
                  <a:lnTo>
                    <a:pt x="76200" y="1204595"/>
                  </a:lnTo>
                  <a:lnTo>
                    <a:pt x="2984785" y="1204595"/>
                  </a:lnTo>
                  <a:lnTo>
                    <a:pt x="2979587" y="1208107"/>
                  </a:lnTo>
                  <a:lnTo>
                    <a:pt x="2950000" y="1214120"/>
                  </a:lnTo>
                  <a:close/>
                </a:path>
                <a:path w="3026409" h="1214120">
                  <a:moveTo>
                    <a:pt x="2984785" y="1204595"/>
                  </a:moveTo>
                  <a:lnTo>
                    <a:pt x="2950000" y="1204595"/>
                  </a:lnTo>
                  <a:lnTo>
                    <a:pt x="2975888" y="1199333"/>
                  </a:lnTo>
                  <a:lnTo>
                    <a:pt x="2997089" y="1185009"/>
                  </a:lnTo>
                  <a:lnTo>
                    <a:pt x="3011414" y="1163808"/>
                  </a:lnTo>
                  <a:lnTo>
                    <a:pt x="3016675" y="1137920"/>
                  </a:lnTo>
                  <a:lnTo>
                    <a:pt x="3016675" y="76200"/>
                  </a:lnTo>
                  <a:lnTo>
                    <a:pt x="3011414" y="50311"/>
                  </a:lnTo>
                  <a:lnTo>
                    <a:pt x="2997089" y="29110"/>
                  </a:lnTo>
                  <a:lnTo>
                    <a:pt x="2975888" y="14786"/>
                  </a:lnTo>
                  <a:lnTo>
                    <a:pt x="2950000" y="9525"/>
                  </a:lnTo>
                  <a:lnTo>
                    <a:pt x="2984785" y="9525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1137920"/>
                  </a:lnTo>
                  <a:lnTo>
                    <a:pt x="3020187" y="1167507"/>
                  </a:lnTo>
                  <a:lnTo>
                    <a:pt x="3003816" y="1191736"/>
                  </a:lnTo>
                  <a:lnTo>
                    <a:pt x="2984785" y="1204595"/>
                  </a:lnTo>
                  <a:close/>
                </a:path>
              </a:pathLst>
            </a:custGeom>
            <a:solidFill>
              <a:srgbClr val="1F6BE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6973399" y="1388309"/>
            <a:ext cx="3026410" cy="1214120"/>
            <a:chOff x="6973399" y="1388309"/>
            <a:chExt cx="3026410" cy="1214120"/>
          </a:xfrm>
        </p:grpSpPr>
        <p:sp>
          <p:nvSpPr>
            <p:cNvPr id="9" name="object 9"/>
            <p:cNvSpPr/>
            <p:nvPr/>
          </p:nvSpPr>
          <p:spPr>
            <a:xfrm>
              <a:off x="6973399" y="1388309"/>
              <a:ext cx="3026410" cy="1214120"/>
            </a:xfrm>
            <a:custGeom>
              <a:avLst/>
              <a:gdLst/>
              <a:ahLst/>
              <a:cxnLst/>
              <a:rect l="l" t="t" r="r" b="b"/>
              <a:pathLst>
                <a:path w="3026409" h="1214120">
                  <a:moveTo>
                    <a:pt x="2950000" y="1214120"/>
                  </a:moveTo>
                  <a:lnTo>
                    <a:pt x="76200" y="1214120"/>
                  </a:lnTo>
                  <a:lnTo>
                    <a:pt x="46612" y="1208107"/>
                  </a:lnTo>
                  <a:lnTo>
                    <a:pt x="22383" y="1191736"/>
                  </a:lnTo>
                  <a:lnTo>
                    <a:pt x="6012" y="1167507"/>
                  </a:lnTo>
                  <a:lnTo>
                    <a:pt x="0" y="11379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1137920"/>
                  </a:lnTo>
                  <a:lnTo>
                    <a:pt x="3020187" y="1167507"/>
                  </a:lnTo>
                  <a:lnTo>
                    <a:pt x="3003816" y="1191736"/>
                  </a:lnTo>
                  <a:lnTo>
                    <a:pt x="2979587" y="1208107"/>
                  </a:lnTo>
                  <a:lnTo>
                    <a:pt x="2950000" y="1214120"/>
                  </a:lnTo>
                  <a:close/>
                </a:path>
              </a:pathLst>
            </a:custGeom>
            <a:solidFill>
              <a:srgbClr val="161A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73399" y="1388309"/>
              <a:ext cx="3026410" cy="1214120"/>
            </a:xfrm>
            <a:custGeom>
              <a:avLst/>
              <a:gdLst/>
              <a:ahLst/>
              <a:cxnLst/>
              <a:rect l="l" t="t" r="r" b="b"/>
              <a:pathLst>
                <a:path w="3026409" h="1214120">
                  <a:moveTo>
                    <a:pt x="2950000" y="1214120"/>
                  </a:moveTo>
                  <a:lnTo>
                    <a:pt x="76200" y="1214120"/>
                  </a:lnTo>
                  <a:lnTo>
                    <a:pt x="46612" y="1208107"/>
                  </a:lnTo>
                  <a:lnTo>
                    <a:pt x="22383" y="1191736"/>
                  </a:lnTo>
                  <a:lnTo>
                    <a:pt x="6012" y="1167507"/>
                  </a:lnTo>
                  <a:lnTo>
                    <a:pt x="0" y="113792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950000" y="0"/>
                  </a:lnTo>
                  <a:lnTo>
                    <a:pt x="2979587" y="6012"/>
                  </a:lnTo>
                  <a:lnTo>
                    <a:pt x="29847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137920"/>
                  </a:lnTo>
                  <a:lnTo>
                    <a:pt x="14786" y="1163808"/>
                  </a:lnTo>
                  <a:lnTo>
                    <a:pt x="29110" y="1185009"/>
                  </a:lnTo>
                  <a:lnTo>
                    <a:pt x="50311" y="1199333"/>
                  </a:lnTo>
                  <a:lnTo>
                    <a:pt x="76200" y="1204595"/>
                  </a:lnTo>
                  <a:lnTo>
                    <a:pt x="2984785" y="1204595"/>
                  </a:lnTo>
                  <a:lnTo>
                    <a:pt x="2979587" y="1208107"/>
                  </a:lnTo>
                  <a:lnTo>
                    <a:pt x="2950000" y="1214120"/>
                  </a:lnTo>
                  <a:close/>
                </a:path>
                <a:path w="3026409" h="1214120">
                  <a:moveTo>
                    <a:pt x="2984785" y="1204595"/>
                  </a:moveTo>
                  <a:lnTo>
                    <a:pt x="2950000" y="1204595"/>
                  </a:lnTo>
                  <a:lnTo>
                    <a:pt x="2975888" y="1199333"/>
                  </a:lnTo>
                  <a:lnTo>
                    <a:pt x="2997089" y="1185009"/>
                  </a:lnTo>
                  <a:lnTo>
                    <a:pt x="3011414" y="1163808"/>
                  </a:lnTo>
                  <a:lnTo>
                    <a:pt x="3016675" y="1137920"/>
                  </a:lnTo>
                  <a:lnTo>
                    <a:pt x="3016675" y="76200"/>
                  </a:lnTo>
                  <a:lnTo>
                    <a:pt x="3011414" y="50311"/>
                  </a:lnTo>
                  <a:lnTo>
                    <a:pt x="2997089" y="29110"/>
                  </a:lnTo>
                  <a:lnTo>
                    <a:pt x="2975888" y="14786"/>
                  </a:lnTo>
                  <a:lnTo>
                    <a:pt x="2950000" y="9525"/>
                  </a:lnTo>
                  <a:lnTo>
                    <a:pt x="2984785" y="9525"/>
                  </a:lnTo>
                  <a:lnTo>
                    <a:pt x="3003816" y="22383"/>
                  </a:lnTo>
                  <a:lnTo>
                    <a:pt x="3020187" y="46612"/>
                  </a:lnTo>
                  <a:lnTo>
                    <a:pt x="3026200" y="76200"/>
                  </a:lnTo>
                  <a:lnTo>
                    <a:pt x="3026200" y="1137920"/>
                  </a:lnTo>
                  <a:lnTo>
                    <a:pt x="3020187" y="1167507"/>
                  </a:lnTo>
                  <a:lnTo>
                    <a:pt x="3003816" y="1191736"/>
                  </a:lnTo>
                  <a:lnTo>
                    <a:pt x="2984785" y="1204595"/>
                  </a:lnTo>
                  <a:close/>
                </a:path>
              </a:pathLst>
            </a:custGeom>
            <a:solidFill>
              <a:srgbClr val="1F6BE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625" y="3040579"/>
            <a:ext cx="9516750" cy="57404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22574" y="1506761"/>
            <a:ext cx="20205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01</a:t>
            </a:r>
            <a:r>
              <a:rPr dirty="0" sz="1300" spc="-1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—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 Evidence Grounded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2574" y="1812180"/>
            <a:ext cx="2644140" cy="532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Responses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are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strictly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constrained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to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retrieved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context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from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the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2025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ESC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Guidelines,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mitigating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hallucination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risks.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63075" y="1506761"/>
            <a:ext cx="12274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02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—</a:t>
            </a:r>
            <a:r>
              <a:rPr dirty="0" sz="1300" spc="-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7A5FF"/>
                </a:solidFill>
                <a:latin typeface="Arial"/>
                <a:cs typeface="Arial"/>
              </a:rPr>
              <a:t>Traceable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63075" y="1812180"/>
            <a:ext cx="2426335" cy="532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Every</a:t>
            </a:r>
            <a:r>
              <a:rPr dirty="0" sz="950" spc="-3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factual</a:t>
            </a:r>
            <a:r>
              <a:rPr dirty="0" sz="95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claim</a:t>
            </a:r>
            <a:r>
              <a:rPr dirty="0" sz="950" spc="-3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features</a:t>
            </a:r>
            <a:r>
              <a:rPr dirty="0" sz="950" spc="-2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explicit</a:t>
            </a:r>
            <a:r>
              <a:rPr dirty="0" sz="950" spc="-3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citation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metadata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tags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pointing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to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document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ID,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page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number,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 and chunk </a:t>
            </a:r>
            <a:r>
              <a:rPr dirty="0" sz="950" spc="-25">
                <a:solidFill>
                  <a:srgbClr val="C8D1D8"/>
                </a:solidFill>
                <a:latin typeface="Arial MT"/>
                <a:cs typeface="Arial MT"/>
              </a:rPr>
              <a:t>ID.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03574" y="1506761"/>
            <a:ext cx="14998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03</a:t>
            </a:r>
            <a:r>
              <a:rPr dirty="0" sz="1300" spc="-1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—</a:t>
            </a:r>
            <a:r>
              <a:rPr dirty="0" sz="1300" spc="-1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7A5FF"/>
                </a:solidFill>
                <a:latin typeface="Arial"/>
                <a:cs typeface="Arial"/>
              </a:rPr>
              <a:t>Safety</a:t>
            </a:r>
            <a:r>
              <a:rPr dirty="0" sz="1300" spc="-1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57A5FF"/>
                </a:solidFill>
                <a:latin typeface="Arial"/>
                <a:cs typeface="Arial"/>
              </a:rPr>
              <a:t>Aware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03574" y="1812180"/>
            <a:ext cx="2567305" cy="532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Automated</a:t>
            </a:r>
            <a:r>
              <a:rPr dirty="0" sz="950" spc="-3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pattern</a:t>
            </a:r>
            <a:r>
              <a:rPr dirty="0" sz="950" spc="-3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gates</a:t>
            </a:r>
            <a:r>
              <a:rPr dirty="0" sz="950" spc="-3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intercept</a:t>
            </a:r>
            <a:r>
              <a:rPr dirty="0" sz="950" spc="-3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crisis</a:t>
            </a:r>
            <a:r>
              <a:rPr dirty="0" sz="950" spc="-3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queries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and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explicitly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distinguish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screening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tools</a:t>
            </a:r>
            <a:r>
              <a:rPr dirty="0" sz="950" spc="-20">
                <a:solidFill>
                  <a:srgbClr val="C8D1D8"/>
                </a:solidFill>
                <a:latin typeface="Arial MT"/>
                <a:cs typeface="Arial MT"/>
              </a:rPr>
              <a:t> from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formal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C8D1D8"/>
                </a:solidFill>
                <a:latin typeface="Arial MT"/>
                <a:cs typeface="Arial MT"/>
              </a:rPr>
              <a:t>clinical</a:t>
            </a:r>
            <a:r>
              <a:rPr dirty="0" sz="950" spc="-15">
                <a:solidFill>
                  <a:srgbClr val="C8D1D8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C8D1D8"/>
                </a:solidFill>
                <a:latin typeface="Arial MT"/>
                <a:cs typeface="Arial MT"/>
              </a:rPr>
              <a:t>diagnoses.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02583" y="3187606"/>
            <a:ext cx="808609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Clinic</a:t>
            </a:r>
            <a:r>
              <a:rPr dirty="0" sz="13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GPT: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Bridging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Guidelines</a:t>
            </a:r>
            <a:r>
              <a:rPr dirty="0" sz="13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Reliable,</a:t>
            </a:r>
            <a:r>
              <a:rPr dirty="0" sz="13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Traceable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Clinical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7625" y="1121609"/>
            <a:ext cx="9516745" cy="19050"/>
          </a:xfrm>
          <a:custGeom>
            <a:avLst/>
            <a:gdLst/>
            <a:ahLst/>
            <a:cxnLst/>
            <a:rect l="l" t="t" r="r" b="b"/>
            <a:pathLst>
              <a:path w="9516745" h="19050">
                <a:moveTo>
                  <a:pt x="9516750" y="19050"/>
                </a:moveTo>
                <a:lnTo>
                  <a:pt x="0" y="19050"/>
                </a:lnTo>
                <a:lnTo>
                  <a:pt x="0" y="0"/>
                </a:lnTo>
                <a:lnTo>
                  <a:pt x="9516750" y="0"/>
                </a:lnTo>
                <a:lnTo>
                  <a:pt x="9516750" y="19050"/>
                </a:lnTo>
                <a:close/>
              </a:path>
            </a:pathLst>
          </a:custGeom>
          <a:solidFill>
            <a:srgbClr val="2F3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74924" y="506434"/>
            <a:ext cx="15271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S</a:t>
            </a:r>
            <a:r>
              <a:rPr dirty="0" sz="900" spc="-14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L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70" b="1">
                <a:solidFill>
                  <a:srgbClr val="57A5FF"/>
                </a:solidFill>
                <a:latin typeface="Arial"/>
                <a:cs typeface="Arial"/>
              </a:rPr>
              <a:t>IDE</a:t>
            </a:r>
            <a:r>
              <a:rPr dirty="0" sz="900" spc="24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55" b="1">
                <a:solidFill>
                  <a:srgbClr val="57A5FF"/>
                </a:solidFill>
                <a:latin typeface="Arial"/>
                <a:cs typeface="Arial"/>
              </a:rPr>
              <a:t>10</a:t>
            </a:r>
            <a:r>
              <a:rPr dirty="0" sz="900" spc="24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—</a:t>
            </a:r>
            <a:r>
              <a:rPr dirty="0" sz="900" spc="24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50" b="1">
                <a:solidFill>
                  <a:srgbClr val="57A5FF"/>
                </a:solidFill>
                <a:latin typeface="Arial"/>
                <a:cs typeface="Arial"/>
              </a:rPr>
              <a:t>SU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57A5FF"/>
                </a:solidFill>
                <a:latin typeface="Arial"/>
                <a:cs typeface="Arial"/>
              </a:rPr>
              <a:t>M</a:t>
            </a:r>
            <a:r>
              <a:rPr dirty="0" sz="900" spc="-135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57A5FF"/>
                </a:solidFill>
                <a:latin typeface="Arial"/>
                <a:cs typeface="Arial"/>
              </a:rPr>
              <a:t>MA</a:t>
            </a:r>
            <a:r>
              <a:rPr dirty="0" sz="900" spc="-130" b="1">
                <a:solidFill>
                  <a:srgbClr val="57A5FF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57A5FF"/>
                </a:solidFill>
                <a:latin typeface="Arial"/>
                <a:cs typeface="Arial"/>
              </a:rPr>
              <a:t>RY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Clinic GPT</a:t>
            </a:r>
            <a:r>
              <a:rPr dirty="0" spc="5"/>
              <a:t> </a:t>
            </a:r>
            <a:r>
              <a:rPr dirty="0"/>
              <a:t>— Summary</a:t>
            </a:r>
            <a:r>
              <a:rPr dirty="0" spc="5"/>
              <a:t> </a:t>
            </a:r>
            <a:r>
              <a:rPr dirty="0"/>
              <a:t>&amp;</a:t>
            </a:r>
            <a:r>
              <a:rPr dirty="0" spc="5"/>
              <a:t> </a:t>
            </a:r>
            <a:r>
              <a:rPr dirty="0" spc="-10"/>
              <a:t>Pillars</a:t>
            </a:r>
          </a:p>
        </p:txBody>
      </p:sp>
      <p:sp>
        <p:nvSpPr>
          <p:cNvPr id="22" name="object 22"/>
          <p:cNvSpPr/>
          <p:nvPr/>
        </p:nvSpPr>
        <p:spPr>
          <a:xfrm>
            <a:off x="540000" y="6703084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2126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Clinic GPT — </a:t>
            </a:r>
            <a:r>
              <a:rPr dirty="0" spc="-10"/>
              <a:t>Technical</a:t>
            </a:r>
            <a:r>
              <a:rPr dirty="0" spc="5"/>
              <a:t> </a:t>
            </a:r>
            <a:r>
              <a:rPr dirty="0" spc="-10"/>
              <a:t>Defense</a:t>
            </a:r>
            <a:r>
              <a:rPr dirty="0"/>
              <a:t> &amp; </a:t>
            </a:r>
            <a:r>
              <a:rPr dirty="0" spc="-10"/>
              <a:t>Architecture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44"/>
              </a:lnSpc>
            </a:pPr>
            <a:r>
              <a:rPr dirty="0"/>
              <a:t>Slide</a:t>
            </a:r>
            <a:r>
              <a:rPr dirty="0" spc="-20"/>
              <a:t> </a:t>
            </a:r>
            <a:fld id="{81D60167-4931-47E6-BA6A-407CBD079E47}" type="slidenum">
              <a:rPr dirty="0"/>
              <a:t>10</a:t>
            </a:fld>
            <a:r>
              <a:rPr dirty="0" spc="-15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2026-08-20T07:40:19Z</dcterms:created>
  <dcterms:modified xsi:type="dcterms:W3CDTF">2026-08-20T07:40:19Z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2026-08-20T00:00:00Z</vt:filetime>
  </property>
  <property fmtid="{D5CDD505-2E9C-101B-9397-08002B2CF9AE}" pid="4" name="Producer">
    <vt:lpwstr>WeasyPrint 62.3</vt:lpwstr>
  </property>
  <property fmtid="{D5CDD505-2E9C-101B-9397-08002B2CF9AE}" pid="5" name="LastSaved">
    <vt:filetime>2026-08-20T00:00:00Z</vt:filetime>
  </property>
</Properties>
</file>